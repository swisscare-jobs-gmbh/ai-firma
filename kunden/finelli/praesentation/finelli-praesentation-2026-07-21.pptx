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729984"/>
            <a:ext cx="12191695" cy="128016"/>
          </a:xfrm>
          <a:prstGeom prst="roundRect">
            <a:avLst>
              <a:gd name="adj" fmla="val 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5400">
                <a:solidFill>
                  <a:srgbClr val="FFFFFF"/>
                </a:solidFill>
                <a:latin typeface="Georgia"/>
              </a:rPr>
              <a:t>FINELLI</a:t>
            </a:r>
            <a:r>
              <a:rPr sz="3000">
                <a:solidFill>
                  <a:srgbClr val="A8271C"/>
                </a:solidFill>
              </a:rPr>
              <a:t> 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D8D6DC"/>
                </a:solidFill>
                <a:latin typeface="Georgia"/>
              </a:rPr>
              <a:t>Dein Lager. Dein Shop. Ein Cockpit.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97A0"/>
                </a:solidFill>
                <a:latin typeface="Segoe UI"/>
              </a:rPr>
              <a:t>Finelli Studios AG · Vor-Ort-Termin   ·   22. Juli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>
              <a:gd name="adj" fmla="val 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7161A"/>
                </a:solidFill>
                <a:latin typeface="Georgia"/>
              </a:rPr>
              <a:t>Wo du heute stehst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77747C"/>
                </a:solidFill>
                <a:latin typeface="Segoe UI"/>
              </a:rPr>
              <a:t>Drei Situationen aus deinem Alltag. Keine davon ist deine Schuld.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114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800">
                <a:solidFill>
                  <a:srgbClr val="17161A"/>
                </a:solidFill>
                <a:latin typeface="Georgia"/>
              </a:rPr>
              <a:t>FINELLI</a:t>
            </a:r>
            <a:r>
              <a:rPr sz="900">
                <a:solidFill>
                  <a:srgbClr val="A8271C"/>
                </a:solidFill>
              </a:rPr>
              <a:t> 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74519"/>
            <a:ext cx="3054096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A8271C"/>
                </a:solidFill>
                <a:latin typeface="Segoe UI"/>
              </a:rPr>
              <a:t>Der Verkauf, der platzt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7161A"/>
                </a:solidFill>
                <a:latin typeface="Segoe UI"/>
              </a:rPr>
              <a:t>Online verkauft, im Regal leer. Du musst absagen und </a:t>
            </a:r>
            <a:r>
              <a:rPr sz="1300" b="1">
                <a:solidFill>
                  <a:srgbClr val="17161A"/>
                </a:solidFill>
                <a:latin typeface="Segoe UI"/>
              </a:rPr>
              <a:t>verlierst den Kunden.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164592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874519"/>
            <a:ext cx="3054096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A8271C"/>
                </a:solidFill>
                <a:latin typeface="Segoe UI"/>
              </a:rPr>
              <a:t>Die Standort-Frage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7161A"/>
                </a:solidFill>
                <a:latin typeface="Segoe UI"/>
              </a:rPr>
              <a:t>Grösse M in Zürich ausverkauft. Ob Embrach noch eine hat, </a:t>
            </a:r>
            <a:r>
              <a:rPr sz="1300" b="1">
                <a:solidFill>
                  <a:srgbClr val="17161A"/>
                </a:solidFill>
                <a:latin typeface="Segoe UI"/>
              </a:rPr>
              <a:t>sieht heute niemand.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47888" y="164592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3054096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A8271C"/>
                </a:solidFill>
                <a:latin typeface="Segoe UI"/>
              </a:rPr>
              <a:t>Die Kasse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7161A"/>
                </a:solidFill>
                <a:latin typeface="Segoe UI"/>
              </a:rPr>
              <a:t>Ladenverkäufe werden von Hand in Shopify nachgetragen. </a:t>
            </a:r>
            <a:r>
              <a:rPr sz="1300" b="1">
                <a:solidFill>
                  <a:srgbClr val="17161A"/>
                </a:solidFill>
                <a:latin typeface="Segoe UI"/>
              </a:rPr>
              <a:t>Das kostet Zeit und stimmt oft nicht.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11091672" cy="1920240"/>
          </a:xfrm>
          <a:prstGeom prst="roundRect">
            <a:avLst>
              <a:gd name="adj" fmla="val 6000"/>
            </a:avLst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09160"/>
            <a:ext cx="3566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Georgia"/>
              </a:rPr>
              <a:t>54 bis 65 %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663440"/>
            <a:ext cx="6949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aller Bestandszahlen im Handel sind falsch.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349240"/>
            <a:ext cx="6035040" cy="274320"/>
          </a:xfrm>
          <a:prstGeom prst="roundRect">
            <a:avLst>
              <a:gd name="adj" fmla="val 50000"/>
            </a:avLst>
          </a:prstGeom>
          <a:solidFill>
            <a:srgbClr val="3A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5349240"/>
            <a:ext cx="3621024" cy="274320"/>
          </a:xfrm>
          <a:prstGeom prst="roundRect">
            <a:avLst>
              <a:gd name="adj" fmla="val 5000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5760720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9A97A0"/>
                </a:solidFill>
                <a:latin typeface="Segoe UI"/>
              </a:rPr>
              <a:t>Quelle: DeHoratius/Raman 2008 · ECR/Cardiff 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>
              <a:gd name="adj" fmla="val 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7161A"/>
                </a:solidFill>
                <a:latin typeface="Georgia"/>
              </a:rPr>
              <a:t>Drei Zusagen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77747C"/>
                </a:solidFill>
                <a:latin typeface="Segoe UI"/>
              </a:rPr>
              <a:t>Bevor wir über Modelle reden.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114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800">
                <a:solidFill>
                  <a:srgbClr val="17161A"/>
                </a:solidFill>
                <a:latin typeface="Georgia"/>
              </a:rPr>
              <a:t>FINELLI</a:t>
            </a:r>
            <a:r>
              <a:rPr sz="900">
                <a:solidFill>
                  <a:srgbClr val="A8271C"/>
                </a:solidFill>
              </a:rPr>
              <a:t> 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210312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39696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834640"/>
            <a:ext cx="3054096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7161A"/>
                </a:solidFill>
                <a:latin typeface="Georgia"/>
              </a:rPr>
              <a:t>Shopify bleibt führend.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77747C"/>
                </a:solidFill>
                <a:latin typeface="Segoe UI"/>
              </a:rPr>
              <a:t>Wir ersetzen nichts. Das Cockpit setzt auf deine bestehenden Systeme auf.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82880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54296" y="210312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2139696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834640"/>
            <a:ext cx="3054096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7161A"/>
                </a:solidFill>
                <a:latin typeface="Georgia"/>
              </a:rPr>
              <a:t>Jede Buchung macht ein Mensch.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77747C"/>
                </a:solidFill>
                <a:latin typeface="Segoe UI"/>
              </a:rPr>
              <a:t>Die KI schlägt vor und rechnet. Entscheiden tust du.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82880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03920" y="210312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139696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834640"/>
            <a:ext cx="3054096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7161A"/>
                </a:solidFill>
                <a:latin typeface="Georgia"/>
              </a:rPr>
              <a:t>Ein Preis. Alles drin.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77747C"/>
                </a:solidFill>
                <a:latin typeface="Segoe UI"/>
              </a:rPr>
              <a:t>Keine Extra-Abos. Einrichtung, Schulung und Betreuung sind inklusive.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>
              <a:gd name="adj" fmla="val 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7161A"/>
                </a:solidFill>
                <a:latin typeface="Georgia"/>
              </a:rPr>
              <a:t>Acht Abteilungen. Oder ein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77747C"/>
                </a:solidFill>
                <a:latin typeface="Segoe UI"/>
              </a:rPr>
              <a:t>So läuft dieselbe Arbeit in einer klassischen Firma.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114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800">
                <a:solidFill>
                  <a:srgbClr val="17161A"/>
                </a:solidFill>
                <a:latin typeface="Georgia"/>
              </a:rPr>
              <a:t>FINELLI</a:t>
            </a:r>
            <a:r>
              <a:rPr sz="900">
                <a:solidFill>
                  <a:srgbClr val="A8271C"/>
                </a:solidFill>
              </a:rPr>
              <a:t> 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7161A"/>
                </a:solidFill>
                <a:latin typeface="Segoe UI"/>
              </a:rPr>
              <a:t>Klassisch braucht das eigene Abteilungen und viele Leute: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E4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17161A"/>
                </a:solidFill>
                <a:latin typeface="Segoe UI"/>
              </a:rPr>
              <a:t>Produkt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148840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E4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148840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17161A"/>
                </a:solidFill>
                <a:latin typeface="Segoe UI"/>
              </a:rPr>
              <a:t>Marketing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90672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E4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90672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17161A"/>
                </a:solidFill>
                <a:latin typeface="Segoe UI"/>
              </a:rPr>
              <a:t>Verkauf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3090672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E4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3090672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17161A"/>
                </a:solidFill>
                <a:latin typeface="Segoe UI"/>
              </a:rPr>
              <a:t>Kundendienst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32504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E4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32504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17161A"/>
                </a:solidFill>
                <a:latin typeface="Segoe UI"/>
              </a:rPr>
              <a:t>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4032504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E4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4032504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17161A"/>
                </a:solidFill>
                <a:latin typeface="Segoe UI"/>
              </a:rPr>
              <a:t>Personal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74336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E4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974336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17161A"/>
                </a:solidFill>
                <a:latin typeface="Segoe UI"/>
              </a:rPr>
              <a:t>Finanzen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08960" y="4974336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E4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4974336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17161A"/>
                </a:solidFill>
                <a:latin typeface="Segoe UI"/>
              </a:rPr>
              <a:t>Einkauf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806440" y="3657600"/>
            <a:ext cx="914400" cy="640080"/>
          </a:xfrm>
          <a:prstGeom prst="rightArrow">
            <a:avLst/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40880" y="2148840"/>
            <a:ext cx="4572000" cy="3602736"/>
          </a:xfrm>
          <a:prstGeom prst="roundRect">
            <a:avLst>
              <a:gd name="adj" fmla="val 6000"/>
            </a:avLst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2651760"/>
            <a:ext cx="38404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Bei dir: ein System.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D8D6DC"/>
                </a:solidFill>
                <a:latin typeface="Segoe UI"/>
              </a:rPr>
              <a:t>Das Cockpit übernimmt die Verwaltungsarbeit dieser Abteilungen. </a:t>
            </a:r>
            <a:r>
              <a:rPr sz="1450" b="1">
                <a:solidFill>
                  <a:srgbClr val="D8D6DC"/>
                </a:solidFill>
                <a:latin typeface="Segoe UI"/>
              </a:rPr>
              <a:t>Du führst die Marke. Dein Team verkauft.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77747C"/>
                </a:solidFill>
                <a:latin typeface="Segoe UI"/>
              </a:rPr>
              <a:t>Kein Stellenabbau bei dir: Es geht um Arbeit, die heute liegen bleibt oder dich Abende kostet.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>
              <a:gd name="adj" fmla="val 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7161A"/>
                </a:solidFill>
                <a:latin typeface="Georgia"/>
              </a:rPr>
              <a:t>So arbeitet es zusammen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77747C"/>
                </a:solidFill>
                <a:latin typeface="Segoe UI"/>
              </a:rPr>
              <a:t>Ein Operating System verbindet deine Systeme mit deinen Menschen.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114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800">
                <a:solidFill>
                  <a:srgbClr val="17161A"/>
                </a:solidFill>
                <a:latin typeface="Georgia"/>
              </a:rPr>
              <a:t>FINELLI</a:t>
            </a:r>
            <a:r>
              <a:rPr sz="900">
                <a:solidFill>
                  <a:srgbClr val="A8271C"/>
                </a:solidFill>
              </a:rPr>
              <a:t> 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7747C"/>
                </a:solidFill>
                <a:latin typeface="Segoe UI"/>
              </a:rPr>
              <a:t>DEINE SYSTEME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27432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2743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7161A"/>
                </a:solidFill>
                <a:latin typeface="Segoe UI"/>
              </a:rPr>
              <a:t>Shopify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63240"/>
            <a:ext cx="27432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2743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7161A"/>
                </a:solidFill>
                <a:latin typeface="Segoe UI"/>
              </a:rPr>
              <a:t>Ladenkasse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27432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2743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7161A"/>
                </a:solidFill>
                <a:latin typeface="Segoe UI"/>
              </a:rPr>
              <a:t>Website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00600"/>
            <a:ext cx="27432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800600"/>
            <a:ext cx="2743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7161A"/>
                </a:solidFill>
                <a:latin typeface="Segoe UI"/>
              </a:rPr>
              <a:t>Post / Versand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20440" y="3383280"/>
            <a:ext cx="777240" cy="502920"/>
          </a:xfrm>
          <a:prstGeom prst="rightArrow">
            <a:avLst/>
          </a:prstGeom>
          <a:solidFill>
            <a:srgbClr val="777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26280" y="2468880"/>
            <a:ext cx="3200400" cy="2377440"/>
          </a:xfrm>
          <a:prstGeom prst="roundRect">
            <a:avLst>
              <a:gd name="adj" fmla="val 1000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06324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OPERATING SYSTEM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F0C9C3"/>
                </a:solidFill>
                <a:latin typeface="Segoe UI"/>
              </a:rPr>
              <a:t>das Finelli Cockpit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955279" y="3383280"/>
            <a:ext cx="777240" cy="502920"/>
          </a:xfrm>
          <a:prstGeom prst="rightArrow">
            <a:avLst/>
          </a:prstGeom>
          <a:solidFill>
            <a:srgbClr val="777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7373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7747C"/>
                </a:solidFill>
                <a:latin typeface="Segoe UI"/>
              </a:rPr>
              <a:t>DEINE MENSCHEN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219456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2359152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Du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4BD"/>
                </a:solidFill>
                <a:latin typeface="Segoe UI"/>
              </a:rPr>
              <a:t>entscheidest und gibst frei.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361188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3776472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Dein Team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4BD"/>
                </a:solidFill>
                <a:latin typeface="Segoe UI"/>
              </a:rPr>
              <a:t>scannt und verkauft.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7161A"/>
                </a:solidFill>
                <a:latin typeface="Segoe UI"/>
              </a:rPr>
              <a:t>Wir richten dieses System bei dir ein und betreuen es. Monat für Monat.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>
              <a:gd name="adj" fmla="val 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7161A"/>
                </a:solidFill>
                <a:latin typeface="Georgia"/>
              </a:rPr>
              <a:t>Die Übersicht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77747C"/>
                </a:solidFill>
                <a:latin typeface="Segoe UI"/>
              </a:rPr>
              <a:t>Ein Blick genügt.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114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800">
                <a:solidFill>
                  <a:srgbClr val="17161A"/>
                </a:solidFill>
                <a:latin typeface="Georgia"/>
              </a:rPr>
              <a:t>FINELLI</a:t>
            </a:r>
            <a:r>
              <a:rPr sz="900">
                <a:solidFill>
                  <a:srgbClr val="A8271C"/>
                </a:solidFill>
              </a:rPr>
              <a:t> 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1737360"/>
            <a:ext cx="2651760" cy="4572000"/>
          </a:xfrm>
          <a:prstGeom prst="roundRect">
            <a:avLst>
              <a:gd name="adj" fmla="val 9000"/>
            </a:avLst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98448" y="1847088"/>
            <a:ext cx="2432304" cy="4352544"/>
          </a:xfrm>
          <a:prstGeom prst="roundRect">
            <a:avLst>
              <a:gd name="adj" fmla="val 7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08176" y="1920240"/>
            <a:ext cx="2212848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7161A"/>
                </a:solidFill>
                <a:latin typeface="Segoe UI"/>
              </a:rPr>
              <a:t>FINELLI 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26464" y="2286000"/>
            <a:ext cx="688848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6464" y="2322576"/>
            <a:ext cx="688848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2F7D43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2670048"/>
            <a:ext cx="688848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750" b="0">
                <a:solidFill>
                  <a:srgbClr val="77747C"/>
                </a:solidFill>
                <a:latin typeface="Segoe UI"/>
              </a:rPr>
              <a:t>gut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70176" y="2286000"/>
            <a:ext cx="688848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70176" y="2322576"/>
            <a:ext cx="688848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B9861A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0176" y="2670048"/>
            <a:ext cx="688848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750" b="0">
                <a:solidFill>
                  <a:srgbClr val="77747C"/>
                </a:solidFill>
                <a:latin typeface="Segoe UI"/>
              </a:rPr>
              <a:t>knapp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13888" y="2286000"/>
            <a:ext cx="688848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13888" y="2322576"/>
            <a:ext cx="688848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A8271C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3888" y="2670048"/>
            <a:ext cx="688848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750" b="0">
                <a:solidFill>
                  <a:srgbClr val="77747C"/>
                </a:solidFill>
                <a:latin typeface="Segoe UI"/>
              </a:rPr>
              <a:t>leer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6464" y="3090672"/>
            <a:ext cx="217627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17904" y="3145536"/>
            <a:ext cx="199339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17161A"/>
                </a:solidFill>
                <a:latin typeface="Segoe UI"/>
              </a:rPr>
              <a:t>Heute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3401568"/>
            <a:ext cx="1993392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17161A"/>
                </a:solidFill>
                <a:latin typeface="Segoe UI"/>
              </a:rPr>
              <a:t>14</a:t>
            </a:r>
            <a:r>
              <a:rPr sz="900" b="0">
                <a:solidFill>
                  <a:srgbClr val="17161A"/>
                </a:solidFill>
                <a:latin typeface="Segoe UI"/>
              </a:rPr>
              <a:t> Verkäufe   ·   </a:t>
            </a:r>
            <a:r>
              <a:rPr sz="900" b="1">
                <a:solidFill>
                  <a:srgbClr val="17161A"/>
                </a:solidFill>
                <a:latin typeface="Segoe UI"/>
              </a:rPr>
              <a:t>3</a:t>
            </a:r>
            <a:r>
              <a:rPr sz="900" b="0">
                <a:solidFill>
                  <a:srgbClr val="17161A"/>
                </a:solidFill>
                <a:latin typeface="Segoe UI"/>
              </a:rPr>
              <a:t> Bestellungen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26464" y="4005072"/>
            <a:ext cx="21762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A827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17904" y="4059936"/>
            <a:ext cx="199339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A8271C"/>
                </a:solidFill>
                <a:latin typeface="Segoe UI"/>
              </a:rPr>
              <a:t>KI-Vorschlag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7904" y="4334256"/>
            <a:ext cx="1993392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17161A"/>
                </a:solidFill>
                <a:latin typeface="Segoe UI"/>
              </a:rPr>
              <a:t>Hoodie M in Zürich leer. 12 nachbestellen?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17904" y="4937760"/>
            <a:ext cx="950976" cy="329184"/>
          </a:xfrm>
          <a:prstGeom prst="roundRect">
            <a:avLst>
              <a:gd name="adj" fmla="val 2500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17904" y="4937760"/>
            <a:ext cx="95097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Übernehmen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60320" y="4937760"/>
            <a:ext cx="950976" cy="329184"/>
          </a:xfrm>
          <a:prstGeom prst="roundRect">
            <a:avLst>
              <a:gd name="adj" fmla="val 25000"/>
            </a:avLst>
          </a:prstGeom>
          <a:solidFill>
            <a:srgbClr val="E4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4937760"/>
            <a:ext cx="95097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0">
                <a:solidFill>
                  <a:srgbClr val="17161A"/>
                </a:solidFill>
                <a:latin typeface="Segoe UI"/>
              </a:rPr>
              <a:t>Ablehnen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2194560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219456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7161A"/>
                </a:solidFill>
                <a:latin typeface="Segoe UI"/>
              </a:rPr>
              <a:t>Ampeln zeigen den Bestand.</a:t>
            </a:r>
            <a:r>
              <a:rPr sz="1550" b="0">
                <a:solidFill>
                  <a:srgbClr val="17161A"/>
                </a:solidFill>
                <a:latin typeface="Segoe UI"/>
              </a:rPr>
              <a:t> Grün gut, gelb knapp, rot leer.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3429000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342900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7161A"/>
                </a:solidFill>
                <a:latin typeface="Segoe UI"/>
              </a:rPr>
              <a:t>Heute-Zahlen live</a:t>
            </a:r>
            <a:r>
              <a:rPr sz="1550" b="0">
                <a:solidFill>
                  <a:srgbClr val="17161A"/>
                </a:solidFill>
                <a:latin typeface="Segoe UI"/>
              </a:rPr>
              <a:t> aus deinem Shop.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4663440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466344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7161A"/>
                </a:solidFill>
                <a:latin typeface="Segoe UI"/>
              </a:rPr>
              <a:t>KI-Vorschlag:</a:t>
            </a:r>
            <a:r>
              <a:rPr sz="1550" b="0">
                <a:solidFill>
                  <a:srgbClr val="17161A"/>
                </a:solidFill>
                <a:latin typeface="Segoe UI"/>
              </a:rPr>
              <a:t> übernehmen oder ablehnen. Du entscheidest.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>
              <a:gd name="adj" fmla="val 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7161A"/>
                </a:solidFill>
                <a:latin typeface="Georgia"/>
              </a:rPr>
              <a:t>Der Wareneingang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77747C"/>
                </a:solidFill>
                <a:latin typeface="Segoe UI"/>
              </a:rPr>
              <a:t>Karton auf, Handy dran, fertig.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114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800">
                <a:solidFill>
                  <a:srgbClr val="17161A"/>
                </a:solidFill>
                <a:latin typeface="Georgia"/>
              </a:rPr>
              <a:t>FINELLI</a:t>
            </a:r>
            <a:r>
              <a:rPr sz="900">
                <a:solidFill>
                  <a:srgbClr val="A8271C"/>
                </a:solidFill>
              </a:rPr>
              <a:t> 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1737360"/>
            <a:ext cx="2651760" cy="4572000"/>
          </a:xfrm>
          <a:prstGeom prst="roundRect">
            <a:avLst>
              <a:gd name="adj" fmla="val 9000"/>
            </a:avLst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98448" y="1847088"/>
            <a:ext cx="2432304" cy="4352544"/>
          </a:xfrm>
          <a:prstGeom prst="roundRect">
            <a:avLst>
              <a:gd name="adj" fmla="val 7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08176" y="1920240"/>
            <a:ext cx="2212848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7161A"/>
                </a:solidFill>
                <a:latin typeface="Segoe UI"/>
              </a:rPr>
              <a:t>FINELLI 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26464" y="2286000"/>
            <a:ext cx="2176272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17904" y="2395728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48256" y="2286000"/>
            <a:ext cx="1536192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17161A"/>
                </a:solidFill>
                <a:latin typeface="Segoe UI"/>
              </a:rPr>
              <a:t>Test: WLAN ausgeschaltet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6464" y="2889504"/>
            <a:ext cx="2176272" cy="685800"/>
          </a:xfrm>
          <a:prstGeom prst="roundRect">
            <a:avLst>
              <a:gd name="adj" fmla="val 1200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26464" y="2889504"/>
            <a:ext cx="2176272" cy="6858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Artikel scannen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6464" y="3712464"/>
            <a:ext cx="217627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17904" y="3712464"/>
            <a:ext cx="1993392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2F7D43"/>
                </a:solidFill>
                <a:latin typeface="Segoe UI"/>
              </a:rPr>
              <a:t>Eingebucht:</a:t>
            </a:r>
            <a:r>
              <a:rPr sz="850" b="0">
                <a:solidFill>
                  <a:srgbClr val="2F7D43"/>
                </a:solidFill>
                <a:latin typeface="Segoe UI"/>
              </a:rPr>
              <a:t> 1x Tee Box-Logo 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6464" y="4407408"/>
            <a:ext cx="2176272" cy="960120"/>
          </a:xfrm>
          <a:prstGeom prst="roundRect">
            <a:avLst>
              <a:gd name="adj" fmla="val 6000"/>
            </a:avLst>
          </a:prstGeom>
          <a:solidFill>
            <a:srgbClr val="F5ECD9"/>
          </a:solidFill>
          <a:ln w="12700">
            <a:solidFill>
              <a:srgbClr val="B98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7904" y="4480560"/>
            <a:ext cx="1993392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7A5C12"/>
                </a:solidFill>
                <a:latin typeface="Segoe UI"/>
              </a:rPr>
              <a:t>Warteschlange: 1 Buchung.</a:t>
            </a:r>
            <a:r>
              <a:rPr sz="850" b="0">
                <a:solidFill>
                  <a:srgbClr val="7A5C12"/>
                </a:solidFill>
                <a:latin typeface="Segoe UI"/>
              </a:rPr>
              <a:t> Wird automatisch nachgebucht, sobald WLAN da ist.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2194560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219456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7161A"/>
                </a:solidFill>
                <a:latin typeface="Segoe UI"/>
              </a:rPr>
              <a:t>Scannen und einbuchen</a:t>
            </a:r>
            <a:r>
              <a:rPr sz="1550" b="0">
                <a:solidFill>
                  <a:srgbClr val="17161A"/>
                </a:solidFill>
                <a:latin typeface="Segoe UI"/>
              </a:rPr>
              <a:t> in 10 Sekunden pro Artikel.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3429000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342900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7161A"/>
                </a:solidFill>
                <a:latin typeface="Segoe UI"/>
              </a:rPr>
              <a:t>Ohne WLAN</a:t>
            </a:r>
            <a:r>
              <a:rPr sz="1550" b="0">
                <a:solidFill>
                  <a:srgbClr val="17161A"/>
                </a:solidFill>
                <a:latin typeface="Segoe UI"/>
              </a:rPr>
              <a:t> wartet die Buchung in der Warteschlange.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4663440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466344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7161A"/>
                </a:solidFill>
                <a:latin typeface="Segoe UI"/>
              </a:rPr>
              <a:t>Nichts geht verloren.</a:t>
            </a:r>
            <a:r>
              <a:rPr sz="1550" b="0">
                <a:solidFill>
                  <a:srgbClr val="17161A"/>
                </a:solidFill>
                <a:latin typeface="Segoe UI"/>
              </a:rPr>
              <a:t> Jede Buchung landet genau einmal im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>
              <a:gd name="adj" fmla="val 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7161A"/>
                </a:solidFill>
                <a:latin typeface="Georgia"/>
              </a:rPr>
              <a:t>Frag Finelli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77747C"/>
                </a:solidFill>
                <a:latin typeface="Segoe UI"/>
              </a:rPr>
              <a:t>Deine Zahlen in normaler Sprache.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114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800">
                <a:solidFill>
                  <a:srgbClr val="17161A"/>
                </a:solidFill>
                <a:latin typeface="Georgia"/>
              </a:rPr>
              <a:t>FINELLI</a:t>
            </a:r>
            <a:r>
              <a:rPr sz="900">
                <a:solidFill>
                  <a:srgbClr val="A8271C"/>
                </a:solidFill>
              </a:rPr>
              <a:t> 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1737360"/>
            <a:ext cx="2651760" cy="4572000"/>
          </a:xfrm>
          <a:prstGeom prst="roundRect">
            <a:avLst>
              <a:gd name="adj" fmla="val 9000"/>
            </a:avLst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98448" y="1847088"/>
            <a:ext cx="2432304" cy="4352544"/>
          </a:xfrm>
          <a:prstGeom prst="roundRect">
            <a:avLst>
              <a:gd name="adj" fmla="val 7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08176" y="1920240"/>
            <a:ext cx="2212848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7161A"/>
                </a:solidFill>
                <a:latin typeface="Segoe UI"/>
              </a:rPr>
              <a:t>FINELLI 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8193" y="2286000"/>
            <a:ext cx="1784543" cy="502920"/>
          </a:xfrm>
          <a:prstGeom prst="roundRect">
            <a:avLst>
              <a:gd name="adj" fmla="val 30000"/>
            </a:avLst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09633" y="2286000"/>
            <a:ext cx="1601663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FFFFFF"/>
                </a:solidFill>
                <a:latin typeface="Segoe UI"/>
              </a:rPr>
              <a:t>Wo liegt Hoodie M?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6464" y="2916936"/>
            <a:ext cx="1784543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17904" y="2916936"/>
            <a:ext cx="1601663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17161A"/>
                </a:solidFill>
                <a:latin typeface="Segoe UI"/>
              </a:rPr>
              <a:t>Zürich 0, Embrach 4. Regal B, Fach 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18193" y="3547872"/>
            <a:ext cx="1784543" cy="502920"/>
          </a:xfrm>
          <a:prstGeom prst="roundRect">
            <a:avLst>
              <a:gd name="adj" fmla="val 30000"/>
            </a:avLst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09633" y="3547872"/>
            <a:ext cx="1601663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FFFFFF"/>
                </a:solidFill>
                <a:latin typeface="Segoe UI"/>
              </a:rPr>
              <a:t>Was ist knapp?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6464" y="4178808"/>
            <a:ext cx="1784543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17904" y="4178808"/>
            <a:ext cx="1601663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17161A"/>
                </a:solidFill>
                <a:latin typeface="Segoe UI"/>
              </a:rPr>
              <a:t>Cap Sport und Beanie Logo.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26464" y="5696712"/>
            <a:ext cx="2176272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36192" y="5696712"/>
            <a:ext cx="1956816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77747C"/>
                </a:solidFill>
                <a:latin typeface="Segoe UI"/>
              </a:rPr>
              <a:t>Frage eingeben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2194560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19456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7161A"/>
                </a:solidFill>
                <a:latin typeface="Segoe UI"/>
              </a:rPr>
              <a:t>Fragen statt suchen.</a:t>
            </a:r>
            <a:r>
              <a:rPr sz="1550" b="0">
                <a:solidFill>
                  <a:srgbClr val="17161A"/>
                </a:solidFill>
                <a:latin typeface="Segoe UI"/>
              </a:rPr>
              <a:t> Keine Tabellen, keine Excel-Listen.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3429000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342900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7161A"/>
                </a:solidFill>
                <a:latin typeface="Segoe UI"/>
              </a:rPr>
              <a:t>Antworten aus deinen echten Zahlen,</a:t>
            </a:r>
            <a:r>
              <a:rPr sz="1550" b="0">
                <a:solidFill>
                  <a:srgbClr val="17161A"/>
                </a:solidFill>
                <a:latin typeface="Segoe UI"/>
              </a:rPr>
              <a:t> in Sekunden.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4663440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466344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7161A"/>
                </a:solidFill>
                <a:latin typeface="Segoe UI"/>
              </a:rPr>
              <a:t>Nur Antworten.</a:t>
            </a:r>
            <a:r>
              <a:rPr sz="1550" b="0">
                <a:solidFill>
                  <a:srgbClr val="17161A"/>
                </a:solidFill>
                <a:latin typeface="Segoe UI"/>
              </a:rPr>
              <a:t> Gebucht wird nichts.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>
              <a:gd name="adj" fmla="val 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7161A"/>
                </a:solidFill>
                <a:latin typeface="Georgia"/>
              </a:rPr>
              <a:t>Das Shop-Cockpit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77747C"/>
                </a:solidFill>
                <a:latin typeface="Segoe UI"/>
              </a:rPr>
              <a:t>So sieht dein Shop von innen aus. Zahlen als Beispiel.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114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800">
                <a:solidFill>
                  <a:srgbClr val="17161A"/>
                </a:solidFill>
                <a:latin typeface="Georgia"/>
              </a:rPr>
              <a:t>FINELLI</a:t>
            </a:r>
            <a:r>
              <a:rPr sz="900">
                <a:solidFill>
                  <a:srgbClr val="A8271C"/>
                </a:solidFill>
              </a:rPr>
              <a:t> 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6400800" cy="4343400"/>
          </a:xfrm>
          <a:prstGeom prst="roundRect">
            <a:avLst>
              <a:gd name="adj" fmla="val 5000"/>
            </a:avLst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6217920" cy="4160520"/>
          </a:xfrm>
          <a:prstGeom prst="roundRect">
            <a:avLst>
              <a:gd name="adj" fmla="val 3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217920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8096" y="1901952"/>
            <a:ext cx="91440" cy="91440"/>
          </a:xfrm>
          <a:prstGeom prst="ellipse">
            <a:avLst/>
          </a:prstGeom>
          <a:solidFill>
            <a:srgbClr val="E4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" y="1901952"/>
            <a:ext cx="91440" cy="91440"/>
          </a:xfrm>
          <a:prstGeom prst="ellipse">
            <a:avLst/>
          </a:prstGeom>
          <a:solidFill>
            <a:srgbClr val="E4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1901952"/>
            <a:ext cx="91440" cy="91440"/>
          </a:xfrm>
          <a:prstGeom prst="ellipse">
            <a:avLst/>
          </a:prstGeom>
          <a:solidFill>
            <a:srgbClr val="E4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25880" y="1847088"/>
            <a:ext cx="2468880" cy="201168"/>
          </a:xfrm>
          <a:prstGeom prst="roundRect">
            <a:avLst>
              <a:gd name="adj" fmla="val 50000"/>
            </a:avLst>
          </a:prstGeom>
          <a:solidFill>
            <a:srgbClr val="E4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81328" y="1837944"/>
            <a:ext cx="219456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>
                <a:solidFill>
                  <a:srgbClr val="77747C"/>
                </a:solidFill>
                <a:latin typeface="Segoe UI"/>
              </a:rPr>
              <a:t>cockpit.finelli.ch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85416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7161A"/>
                </a:solidFill>
                <a:latin typeface="Segoe UI"/>
              </a:rPr>
              <a:t>FINELLI 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185416"/>
            <a:ext cx="2505456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77747C"/>
                </a:solidFill>
                <a:latin typeface="Segoe UI"/>
              </a:rPr>
              <a:t>Übersicht · Shop · Zahlen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2532888"/>
            <a:ext cx="1901952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2578608"/>
            <a:ext cx="1719072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17161A"/>
                </a:solidFill>
                <a:latin typeface="Segoe UI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2880360"/>
            <a:ext cx="171907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>
                <a:solidFill>
                  <a:srgbClr val="77747C"/>
                </a:solidFill>
                <a:latin typeface="Segoe UI"/>
              </a:rPr>
              <a:t>Verkäufe heute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98064" y="2532888"/>
            <a:ext cx="1901952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9504" y="2578608"/>
            <a:ext cx="1719072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17161A"/>
                </a:solidFill>
                <a:latin typeface="Segoe UI"/>
              </a:rPr>
              <a:t>CHF 2'340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9504" y="2880360"/>
            <a:ext cx="171907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>
                <a:solidFill>
                  <a:srgbClr val="77747C"/>
                </a:solidFill>
                <a:latin typeface="Segoe UI"/>
              </a:rPr>
              <a:t>Umsatz heute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9744" y="2532888"/>
            <a:ext cx="1901952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01184" y="2578608"/>
            <a:ext cx="1719072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17161A"/>
                </a:solidFill>
                <a:latin typeface="Segoe UI"/>
              </a:rPr>
              <a:t>312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1184" y="2880360"/>
            <a:ext cx="171907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>
                <a:solidFill>
                  <a:srgbClr val="77747C"/>
                </a:solidFill>
                <a:latin typeface="Segoe UI"/>
              </a:rPr>
              <a:t>Shop-Besucher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" y="3300984"/>
            <a:ext cx="324612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364992"/>
            <a:ext cx="2148840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17161A"/>
                </a:solidFill>
                <a:latin typeface="Segoe UI"/>
              </a:rPr>
              <a:t>Shop-Regal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8648" y="3383280"/>
            <a:ext cx="100584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650" b="0">
                <a:solidFill>
                  <a:srgbClr val="77747C"/>
                </a:solidFill>
                <a:latin typeface="Segoe UI"/>
              </a:rPr>
              <a:t>Beispielzahlen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666744"/>
            <a:ext cx="1042415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>
                <a:solidFill>
                  <a:srgbClr val="17161A"/>
                </a:solidFill>
                <a:latin typeface="Segoe UI"/>
              </a:rPr>
              <a:t>Cap Sport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93392" y="3703320"/>
            <a:ext cx="1856232" cy="118872"/>
          </a:xfrm>
          <a:prstGeom prst="roundRect">
            <a:avLst>
              <a:gd name="adj" fmla="val 50000"/>
            </a:avLst>
          </a:prstGeom>
          <a:solidFill>
            <a:srgbClr val="E4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993392" y="3703320"/>
            <a:ext cx="1856232" cy="118872"/>
          </a:xfrm>
          <a:prstGeom prst="roundRect">
            <a:avLst>
              <a:gd name="adj" fmla="val 5000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032504"/>
            <a:ext cx="1042415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>
                <a:solidFill>
                  <a:srgbClr val="17161A"/>
                </a:solidFill>
                <a:latin typeface="Segoe UI"/>
              </a:rPr>
              <a:t>Hoodie Classic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93392" y="4069080"/>
            <a:ext cx="1856232" cy="118872"/>
          </a:xfrm>
          <a:prstGeom prst="roundRect">
            <a:avLst>
              <a:gd name="adj" fmla="val 50000"/>
            </a:avLst>
          </a:prstGeom>
          <a:solidFill>
            <a:srgbClr val="E4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993392" y="4069080"/>
            <a:ext cx="1336487" cy="118872"/>
          </a:xfrm>
          <a:prstGeom prst="roundRect">
            <a:avLst>
              <a:gd name="adj" fmla="val 50000"/>
            </a:avLst>
          </a:prstGeom>
          <a:solidFill>
            <a:srgbClr val="777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398264"/>
            <a:ext cx="1042415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>
                <a:solidFill>
                  <a:srgbClr val="17161A"/>
                </a:solidFill>
                <a:latin typeface="Segoe UI"/>
              </a:rPr>
              <a:t>Tee Box-Logo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93392" y="4434840"/>
            <a:ext cx="1856232" cy="118872"/>
          </a:xfrm>
          <a:prstGeom prst="roundRect">
            <a:avLst>
              <a:gd name="adj" fmla="val 50000"/>
            </a:avLst>
          </a:prstGeom>
          <a:solidFill>
            <a:srgbClr val="E4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993392" y="4434840"/>
            <a:ext cx="946678" cy="118872"/>
          </a:xfrm>
          <a:prstGeom prst="roundRect">
            <a:avLst>
              <a:gd name="adj" fmla="val 50000"/>
            </a:avLst>
          </a:prstGeom>
          <a:solidFill>
            <a:srgbClr val="777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764024"/>
            <a:ext cx="1042415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>
                <a:solidFill>
                  <a:srgbClr val="17161A"/>
                </a:solidFill>
                <a:latin typeface="Segoe UI"/>
              </a:rPr>
              <a:t>Beanie Logo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93392" y="4800600"/>
            <a:ext cx="1856232" cy="118872"/>
          </a:xfrm>
          <a:prstGeom prst="roundRect">
            <a:avLst>
              <a:gd name="adj" fmla="val 50000"/>
            </a:avLst>
          </a:prstGeom>
          <a:solidFill>
            <a:srgbClr val="E4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993392" y="4800600"/>
            <a:ext cx="612556" cy="118872"/>
          </a:xfrm>
          <a:prstGeom prst="roundRect">
            <a:avLst>
              <a:gd name="adj" fmla="val 50000"/>
            </a:avLst>
          </a:prstGeom>
          <a:solidFill>
            <a:srgbClr val="777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129784"/>
            <a:ext cx="1042415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>
                <a:solidFill>
                  <a:srgbClr val="17161A"/>
                </a:solidFill>
                <a:latin typeface="Segoe UI"/>
              </a:rPr>
              <a:t>Cap Denim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93392" y="5166360"/>
            <a:ext cx="1856232" cy="118872"/>
          </a:xfrm>
          <a:prstGeom prst="roundRect">
            <a:avLst>
              <a:gd name="adj" fmla="val 50000"/>
            </a:avLst>
          </a:prstGeom>
          <a:solidFill>
            <a:srgbClr val="E4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993392" y="5166360"/>
            <a:ext cx="334121" cy="118872"/>
          </a:xfrm>
          <a:prstGeom prst="roundRect">
            <a:avLst>
              <a:gd name="adj" fmla="val 50000"/>
            </a:avLst>
          </a:prstGeom>
          <a:solidFill>
            <a:srgbClr val="777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215384" y="3300984"/>
            <a:ext cx="249631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25112" y="3355848"/>
            <a:ext cx="227685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17161A"/>
                </a:solidFill>
                <a:latin typeface="Segoe UI"/>
              </a:rPr>
              <a:t>Wer kauft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25112" y="3593592"/>
            <a:ext cx="777240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00" b="0">
                <a:solidFill>
                  <a:srgbClr val="17161A"/>
                </a:solidFill>
                <a:latin typeface="Segoe UI"/>
              </a:rPr>
              <a:t>18 bis 25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48072" y="3630168"/>
            <a:ext cx="1399032" cy="100584"/>
          </a:xfrm>
          <a:prstGeom prst="roundRect">
            <a:avLst>
              <a:gd name="adj" fmla="val 50000"/>
            </a:avLst>
          </a:prstGeom>
          <a:solidFill>
            <a:srgbClr val="E4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148072" y="3630168"/>
            <a:ext cx="629564" cy="100584"/>
          </a:xfrm>
          <a:prstGeom prst="roundRect">
            <a:avLst>
              <a:gd name="adj" fmla="val 50000"/>
            </a:avLst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25112" y="3813048"/>
            <a:ext cx="777240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00" b="0">
                <a:solidFill>
                  <a:srgbClr val="17161A"/>
                </a:solidFill>
                <a:latin typeface="Segoe UI"/>
              </a:rPr>
              <a:t>26 bis 35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48072" y="3849624"/>
            <a:ext cx="1399032" cy="100584"/>
          </a:xfrm>
          <a:prstGeom prst="roundRect">
            <a:avLst>
              <a:gd name="adj" fmla="val 50000"/>
            </a:avLst>
          </a:prstGeom>
          <a:solidFill>
            <a:srgbClr val="E4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148072" y="3849624"/>
            <a:ext cx="447690" cy="100584"/>
          </a:xfrm>
          <a:prstGeom prst="roundRect">
            <a:avLst>
              <a:gd name="adj" fmla="val 50000"/>
            </a:avLst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25112" y="4032504"/>
            <a:ext cx="777240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00" b="0">
                <a:solidFill>
                  <a:srgbClr val="17161A"/>
                </a:solidFill>
                <a:latin typeface="Segoe UI"/>
              </a:rPr>
              <a:t>36 plus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48072" y="4069080"/>
            <a:ext cx="1399032" cy="100584"/>
          </a:xfrm>
          <a:prstGeom prst="roundRect">
            <a:avLst>
              <a:gd name="adj" fmla="val 50000"/>
            </a:avLst>
          </a:prstGeom>
          <a:solidFill>
            <a:srgbClr val="E4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148072" y="4069080"/>
            <a:ext cx="321777" cy="100584"/>
          </a:xfrm>
          <a:prstGeom prst="roundRect">
            <a:avLst>
              <a:gd name="adj" fmla="val 50000"/>
            </a:avLst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25112" y="4261104"/>
            <a:ext cx="227685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650" b="0">
                <a:solidFill>
                  <a:srgbClr val="77747C"/>
                </a:solidFill>
                <a:latin typeface="Segoe UI"/>
              </a:rPr>
              <a:t>Top-Region: Zürich Stadt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15384" y="4617720"/>
            <a:ext cx="2496312" cy="11978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A827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25112" y="4672584"/>
            <a:ext cx="227685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A8271C"/>
                </a:solidFill>
                <a:latin typeface="Segoe UI"/>
              </a:rPr>
              <a:t>KI-Vorschlag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25112" y="4892040"/>
            <a:ext cx="2276856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17161A"/>
                </a:solidFill>
                <a:latin typeface="Segoe UI"/>
              </a:rPr>
              <a:t>Cap Sport läuft. Auf der Startseite nach vorne stellen?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25112" y="5449824"/>
            <a:ext cx="1083564" cy="274320"/>
          </a:xfrm>
          <a:prstGeom prst="roundRect">
            <a:avLst>
              <a:gd name="adj" fmla="val 3000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25112" y="5449824"/>
            <a:ext cx="1083564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750" b="1">
                <a:solidFill>
                  <a:srgbClr val="FFFFFF"/>
                </a:solidFill>
                <a:latin typeface="Segoe UI"/>
              </a:rPr>
              <a:t>Übernehmen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518404" y="5449824"/>
            <a:ext cx="1083564" cy="274320"/>
          </a:xfrm>
          <a:prstGeom prst="roundRect">
            <a:avLst>
              <a:gd name="adj" fmla="val 30000"/>
            </a:avLst>
          </a:prstGeom>
          <a:solidFill>
            <a:srgbClr val="E4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18404" y="5449824"/>
            <a:ext cx="1083564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750" b="0">
                <a:solidFill>
                  <a:srgbClr val="17161A"/>
                </a:solidFill>
                <a:latin typeface="Segoe UI"/>
              </a:rPr>
              <a:t>Ablehnen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41248" y="5468112"/>
            <a:ext cx="2240280" cy="347472"/>
          </a:xfrm>
          <a:prstGeom prst="roundRect">
            <a:avLst>
              <a:gd name="adj" fmla="val 50000"/>
            </a:avLst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7552" y="5468112"/>
            <a:ext cx="196596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●</a:t>
            </a:r>
            <a:r>
              <a:rPr sz="800" b="0">
                <a:solidFill>
                  <a:srgbClr val="FFFFFF"/>
                </a:solidFill>
                <a:latin typeface="Segoe UI"/>
              </a:rPr>
              <a:t>  Grüezi! Welche Grösse suchst du?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15200" y="2194560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80960" y="2194560"/>
            <a:ext cx="4297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7161A"/>
                </a:solidFill>
                <a:latin typeface="Segoe UI"/>
              </a:rPr>
              <a:t>Du siehst, was verkauft und was liegen bleibt.</a:t>
            </a:r>
            <a:r>
              <a:rPr sz="1550" b="0">
                <a:solidFill>
                  <a:srgbClr val="17161A"/>
                </a:solidFill>
                <a:latin typeface="Segoe UI"/>
              </a:rPr>
              <a:t> Pro Produkt, auf einen Blick.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315200" y="3429000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80960" y="3429000"/>
            <a:ext cx="4297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7161A"/>
                </a:solidFill>
                <a:latin typeface="Segoe UI"/>
              </a:rPr>
              <a:t>Du siehst, wer bei dir kauft.</a:t>
            </a:r>
            <a:r>
              <a:rPr sz="1550" b="0">
                <a:solidFill>
                  <a:srgbClr val="17161A"/>
                </a:solidFill>
                <a:latin typeface="Segoe UI"/>
              </a:rPr>
              <a:t> Alter und Region, ohne Excel.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0" y="4663440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80960" y="4663440"/>
            <a:ext cx="4297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7161A"/>
                </a:solidFill>
                <a:latin typeface="Segoe UI"/>
              </a:rPr>
              <a:t>Der Shop schlägt vor. Du gibst frei.</a:t>
            </a:r>
            <a:r>
              <a:rPr sz="1550" b="0">
                <a:solidFill>
                  <a:srgbClr val="17161A"/>
                </a:solidFill>
                <a:latin typeface="Segoe UI"/>
              </a:rPr>
              <a:t> Der digitale Berater beantwortet Kundenfragen rund um die Uhr.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>
              <a:gd name="adj" fmla="val 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7161A"/>
                </a:solidFill>
                <a:latin typeface="Georgia"/>
              </a:rPr>
              <a:t>So führen wir es ein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77747C"/>
                </a:solidFill>
                <a:latin typeface="Segoe UI"/>
              </a:rPr>
              <a:t>Vier Schritte. Der Laden läuft normal weiter.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114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800">
                <a:solidFill>
                  <a:srgbClr val="17161A"/>
                </a:solidFill>
                <a:latin typeface="Georgia"/>
              </a:rPr>
              <a:t>FINELLI</a:t>
            </a:r>
            <a:r>
              <a:rPr sz="900">
                <a:solidFill>
                  <a:srgbClr val="A8271C"/>
                </a:solidFill>
              </a:rPr>
              <a:t> ●</a:t>
            </a:r>
          </a:p>
        </p:txBody>
      </p:sp>
      <p:sp>
        <p:nvSpPr>
          <p:cNvPr id="6" name="Chevron 5"/>
          <p:cNvSpPr/>
          <p:nvPr/>
        </p:nvSpPr>
        <p:spPr>
          <a:xfrm>
            <a:off x="548640" y="2331720"/>
            <a:ext cx="2788920" cy="822960"/>
          </a:xfrm>
          <a:prstGeom prst="chevron">
            <a:avLst>
              <a:gd name="adj" fmla="val 35000"/>
            </a:avLst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59736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1   Zählen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24688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77747C"/>
                </a:solidFill>
                <a:latin typeface="Segoe UI"/>
              </a:rPr>
              <a:t>Dein Team zählt einmal sauber durch. Mit Anleitung und Lagerplatz-Etiketten von uns.</a:t>
            </a:r>
          </a:p>
        </p:txBody>
      </p:sp>
      <p:sp>
        <p:nvSpPr>
          <p:cNvPr id="9" name="Chevron 8"/>
          <p:cNvSpPr/>
          <p:nvPr/>
        </p:nvSpPr>
        <p:spPr>
          <a:xfrm>
            <a:off x="3364992" y="2331720"/>
            <a:ext cx="2788920" cy="822960"/>
          </a:xfrm>
          <a:prstGeom prst="chevron">
            <a:avLst>
              <a:gd name="adj" fmla="val 35000"/>
            </a:avLst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2459736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2   Verbinden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3429000"/>
            <a:ext cx="24688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77747C"/>
                </a:solidFill>
                <a:latin typeface="Segoe UI"/>
              </a:rPr>
              <a:t>Wir verbinden das Cockpit mit deinem Shopify. Shopify bleibt führend.</a:t>
            </a:r>
          </a:p>
        </p:txBody>
      </p:sp>
      <p:sp>
        <p:nvSpPr>
          <p:cNvPr id="12" name="Chevron 11"/>
          <p:cNvSpPr/>
          <p:nvPr/>
        </p:nvSpPr>
        <p:spPr>
          <a:xfrm>
            <a:off x="6181344" y="2331720"/>
            <a:ext cx="2788920" cy="822960"/>
          </a:xfrm>
          <a:prstGeom prst="chevron">
            <a:avLst>
              <a:gd name="adj" fmla="val 35000"/>
            </a:avLst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2459736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3   Schulen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3429000"/>
            <a:ext cx="24688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77747C"/>
                </a:solidFill>
                <a:latin typeface="Segoe UI"/>
              </a:rPr>
              <a:t>30 Minuten pro Person. Jeder bekommt eine eigene PIN.</a:t>
            </a:r>
          </a:p>
        </p:txBody>
      </p:sp>
      <p:sp>
        <p:nvSpPr>
          <p:cNvPr id="15" name="Chevron 14"/>
          <p:cNvSpPr/>
          <p:nvPr/>
        </p:nvSpPr>
        <p:spPr>
          <a:xfrm>
            <a:off x="8997696" y="2331720"/>
            <a:ext cx="2788920" cy="822960"/>
          </a:xfrm>
          <a:prstGeom prst="chevron">
            <a:avLst>
              <a:gd name="adj" fmla="val 3500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17736" y="2459736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4   Betrieb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9136" y="3429000"/>
            <a:ext cx="24688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77747C"/>
                </a:solidFill>
                <a:latin typeface="Segoe UI"/>
              </a:rPr>
              <a:t>Wochen-Bericht jeden Montag. Wir betreuen und bauen aus, wenn du es willst.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7161A"/>
                </a:solidFill>
                <a:latin typeface="Segoe UI"/>
              </a:rPr>
              <a:t>Kein Umbau. Kein Stillstand. Kein Risiko für das Tagesgeschäft.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>
              <a:gd name="adj" fmla="val 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7161A"/>
                </a:solidFill>
                <a:latin typeface="Georgia"/>
              </a:rPr>
              <a:t>Drei Modelle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77747C"/>
                </a:solidFill>
                <a:latin typeface="Segoe UI"/>
              </a:rPr>
              <a:t>Klein, mittel, gross. Jedes enthält das kleinere. Wechsel jederzeit möglich.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114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800">
                <a:solidFill>
                  <a:srgbClr val="17161A"/>
                </a:solidFill>
                <a:latin typeface="Georgia"/>
              </a:rPr>
              <a:t>FINELLI</a:t>
            </a:r>
            <a:r>
              <a:rPr sz="900">
                <a:solidFill>
                  <a:srgbClr val="A8271C"/>
                </a:solidFill>
              </a:rPr>
              <a:t> 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429000"/>
            <a:ext cx="3383280" cy="2468880"/>
          </a:xfrm>
          <a:prstGeom prst="roundRect">
            <a:avLst>
              <a:gd name="adj" fmla="val 3000"/>
            </a:avLst>
          </a:prstGeom>
          <a:solidFill>
            <a:srgbClr val="E4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657600"/>
            <a:ext cx="28346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77747C"/>
                </a:solidFill>
                <a:latin typeface="Segoe UI"/>
              </a:rPr>
              <a:t>KLEIN</a:t>
            </a:r>
          </a:p>
          <a:p>
            <a:pPr algn="l">
              <a:spcAft>
                <a:spcPts val="600"/>
              </a:spcAft>
            </a:pPr>
            <a:r>
              <a:rPr sz="2100" b="1">
                <a:solidFill>
                  <a:srgbClr val="17161A"/>
                </a:solidFill>
                <a:latin typeface="Georgia"/>
              </a:rPr>
              <a:t>Basic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17161A"/>
                </a:solidFill>
                <a:latin typeface="Segoe UI"/>
              </a:rPr>
              <a:t>CHF 1'250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77747C"/>
                </a:solidFill>
                <a:latin typeface="Segoe UI"/>
              </a:rPr>
              <a:t>pro Monat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77747C"/>
                </a:solidFill>
                <a:latin typeface="Segoe UI"/>
              </a:rPr>
              <a:t>Lager und Alltag im Griff.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971800"/>
            <a:ext cx="3383280" cy="2926080"/>
          </a:xfrm>
          <a:prstGeom prst="roundRect">
            <a:avLst>
              <a:gd name="adj" fmla="val 300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200400"/>
            <a:ext cx="28346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0C9C3"/>
                </a:solidFill>
                <a:latin typeface="Segoe UI"/>
              </a:rPr>
              <a:t>MITTEL</a:t>
            </a:r>
          </a:p>
          <a:p>
            <a:pPr algn="l"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Georgia"/>
              </a:rPr>
              <a:t>Premium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CHF 2'200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0C9C3"/>
                </a:solidFill>
                <a:latin typeface="Segoe UI"/>
              </a:rPr>
              <a:t>pro Monat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0C9C3"/>
                </a:solidFill>
                <a:latin typeface="Segoe UI"/>
              </a:rPr>
              <a:t>Dazu: dein Shop verkauft aktiv mit.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715768"/>
            <a:ext cx="1691640" cy="438912"/>
          </a:xfrm>
          <a:prstGeom prst="roundRect">
            <a:avLst>
              <a:gd name="adj" fmla="val 6000"/>
            </a:avLst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1691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Unser Vorschlag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514600"/>
            <a:ext cx="3383280" cy="3383280"/>
          </a:xfrm>
          <a:prstGeom prst="roundRect">
            <a:avLst>
              <a:gd name="adj" fmla="val 3000"/>
            </a:avLst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2440" y="2514600"/>
            <a:ext cx="3383280" cy="82296"/>
          </a:xfrm>
          <a:prstGeom prst="roundRect">
            <a:avLst>
              <a:gd name="adj" fmla="val 0"/>
            </a:avLst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743200"/>
            <a:ext cx="28346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7B4BD"/>
                </a:solidFill>
                <a:latin typeface="Segoe UI"/>
              </a:rPr>
              <a:t>GROSS</a:t>
            </a:r>
          </a:p>
          <a:p>
            <a:pPr algn="l">
              <a:spcAft>
                <a:spcPts val="600"/>
              </a:spcAft>
            </a:pPr>
            <a:r>
              <a:rPr sz="2100" b="1">
                <a:solidFill>
                  <a:srgbClr val="B08D57"/>
                </a:solidFill>
                <a:latin typeface="Georgia"/>
              </a:rPr>
              <a:t>Max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B08D57"/>
                </a:solidFill>
                <a:latin typeface="Segoe UI"/>
              </a:rPr>
              <a:t>CHF 5'000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B7B4BD"/>
                </a:solidFill>
                <a:latin typeface="Segoe UI"/>
              </a:rPr>
              <a:t>pro Monat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B7B4BD"/>
                </a:solidFill>
                <a:latin typeface="Segoe UI"/>
              </a:rPr>
              <a:t>Dazu: Marketing und Zahlen automatisch.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080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77747C"/>
                </a:solidFill>
                <a:latin typeface="Segoe UI"/>
              </a:rPr>
              <a:t>Preise gemäss Absprache. Details, Laufzeit und Garantien regelt der Vertrag.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>
              <a:gd name="adj" fmla="val 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7161A"/>
                </a:solidFill>
                <a:latin typeface="Georgia"/>
              </a:rPr>
              <a:t>Basic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77747C"/>
                </a:solidFill>
                <a:latin typeface="Segoe UI"/>
              </a:rPr>
              <a:t>CHF 1'250 pro Monat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114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800">
                <a:solidFill>
                  <a:srgbClr val="17161A"/>
                </a:solidFill>
                <a:latin typeface="Georgia"/>
              </a:rPr>
              <a:t>FINELLI</a:t>
            </a:r>
            <a:r>
              <a:rPr sz="900">
                <a:solidFill>
                  <a:srgbClr val="A8271C"/>
                </a:solidFill>
              </a:rPr>
              <a:t> 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8271C"/>
                </a:solidFill>
                <a:latin typeface="Segoe UI"/>
              </a:rPr>
              <a:t>Wochen-Report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85623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7161A"/>
                </a:solidFill>
                <a:latin typeface="Segoe UI"/>
              </a:rPr>
              <a:t>Jeden Montag eine Seite:</a:t>
            </a:r>
            <a:r>
              <a:rPr sz="1350" b="0">
                <a:solidFill>
                  <a:srgbClr val="17161A"/>
                </a:solidFill>
                <a:latin typeface="Segoe UI"/>
              </a:rPr>
              <a:t> was lief, was knapp ist, was kommt.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8271C"/>
                </a:solidFill>
                <a:latin typeface="Segoe UI"/>
              </a:rPr>
              <a:t>Bestell-Alarm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72491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7161A"/>
                </a:solidFill>
                <a:latin typeface="Segoe UI"/>
              </a:rPr>
              <a:t>Meldet sich, bevor ein Artikel ausgeht.</a:t>
            </a:r>
            <a:r>
              <a:rPr sz="1350" b="0">
                <a:solidFill>
                  <a:srgbClr val="17161A"/>
                </a:solidFill>
                <a:latin typeface="Segoe UI"/>
              </a:rPr>
              <a:t> Mit Mengen-Vorschlag.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2044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2044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8271C"/>
                </a:solidFill>
                <a:latin typeface="Segoe UI"/>
              </a:rPr>
              <a:t>Lager-Automatik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359359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7161A"/>
                </a:solidFill>
                <a:latin typeface="Segoe UI"/>
              </a:rPr>
              <a:t>Beide Standorte immer aktuell.</a:t>
            </a:r>
            <a:r>
              <a:rPr sz="1350" b="0">
                <a:solidFill>
                  <a:srgbClr val="17161A"/>
                </a:solidFill>
                <a:latin typeface="Segoe UI"/>
              </a:rPr>
              <a:t> Umlagern in zwei Klicks.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8912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8912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8271C"/>
                </a:solidFill>
                <a:latin typeface="Segoe UI"/>
              </a:rPr>
              <a:t>Verpackungs-Software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446227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7161A"/>
                </a:solidFill>
                <a:latin typeface="Segoe UI"/>
              </a:rPr>
              <a:t>Pickzettel mit Laufweg.</a:t>
            </a:r>
            <a:r>
              <a:rPr sz="1350" b="0">
                <a:solidFill>
                  <a:srgbClr val="17161A"/>
                </a:solidFill>
                <a:latin typeface="Segoe UI"/>
              </a:rPr>
              <a:t> Post-Etikette automatisch.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5780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5780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8271C"/>
                </a:solidFill>
                <a:latin typeface="Segoe UI"/>
              </a:rPr>
              <a:t>Kassenabrechnung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533095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7161A"/>
                </a:solidFill>
                <a:latin typeface="Segoe UI"/>
              </a:rPr>
              <a:t>Tagesabschluss automatisch.</a:t>
            </a:r>
            <a:r>
              <a:rPr sz="1350" b="0">
                <a:solidFill>
                  <a:srgbClr val="17161A"/>
                </a:solidFill>
                <a:latin typeface="Segoe UI"/>
              </a:rPr>
              <a:t> Kein Nachtragen von Hand.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>
              <a:gd name="adj" fmla="val 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7161A"/>
                </a:solidFill>
                <a:latin typeface="Georgia"/>
              </a:rPr>
              <a:t>Premium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77747C"/>
                </a:solidFill>
                <a:latin typeface="Segoe UI"/>
              </a:rPr>
              <a:t>CHF 2'200 pro Monat   ·   alles aus Basic, plus: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114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800">
                <a:solidFill>
                  <a:srgbClr val="17161A"/>
                </a:solidFill>
                <a:latin typeface="Georgia"/>
              </a:rPr>
              <a:t>FINELLI</a:t>
            </a:r>
            <a:r>
              <a:rPr sz="900">
                <a:solidFill>
                  <a:srgbClr val="A8271C"/>
                </a:solidFill>
              </a:rPr>
              <a:t> 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8271C"/>
                </a:solidFill>
                <a:latin typeface="Segoe UI"/>
              </a:rPr>
              <a:t>Shop-Regal-Zahlen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85623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7161A"/>
                </a:solidFill>
                <a:latin typeface="Segoe UI"/>
              </a:rPr>
              <a:t>Was verkauft und was liegen bleibt.</a:t>
            </a:r>
            <a:r>
              <a:rPr sz="1350" b="0">
                <a:solidFill>
                  <a:srgbClr val="17161A"/>
                </a:solidFill>
                <a:latin typeface="Segoe UI"/>
              </a:rPr>
              <a:t> Pro Produkt, pro Regal.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8271C"/>
                </a:solidFill>
                <a:latin typeface="Segoe UI"/>
              </a:rPr>
              <a:t>Alter/Region-Zahlen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72491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7161A"/>
                </a:solidFill>
                <a:latin typeface="Segoe UI"/>
              </a:rPr>
              <a:t>Wer bei dir kauft:</a:t>
            </a:r>
            <a:r>
              <a:rPr sz="1350" b="0">
                <a:solidFill>
                  <a:srgbClr val="17161A"/>
                </a:solidFill>
                <a:latin typeface="Segoe UI"/>
              </a:rPr>
              <a:t> Alter und Region auf einen Blick.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2044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2044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8271C"/>
                </a:solidFill>
                <a:latin typeface="Segoe UI"/>
              </a:rPr>
              <a:t>Website-Auto-Verwaltung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359359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7161A"/>
                </a:solidFill>
                <a:latin typeface="Segoe UI"/>
              </a:rPr>
              <a:t>Produkte und Texte pflegen sich selbst.</a:t>
            </a:r>
            <a:r>
              <a:rPr sz="1350" b="0">
                <a:solidFill>
                  <a:srgbClr val="17161A"/>
                </a:solidFill>
                <a:latin typeface="Segoe UI"/>
              </a:rPr>
              <a:t> Du gibst frei.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8912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8912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8271C"/>
                </a:solidFill>
                <a:latin typeface="Segoe UI"/>
              </a:rPr>
              <a:t>Persönlicher Shop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446227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7161A"/>
                </a:solidFill>
                <a:latin typeface="Segoe UI"/>
              </a:rPr>
              <a:t>Jeder Besucher sieht zuerst,</a:t>
            </a:r>
            <a:r>
              <a:rPr sz="1350" b="0">
                <a:solidFill>
                  <a:srgbClr val="17161A"/>
                </a:solidFill>
                <a:latin typeface="Segoe UI"/>
              </a:rPr>
              <a:t> was ihn am ehesten interessiert.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5780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5780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8271C"/>
                </a:solidFill>
                <a:latin typeface="Segoe UI"/>
              </a:rPr>
              <a:t>Website-Avatar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533095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7161A"/>
                </a:solidFill>
                <a:latin typeface="Segoe UI"/>
              </a:rPr>
              <a:t>Digitaler Berater</a:t>
            </a:r>
            <a:r>
              <a:rPr sz="1350" b="0">
                <a:solidFill>
                  <a:srgbClr val="17161A"/>
                </a:solidFill>
                <a:latin typeface="Segoe UI"/>
              </a:rPr>
              <a:t> beantwortet Kundenfragen. Rund um die Uhr.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>
              <a:gd name="adj" fmla="val 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7161A"/>
                </a:solidFill>
                <a:latin typeface="Georgia"/>
              </a:rPr>
              <a:t>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77747C"/>
                </a:solidFill>
                <a:latin typeface="Segoe UI"/>
              </a:rPr>
              <a:t>CHF 5'000 pro Monat   ·   alles aus Premium, plus: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114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800">
                <a:solidFill>
                  <a:srgbClr val="17161A"/>
                </a:solidFill>
                <a:latin typeface="Georgia"/>
              </a:rPr>
              <a:t>FINELLI</a:t>
            </a:r>
            <a:r>
              <a:rPr sz="900">
                <a:solidFill>
                  <a:srgbClr val="A8271C"/>
                </a:solidFill>
              </a:rPr>
              <a:t> 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8271C"/>
                </a:solidFill>
                <a:latin typeface="Segoe UI"/>
              </a:rPr>
              <a:t>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85623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7161A"/>
                </a:solidFill>
                <a:latin typeface="Segoe UI"/>
              </a:rPr>
              <a:t>Was in Streetwear zieht.</a:t>
            </a:r>
            <a:r>
              <a:rPr sz="1350" b="0">
                <a:solidFill>
                  <a:srgbClr val="17161A"/>
                </a:solidFill>
                <a:latin typeface="Segoe UI"/>
              </a:rPr>
              <a:t> Woche für Woche aufbereitet.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8271C"/>
                </a:solidFill>
                <a:latin typeface="Segoe UI"/>
              </a:rPr>
              <a:t>Custom Planer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72491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7161A"/>
                </a:solidFill>
                <a:latin typeface="Segoe UI"/>
              </a:rPr>
              <a:t>Planung für Drops und Saison.</a:t>
            </a:r>
            <a:r>
              <a:rPr sz="1350" b="0">
                <a:solidFill>
                  <a:srgbClr val="17161A"/>
                </a:solidFill>
                <a:latin typeface="Segoe UI"/>
              </a:rPr>
              <a:t> Auf deine Marke zugeschnitten.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2044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2044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8271C"/>
                </a:solidFill>
                <a:latin typeface="Segoe UI"/>
              </a:rPr>
              <a:t>Ads-Schalter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359359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7161A"/>
                </a:solidFill>
                <a:latin typeface="Segoe UI"/>
              </a:rPr>
              <a:t>Werbung mit klarem Kostenblick.</a:t>
            </a:r>
            <a:r>
              <a:rPr sz="1350" b="0">
                <a:solidFill>
                  <a:srgbClr val="17161A"/>
                </a:solidFill>
                <a:latin typeface="Segoe UI"/>
              </a:rPr>
              <a:t> Ein und aus per Klick.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8912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8912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8271C"/>
                </a:solidFill>
                <a:latin typeface="Segoe UI"/>
              </a:rPr>
              <a:t>Marketing automatisiert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446227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7161A"/>
                </a:solidFill>
                <a:latin typeface="Segoe UI"/>
              </a:rPr>
              <a:t>Newsletter und Posts als Entwurf.</a:t>
            </a:r>
            <a:r>
              <a:rPr sz="1350" b="0">
                <a:solidFill>
                  <a:srgbClr val="17161A"/>
                </a:solidFill>
                <a:latin typeface="Segoe UI"/>
              </a:rPr>
              <a:t> Du gibst frei.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5780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5780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8271C"/>
                </a:solidFill>
                <a:latin typeface="Segoe UI"/>
              </a:rPr>
              <a:t>Treuhand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533095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7161A"/>
                </a:solidFill>
                <a:latin typeface="Segoe UI"/>
              </a:rPr>
              <a:t>Zahlen fertig für den Treuhänder.</a:t>
            </a:r>
            <a:r>
              <a:rPr sz="1350" b="0">
                <a:solidFill>
                  <a:srgbClr val="17161A"/>
                </a:solidFill>
                <a:latin typeface="Segoe UI"/>
              </a:rPr>
              <a:t> Weniger Honorarstunden.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>
              <a:gd name="adj" fmla="val 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7161A"/>
                </a:solidFill>
                <a:latin typeface="Georgia"/>
              </a:rPr>
              <a:t>Wer macht was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77747C"/>
                </a:solidFill>
                <a:latin typeface="Segoe UI"/>
              </a:rPr>
              <a:t>Für dich als Chef: fast nichts.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114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800">
                <a:solidFill>
                  <a:srgbClr val="17161A"/>
                </a:solidFill>
                <a:latin typeface="Georgia"/>
              </a:rPr>
              <a:t>FINELLI</a:t>
            </a:r>
            <a:r>
              <a:rPr sz="900">
                <a:solidFill>
                  <a:srgbClr val="A8271C"/>
                </a:solidFill>
              </a:rPr>
              <a:t> 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30175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A8271C"/>
                </a:solidFill>
                <a:latin typeface="Segoe UI"/>
              </a:rPr>
              <a:t>WIR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7161A"/>
                </a:solidFill>
                <a:latin typeface="Segoe UI"/>
              </a:rPr>
              <a:t>Einrichten, verbinden, schulen, betreuen. </a:t>
            </a:r>
            <a:r>
              <a:rPr sz="1500" b="1">
                <a:solidFill>
                  <a:srgbClr val="17161A"/>
                </a:solidFill>
                <a:latin typeface="Segoe UI"/>
              </a:rPr>
              <a:t>Monat für Monat.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192024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2584" y="2240280"/>
            <a:ext cx="30175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A8271C"/>
                </a:solidFill>
                <a:latin typeface="Segoe UI"/>
              </a:rPr>
              <a:t>DEIN TEAM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7161A"/>
                </a:solidFill>
                <a:latin typeface="Segoe UI"/>
              </a:rPr>
              <a:t>Einmal sauber zählen. </a:t>
            </a:r>
            <a:r>
              <a:rPr sz="1500" b="1">
                <a:solidFill>
                  <a:srgbClr val="17161A"/>
                </a:solidFill>
                <a:latin typeface="Segoe UI"/>
              </a:rPr>
              <a:t>Danach: scannen statt suchen.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47888" y="192024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22208" y="2240280"/>
            <a:ext cx="30175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A8271C"/>
                </a:solidFill>
                <a:latin typeface="Segoe UI"/>
              </a:rPr>
              <a:t>DU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7161A"/>
                </a:solidFill>
                <a:latin typeface="Segoe UI"/>
              </a:rPr>
              <a:t>Entscheiden. Sonst nichts.</a:t>
            </a:r>
            <a:r>
              <a:rPr sz="1500" b="0">
                <a:solidFill>
                  <a:srgbClr val="17161A"/>
                </a:solidFill>
                <a:latin typeface="Segoe UI"/>
              </a:rPr>
              <a:t> Jeder KI-Vorschlag wartet auf dein Ja.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7161A"/>
                </a:solidFill>
                <a:latin typeface="Segoe UI"/>
              </a:rPr>
              <a:t>Keine KI bucht deinen Bestand. Jede Buchung macht ein Mensch.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>
              <a:gd name="adj" fmla="val 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Du entscheidest.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072384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3017520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D8D6DC"/>
                </a:solidFill>
                <a:latin typeface="Segoe UI"/>
              </a:rPr>
              <a:t>Die Vorschau läuft. </a:t>
            </a:r>
            <a:r>
              <a:rPr sz="1700" b="1">
                <a:solidFill>
                  <a:srgbClr val="D8D6DC"/>
                </a:solidFill>
                <a:latin typeface="Segoe UI"/>
              </a:rPr>
              <a:t>Du hast sie selbst geklickt.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849624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794760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D8D6DC"/>
                </a:solidFill>
                <a:latin typeface="Segoe UI"/>
              </a:rPr>
              <a:t>Modell wählen, starten, </a:t>
            </a:r>
            <a:r>
              <a:rPr sz="1700" b="1">
                <a:solidFill>
                  <a:srgbClr val="D8D6DC"/>
                </a:solidFill>
                <a:latin typeface="Segoe UI"/>
              </a:rPr>
              <a:t>jederzeit hochwechseln.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626864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A82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4572000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D8D6DC"/>
                </a:solidFill>
                <a:latin typeface="Segoe UI"/>
              </a:rPr>
              <a:t>Jetzt: </a:t>
            </a:r>
            <a:r>
              <a:rPr sz="1700" b="1">
                <a:solidFill>
                  <a:srgbClr val="D8D6DC"/>
                </a:solidFill>
                <a:latin typeface="Segoe UI"/>
              </a:rPr>
              <a:t>deine Fragen.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852160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97A0"/>
                </a:solidFill>
                <a:latin typeface="Segoe UI"/>
              </a:rPr>
              <a:t>Finelli Studios AG · Vor-Ort-Termin · 22. Juli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