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914400" y="1874519"/>
            <a:ext cx="13716000" cy="265176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710"/>
              </a:gs>
              <a:gs pos="100000">
                <a:srgbClr val="4C1D95"/>
              </a:gs>
            </a:gsLst>
            <a:lin ang="20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676656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C1D95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 b="1">
                <a:solidFill>
                  <a:srgbClr val="F4F0FB"/>
                </a:solidFill>
                <a:latin typeface="Segoe UI Semibold"/>
              </a:rPr>
              <a:t>FINELLI</a:t>
            </a:r>
            <a:r>
              <a:rPr sz="32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3429000"/>
            <a:ext cx="1280160" cy="45720"/>
          </a:xfrm>
          <a:prstGeom prst="roundRect">
            <a:avLst>
              <a:gd name="adj" fmla="val 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BB92FF"/>
                </a:solidFill>
                <a:latin typeface="Segoe UI Light"/>
              </a:rPr>
              <a:t>Dein Lager. Dein Shop. Ein Cockpit.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8521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Bahnschrift"/>
              </a:rPr>
              <a:t>Finelli Studios AG · Vor-Ort-Termin   ·   22. Juli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40"/>
                            </p:stCondLst>
                            <p:childTnLst>
                              <p:par>
                                <p:cTn id="23" presetID="3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620"/>
                            </p:stCondLst>
                            <p:childTnLst>
                              <p:par>
                                <p:cTn id="32" presetID="3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40"/>
                            </p:stCondLst>
                            <p:childTnLst>
                              <p:par>
                                <p:cTn id="41" presetID="3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900"/>
                            </p:stCondLst>
                            <p:childTnLst>
                              <p:par>
                                <p:cTn id="50" presetID="3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 animBg="1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Wo du heute stehst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Drei Situationen aus deinem Alltag. Keine davon ist deine Schuld.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FINELLI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73152" cy="22860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3035808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B92FF"/>
                </a:solidFill>
                <a:latin typeface="Segoe UI Semibold"/>
              </a:rPr>
              <a:t>Der Verkauf, der platzt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4F0FB"/>
                </a:solidFill>
                <a:latin typeface="Segoe UI"/>
              </a:rPr>
              <a:t>Online verkauft, im Regal leer. Du musst absagen und </a:t>
            </a:r>
            <a:r>
              <a:rPr sz="1300" b="1">
                <a:solidFill>
                  <a:srgbClr val="F4F0FB"/>
                </a:solidFill>
                <a:latin typeface="Segoe UI"/>
              </a:rPr>
              <a:t>verlierst den Kunden.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645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98264" y="1645920"/>
            <a:ext cx="73152" cy="22860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4" y="1874519"/>
            <a:ext cx="3035808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B92FF"/>
                </a:solidFill>
                <a:latin typeface="Segoe UI Semibold"/>
              </a:rPr>
              <a:t>Die Standort-Frage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4F0FB"/>
                </a:solidFill>
                <a:latin typeface="Segoe UI"/>
              </a:rPr>
              <a:t>Grösse M in Zürich ausverkauft. Ob Embrach noch eine hat, </a:t>
            </a:r>
            <a:r>
              <a:rPr sz="1300" b="1">
                <a:solidFill>
                  <a:srgbClr val="F4F0FB"/>
                </a:solidFill>
                <a:latin typeface="Segoe UI"/>
              </a:rPr>
              <a:t>sieht heute niemand.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64592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47888" y="1645920"/>
            <a:ext cx="73152" cy="22860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22208" y="1874519"/>
            <a:ext cx="3035808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B92FF"/>
                </a:solidFill>
                <a:latin typeface="Segoe UI Semibold"/>
              </a:rPr>
              <a:t>Die Kasse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4F0FB"/>
                </a:solidFill>
                <a:latin typeface="Segoe UI"/>
              </a:rPr>
              <a:t>Ladenverkäufe werden von Hand im Onlineshop nachgetragen. </a:t>
            </a:r>
            <a:r>
              <a:rPr sz="1300" b="1">
                <a:solidFill>
                  <a:srgbClr val="F4F0FB"/>
                </a:solidFill>
                <a:latin typeface="Segoe UI"/>
              </a:rPr>
              <a:t>Das kostet Zeit und stimmt oft nicht.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11091672" cy="19202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A1027"/>
              </a:gs>
              <a:gs pos="100000">
                <a:srgbClr val="4C1D95"/>
              </a:gs>
            </a:gsLst>
            <a:lin ang="19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BB92FF"/>
                </a:solidFill>
                <a:latin typeface="Bahnschrift"/>
              </a:rPr>
              <a:t>AB SOFORT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029200"/>
            <a:ext cx="82296" cy="685800"/>
          </a:xfrm>
          <a:prstGeom prst="roundRect">
            <a:avLst>
              <a:gd name="adj" fmla="val 5000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5029200"/>
            <a:ext cx="3154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Der Bestand stimmt. Jeder Verkauf hält.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5029200"/>
            <a:ext cx="82296" cy="685800"/>
          </a:xfrm>
          <a:prstGeom prst="roundRect">
            <a:avLst>
              <a:gd name="adj" fmla="val 5000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5029200"/>
            <a:ext cx="3154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Beide Standorte auf einen Blick.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5029200"/>
            <a:ext cx="82296" cy="685800"/>
          </a:xfrm>
          <a:prstGeom prst="roundRect">
            <a:avLst>
              <a:gd name="adj" fmla="val 5000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5029200"/>
            <a:ext cx="3154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Die Kasse rechnet sich selbst ab.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Drei Zusagen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Bevor wir über Modelle reden.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FINELLI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2103120"/>
            <a:ext cx="548640" cy="54864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15798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80360"/>
            <a:ext cx="3054096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F0FB"/>
                </a:solidFill>
                <a:latin typeface="Segoe UI Light"/>
              </a:rPr>
              <a:t>Kein Unterbruch.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Segoe UI"/>
              </a:rPr>
              <a:t>Die Einführung läuft im Hintergrund. Laden und Onlineshop verkaufen jeden Tag normal weiter.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8288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54296" y="2103120"/>
            <a:ext cx="548640" cy="54864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4296" y="215798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880360"/>
            <a:ext cx="3054096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F0FB"/>
                </a:solidFill>
                <a:latin typeface="Segoe UI Light"/>
              </a:rPr>
              <a:t>Jede Buchung macht ein Mensch.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Segoe UI"/>
              </a:rPr>
              <a:t>Die KI schlägt vor und rechnet. Entscheiden tust du.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82880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503920" y="2103120"/>
            <a:ext cx="548640" cy="54864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15798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880360"/>
            <a:ext cx="3054096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F0FB"/>
                </a:solidFill>
                <a:latin typeface="Segoe UI Light"/>
              </a:rPr>
              <a:t>Ein Preis. Alles drin.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Segoe UI"/>
              </a:rPr>
              <a:t>Keine Extra-Abos. Einrichtung, Schulung und Betreuung sind inklusive.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Acht Abteilungen. Oder ein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So läuft dieselbe Arbeit in einer klassischen Firma.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FINELLI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BB92FF"/>
                </a:solidFill>
                <a:latin typeface="Bahnschrift"/>
              </a:rPr>
              <a:t>KLASSISCH BRAUCHT DAS EIGENE ABTEILUNGEN UND VIELE LEUTE: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E93B5"/>
                </a:solidFill>
                <a:latin typeface="Segoe UI"/>
              </a:rPr>
              <a:t>Produkt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10312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210312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E93B5"/>
                </a:solidFill>
                <a:latin typeface="Segoe UI"/>
              </a:rPr>
              <a:t>Marketing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44952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044952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E93B5"/>
                </a:solidFill>
                <a:latin typeface="Segoe UI"/>
              </a:rPr>
              <a:t>Verkauf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3044952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0" y="3044952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E93B5"/>
                </a:solidFill>
                <a:latin typeface="Segoe UI"/>
              </a:rPr>
              <a:t>Kundendienst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86784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986784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E93B5"/>
                </a:solidFill>
                <a:latin typeface="Segoe UI"/>
              </a:rPr>
              <a:t>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3986784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08960" y="3986784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E93B5"/>
                </a:solidFill>
                <a:latin typeface="Segoe UI"/>
              </a:rPr>
              <a:t>Personal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28616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928616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E93B5"/>
                </a:solidFill>
                <a:latin typeface="Segoe UI"/>
              </a:rPr>
              <a:t>Finanzen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4928616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08960" y="4928616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9E93B5"/>
                </a:solidFill>
                <a:latin typeface="Segoe UI"/>
              </a:rPr>
              <a:t>Einkauf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806440" y="3657600"/>
            <a:ext cx="914400" cy="640080"/>
          </a:xfrm>
          <a:prstGeom prst="rightArrow">
            <a:avLst/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040880" y="2103120"/>
            <a:ext cx="4599432" cy="363931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8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06640" y="2606040"/>
            <a:ext cx="38404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 Light"/>
              </a:rPr>
              <a:t>Bei dir: ein System.</a:t>
            </a:r>
          </a:p>
          <a:p>
            <a:pPr algn="l">
              <a:spcAft>
                <a:spcPts val="600"/>
              </a:spcAft>
            </a:pPr>
            <a:endParaRPr sz="2500" b="1">
              <a:solidFill>
                <a:srgbClr val="FFFFFF"/>
              </a:solidFill>
              <a:latin typeface="Segoe UI Light"/>
            </a:endParaRPr>
          </a:p>
          <a:p>
            <a:pPr algn="l">
              <a:spcAft>
                <a:spcPts val="600"/>
              </a:spcAft>
            </a:pPr>
            <a:r>
              <a:rPr sz="1450" b="0">
                <a:solidFill>
                  <a:srgbClr val="EADFFB"/>
                </a:solidFill>
                <a:latin typeface="Segoe UI"/>
              </a:rPr>
              <a:t>Das Cockpit übernimmt die Verwaltungsarbeit dieser Abteilungen. </a:t>
            </a:r>
            <a:r>
              <a:rPr sz="1450" b="1">
                <a:solidFill>
                  <a:srgbClr val="EADFFB"/>
                </a:solidFill>
                <a:latin typeface="Segoe UI"/>
              </a:rPr>
              <a:t>Du führst die Marke. Dein Team verkauft.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E93B5"/>
                </a:solidFill>
                <a:latin typeface="Segoe UI"/>
              </a:rPr>
              <a:t>Kein Stellenabbau bei dir: Es geht um Arbeit, die heute liegen bleibt oder dich Abende kostet.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So arbeitet es zusammen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Ein Operating System verbindet deine Systeme mit deinen Menschen.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FINELLI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BB92FF"/>
                </a:solidFill>
                <a:latin typeface="Bahnschrift"/>
              </a:rPr>
              <a:t>DEINE SYSTEME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743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4F0FB"/>
                </a:solidFill>
                <a:latin typeface="Segoe UI"/>
              </a:rPr>
              <a:t>Onlineshop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2743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4F0FB"/>
                </a:solidFill>
                <a:latin typeface="Segoe UI"/>
              </a:rPr>
              <a:t>Ladenkasse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2743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4F0FB"/>
                </a:solidFill>
                <a:latin typeface="Segoe UI"/>
              </a:rPr>
              <a:t>Website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800600"/>
            <a:ext cx="2743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4F0FB"/>
                </a:solidFill>
                <a:latin typeface="Segoe UI"/>
              </a:rPr>
              <a:t>Post / Versand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520440" y="3401568"/>
            <a:ext cx="777240" cy="457200"/>
          </a:xfrm>
          <a:prstGeom prst="rightArrow">
            <a:avLst/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26280" y="2468880"/>
            <a:ext cx="3200400" cy="237744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83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143500" y="2674620"/>
            <a:ext cx="1965960" cy="1965960"/>
          </a:xfrm>
          <a:prstGeom prst="ellipse">
            <a:avLst/>
          </a:prstGeom>
          <a:noFill/>
          <a:ln w="15875">
            <a:solidFill>
              <a:srgbClr val="C9A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306324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OPERATING SYSTEM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EADFFB"/>
                </a:solidFill>
                <a:latin typeface="Segoe UI"/>
              </a:rPr>
              <a:t>das Finelli Cockpit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55279" y="3401568"/>
            <a:ext cx="777240" cy="457200"/>
          </a:xfrm>
          <a:prstGeom prst="rightArrow">
            <a:avLst/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0" y="1737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BB92FF"/>
                </a:solidFill>
                <a:latin typeface="Bahnschrift"/>
              </a:rPr>
              <a:t>DEINE MENSCHEN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19456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8280" y="235915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Du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E93B5"/>
                </a:solidFill>
                <a:latin typeface="Segoe UI"/>
              </a:rPr>
              <a:t>entscheidest und gibst frei.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361188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98280" y="377647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Dein Team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E93B5"/>
                </a:solidFill>
                <a:latin typeface="Segoe UI"/>
              </a:rPr>
              <a:t>scannt und verkauft.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4F0FB"/>
                </a:solidFill>
                <a:latin typeface="Segoe UI"/>
              </a:rPr>
              <a:t>Wir richten dieses System bei dir ein und betreuen es. Monat für Monat.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Die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Ein Blick genügt.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FINELLI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737360"/>
            <a:ext cx="2651760" cy="4572000"/>
          </a:xfrm>
          <a:prstGeom prst="roundRect">
            <a:avLst>
              <a:gd name="adj" fmla="val 11000"/>
            </a:avLst>
          </a:prstGeom>
          <a:solidFill>
            <a:srgbClr val="0A0710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98448" y="1847088"/>
            <a:ext cx="2432304" cy="4352544"/>
          </a:xfrm>
          <a:prstGeom prst="roundRect">
            <a:avLst>
              <a:gd name="adj" fmla="val 9000"/>
            </a:avLst>
          </a:prstGeom>
          <a:solidFill>
            <a:srgbClr val="1A1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26464" y="1920240"/>
            <a:ext cx="217627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4F0FB"/>
                </a:solidFill>
                <a:latin typeface="Segoe UI Semibold"/>
              </a:rPr>
              <a:t>FINELLI 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6464" y="2286000"/>
            <a:ext cx="688848" cy="676656"/>
          </a:xfrm>
          <a:prstGeom prst="roundRect">
            <a:avLst>
              <a:gd name="adj" fmla="val 6000"/>
            </a:avLst>
          </a:prstGeom>
          <a:solidFill>
            <a:srgbClr val="251636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426464" y="2286000"/>
            <a:ext cx="688848" cy="54864"/>
          </a:xfrm>
          <a:prstGeom prst="roundRect">
            <a:avLst>
              <a:gd name="adj" fmla="val 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26464" y="2359152"/>
            <a:ext cx="688848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2DD4BF"/>
                </a:solidFill>
                <a:latin typeface="Segoe UI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2706624"/>
            <a:ext cx="68884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b="0">
                <a:solidFill>
                  <a:srgbClr val="9E93B5"/>
                </a:solidFill>
                <a:latin typeface="Segoe UI"/>
              </a:rPr>
              <a:t>gut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70176" y="2286000"/>
            <a:ext cx="688848" cy="676656"/>
          </a:xfrm>
          <a:prstGeom prst="roundRect">
            <a:avLst>
              <a:gd name="adj" fmla="val 6000"/>
            </a:avLst>
          </a:prstGeom>
          <a:solidFill>
            <a:srgbClr val="251636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170176" y="2286000"/>
            <a:ext cx="688848" cy="54864"/>
          </a:xfrm>
          <a:prstGeom prst="roundRect">
            <a:avLst>
              <a:gd name="adj" fmla="val 0"/>
            </a:avLst>
          </a:prstGeom>
          <a:solidFill>
            <a:srgbClr val="F5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70176" y="2359152"/>
            <a:ext cx="688848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F5B33D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0176" y="2706624"/>
            <a:ext cx="68884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b="0">
                <a:solidFill>
                  <a:srgbClr val="9E93B5"/>
                </a:solidFill>
                <a:latin typeface="Segoe UI"/>
              </a:rPr>
              <a:t>knapp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13888" y="2286000"/>
            <a:ext cx="688848" cy="676656"/>
          </a:xfrm>
          <a:prstGeom prst="roundRect">
            <a:avLst>
              <a:gd name="adj" fmla="val 6000"/>
            </a:avLst>
          </a:prstGeom>
          <a:solidFill>
            <a:srgbClr val="251636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913888" y="2286000"/>
            <a:ext cx="688848" cy="54864"/>
          </a:xfrm>
          <a:prstGeom prst="roundRect">
            <a:avLst>
              <a:gd name="adj" fmla="val 0"/>
            </a:avLst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13888" y="2359152"/>
            <a:ext cx="688848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D946EF"/>
                </a:solidFill>
                <a:latin typeface="Segoe UI Semibold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13888" y="2706624"/>
            <a:ext cx="68884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b="0">
                <a:solidFill>
                  <a:srgbClr val="9E93B5"/>
                </a:solidFill>
                <a:latin typeface="Segoe UI"/>
              </a:rPr>
              <a:t>leer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26464" y="3108960"/>
            <a:ext cx="2176272" cy="777240"/>
          </a:xfrm>
          <a:prstGeom prst="roundRect">
            <a:avLst>
              <a:gd name="adj" fmla="val 6000"/>
            </a:avLst>
          </a:prstGeom>
          <a:solidFill>
            <a:srgbClr val="251636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17904" y="3163824"/>
            <a:ext cx="199339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4F0FB"/>
                </a:solidFill>
                <a:latin typeface="Segoe UI"/>
              </a:rPr>
              <a:t>Heute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7904" y="3419856"/>
            <a:ext cx="1993392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4F0FB"/>
                </a:solidFill>
                <a:latin typeface="Segoe UI"/>
              </a:rPr>
              <a:t>14</a:t>
            </a:r>
            <a:r>
              <a:rPr sz="900" b="0">
                <a:solidFill>
                  <a:srgbClr val="F4F0FB"/>
                </a:solidFill>
                <a:latin typeface="Segoe UI"/>
              </a:rPr>
              <a:t> Verkäufe   ·   </a:t>
            </a:r>
            <a:r>
              <a:rPr sz="900" b="1">
                <a:solidFill>
                  <a:srgbClr val="F4F0FB"/>
                </a:solidFill>
                <a:latin typeface="Segoe UI"/>
              </a:rPr>
              <a:t>3</a:t>
            </a:r>
            <a:r>
              <a:rPr sz="900" b="0">
                <a:solidFill>
                  <a:srgbClr val="F4F0FB"/>
                </a:solidFill>
                <a:latin typeface="Segoe UI"/>
              </a:rPr>
              <a:t> Bestellungen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6464" y="4023360"/>
            <a:ext cx="2176272" cy="1371600"/>
          </a:xfrm>
          <a:prstGeom prst="roundRect">
            <a:avLst>
              <a:gd name="adj" fmla="val 6000"/>
            </a:avLst>
          </a:prstGeom>
          <a:solidFill>
            <a:srgbClr val="251636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17904" y="4078224"/>
            <a:ext cx="199339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BB92FF"/>
                </a:solidFill>
                <a:latin typeface="Segoe UI"/>
              </a:rPr>
              <a:t>KI-Vorschlag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7904" y="4352544"/>
            <a:ext cx="1993392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F4F0FB"/>
                </a:solidFill>
                <a:latin typeface="Segoe UI"/>
              </a:rPr>
              <a:t>Hoodie M in Zürich leer. 12 nachbestellen?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17904" y="4956048"/>
            <a:ext cx="950976" cy="329184"/>
          </a:xfrm>
          <a:prstGeom prst="roundRect">
            <a:avLst>
              <a:gd name="adj" fmla="val 28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17904" y="4956048"/>
            <a:ext cx="950976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Übernehmen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4956048"/>
            <a:ext cx="950976" cy="329184"/>
          </a:xfrm>
          <a:prstGeom prst="roundRect">
            <a:avLst>
              <a:gd name="adj" fmla="val 28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60320" y="4956048"/>
            <a:ext cx="950976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0">
                <a:solidFill>
                  <a:srgbClr val="9E93B5"/>
                </a:solidFill>
                <a:latin typeface="Segoe UI"/>
              </a:rPr>
              <a:t>Ablehnen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219456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20640" y="219456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Ampeln zeigen den Bestand.</a:t>
            </a:r>
            <a:r>
              <a:rPr sz="1600" b="0">
                <a:solidFill>
                  <a:srgbClr val="F4F0FB"/>
                </a:solidFill>
                <a:latin typeface="Segoe UI"/>
              </a:rPr>
              <a:t> Grün gut, gelb knapp, violett leer.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342900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20640" y="342900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Heute-Zahlen live</a:t>
            </a:r>
            <a:r>
              <a:rPr sz="1600" b="0">
                <a:solidFill>
                  <a:srgbClr val="F4F0FB"/>
                </a:solidFill>
                <a:latin typeface="Segoe UI"/>
              </a:rPr>
              <a:t> aus deinem Shop.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0" y="466344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20640" y="466344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KI-Vorschlag:</a:t>
            </a:r>
            <a:r>
              <a:rPr sz="1600" b="0">
                <a:solidFill>
                  <a:srgbClr val="F4F0FB"/>
                </a:solidFill>
                <a:latin typeface="Segoe UI"/>
              </a:rPr>
              <a:t> übernehmen oder ablehnen. Du entscheidest.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Der Wareneingang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Karton auf, Handy dran, fertig.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FINELLI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737360"/>
            <a:ext cx="2651760" cy="4572000"/>
          </a:xfrm>
          <a:prstGeom prst="roundRect">
            <a:avLst>
              <a:gd name="adj" fmla="val 11000"/>
            </a:avLst>
          </a:prstGeom>
          <a:solidFill>
            <a:srgbClr val="0A0710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98448" y="1847088"/>
            <a:ext cx="2432304" cy="4352544"/>
          </a:xfrm>
          <a:prstGeom prst="roundRect">
            <a:avLst>
              <a:gd name="adj" fmla="val 9000"/>
            </a:avLst>
          </a:prstGeom>
          <a:solidFill>
            <a:srgbClr val="1A1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26464" y="1920240"/>
            <a:ext cx="217627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4F0FB"/>
                </a:solidFill>
                <a:latin typeface="Segoe UI Semibold"/>
              </a:rPr>
              <a:t>FINELLI 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6464" y="2286000"/>
            <a:ext cx="2176272" cy="457200"/>
          </a:xfrm>
          <a:prstGeom prst="roundRect">
            <a:avLst>
              <a:gd name="adj" fmla="val 6000"/>
            </a:avLst>
          </a:prstGeom>
          <a:solidFill>
            <a:srgbClr val="251636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517904" y="2395728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48256" y="2286000"/>
            <a:ext cx="1536192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F4F0FB"/>
                </a:solidFill>
                <a:latin typeface="Segoe UI"/>
              </a:rPr>
              <a:t>Test: WLAN ausgeschaltet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6464" y="2889504"/>
            <a:ext cx="2176272" cy="713232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26464" y="2889504"/>
            <a:ext cx="2176272" cy="7132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Artikel scannen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6464" y="3749040"/>
            <a:ext cx="2176272" cy="548640"/>
          </a:xfrm>
          <a:prstGeom prst="roundRect">
            <a:avLst>
              <a:gd name="adj" fmla="val 6000"/>
            </a:avLst>
          </a:prstGeom>
          <a:solidFill>
            <a:srgbClr val="251636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17904" y="3749040"/>
            <a:ext cx="1993392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2DD4BF"/>
                </a:solidFill>
                <a:latin typeface="Segoe UI"/>
              </a:rPr>
              <a:t>Eingebucht:</a:t>
            </a:r>
            <a:r>
              <a:rPr sz="850" b="0">
                <a:solidFill>
                  <a:srgbClr val="2DD4BF"/>
                </a:solidFill>
                <a:latin typeface="Segoe UI"/>
              </a:rPr>
              <a:t> 1x Tee Box-Logo 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6464" y="4443984"/>
            <a:ext cx="2176272" cy="960120"/>
          </a:xfrm>
          <a:prstGeom prst="roundRect">
            <a:avLst>
              <a:gd name="adj" fmla="val 6000"/>
            </a:avLst>
          </a:prstGeom>
          <a:solidFill>
            <a:srgbClr val="251636"/>
          </a:solidFill>
          <a:ln w="12700">
            <a:solidFill>
              <a:srgbClr val="F5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17904" y="4517136"/>
            <a:ext cx="1993392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F5B33D"/>
                </a:solidFill>
                <a:latin typeface="Segoe UI"/>
              </a:rPr>
              <a:t>Warteschlange: 1 Buchung.</a:t>
            </a:r>
            <a:r>
              <a:rPr sz="850" b="0">
                <a:solidFill>
                  <a:srgbClr val="F5B33D"/>
                </a:solidFill>
                <a:latin typeface="Segoe UI"/>
              </a:rPr>
              <a:t> Wird automatisch nachgebucht, sobald WLAN da ist.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19456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0" y="219456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Scannen und einbuchen</a:t>
            </a:r>
            <a:r>
              <a:rPr sz="1600" b="0">
                <a:solidFill>
                  <a:srgbClr val="F4F0FB"/>
                </a:solidFill>
                <a:latin typeface="Segoe UI"/>
              </a:rPr>
              <a:t> in 10 Sekunden pro Artikel.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42900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342900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Ohne WLAN</a:t>
            </a:r>
            <a:r>
              <a:rPr sz="1600" b="0">
                <a:solidFill>
                  <a:srgbClr val="F4F0FB"/>
                </a:solidFill>
                <a:latin typeface="Segoe UI"/>
              </a:rPr>
              <a:t> wartet die Buchung in der Warteschlange.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466344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0" y="466344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Nichts geht verloren.</a:t>
            </a:r>
            <a:r>
              <a:rPr sz="1600" b="0">
                <a:solidFill>
                  <a:srgbClr val="F4F0FB"/>
                </a:solidFill>
                <a:latin typeface="Segoe UI"/>
              </a:rPr>
              <a:t> Jede Buchung landet genau einmal im System.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Frag Finelli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Deine Zahlen in normaler Sprache.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FINELLI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737360"/>
            <a:ext cx="2651760" cy="4572000"/>
          </a:xfrm>
          <a:prstGeom prst="roundRect">
            <a:avLst>
              <a:gd name="adj" fmla="val 11000"/>
            </a:avLst>
          </a:prstGeom>
          <a:solidFill>
            <a:srgbClr val="0A0710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98448" y="1847088"/>
            <a:ext cx="2432304" cy="4352544"/>
          </a:xfrm>
          <a:prstGeom prst="roundRect">
            <a:avLst>
              <a:gd name="adj" fmla="val 9000"/>
            </a:avLst>
          </a:prstGeom>
          <a:solidFill>
            <a:srgbClr val="1A1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26464" y="1920240"/>
            <a:ext cx="217627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4F0FB"/>
                </a:solidFill>
                <a:latin typeface="Segoe UI Semibold"/>
              </a:rPr>
              <a:t>FINELLI 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8193" y="2286000"/>
            <a:ext cx="1784543" cy="502920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09633" y="2286000"/>
            <a:ext cx="1601663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FFFFFF"/>
                </a:solidFill>
                <a:latin typeface="Segoe UI"/>
              </a:rPr>
              <a:t>Wo liegt Hoodie M?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6464" y="2916936"/>
            <a:ext cx="1784543" cy="502920"/>
          </a:xfrm>
          <a:prstGeom prst="roundRect">
            <a:avLst>
              <a:gd name="adj" fmla="val 32000"/>
            </a:avLst>
          </a:prstGeom>
          <a:solidFill>
            <a:srgbClr val="251636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17904" y="2916936"/>
            <a:ext cx="1601663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F4F0FB"/>
                </a:solidFill>
                <a:latin typeface="Segoe UI"/>
              </a:rPr>
              <a:t>Zürich 0, Embrach 4. Regal B, Fach 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18193" y="3547872"/>
            <a:ext cx="1784543" cy="502920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09633" y="3547872"/>
            <a:ext cx="1601663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FFFFFF"/>
                </a:solidFill>
                <a:latin typeface="Segoe UI"/>
              </a:rPr>
              <a:t>Was ist knapp?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6464" y="4178808"/>
            <a:ext cx="1784543" cy="502920"/>
          </a:xfrm>
          <a:prstGeom prst="roundRect">
            <a:avLst>
              <a:gd name="adj" fmla="val 32000"/>
            </a:avLst>
          </a:prstGeom>
          <a:solidFill>
            <a:srgbClr val="251636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17904" y="4178808"/>
            <a:ext cx="1601663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F4F0FB"/>
                </a:solidFill>
                <a:latin typeface="Segoe UI"/>
              </a:rPr>
              <a:t>Cap Sport und Beanie Logo.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26464" y="5696712"/>
            <a:ext cx="2176272" cy="365760"/>
          </a:xfrm>
          <a:prstGeom prst="roundRect">
            <a:avLst>
              <a:gd name="adj" fmla="val 30000"/>
            </a:avLst>
          </a:prstGeom>
          <a:solidFill>
            <a:srgbClr val="251636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36192" y="5696712"/>
            <a:ext cx="1956816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>
                <a:solidFill>
                  <a:srgbClr val="9E93B5"/>
                </a:solidFill>
                <a:latin typeface="Segoe UI"/>
              </a:rPr>
              <a:t>Frage eingeben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219456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219456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Fragen statt suchen.</a:t>
            </a:r>
            <a:r>
              <a:rPr sz="1600" b="0">
                <a:solidFill>
                  <a:srgbClr val="F4F0FB"/>
                </a:solidFill>
                <a:latin typeface="Segoe UI"/>
              </a:rPr>
              <a:t> Keine Tabellen, keine Excel-Listen.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42900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0" y="342900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Antworten aus deinen echten Zahlen,</a:t>
            </a:r>
            <a:r>
              <a:rPr sz="1600" b="0">
                <a:solidFill>
                  <a:srgbClr val="F4F0FB"/>
                </a:solidFill>
                <a:latin typeface="Segoe UI"/>
              </a:rPr>
              <a:t> in Sekunden.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4663440"/>
            <a:ext cx="109728" cy="8686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0" y="466344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F0FB"/>
                </a:solidFill>
                <a:latin typeface="Segoe UI"/>
              </a:rPr>
              <a:t>Nur Antworten.</a:t>
            </a:r>
            <a:r>
              <a:rPr sz="1600" b="0">
                <a:solidFill>
                  <a:srgbClr val="F4F0FB"/>
                </a:solidFill>
                <a:latin typeface="Segoe UI"/>
              </a:rPr>
              <a:t> Gebucht wird nichts.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So führen wir es 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Vier Schritte. Der Laden läuft normal weiter.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FINELLI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Chevron 6"/>
          <p:cNvSpPr/>
          <p:nvPr/>
        </p:nvSpPr>
        <p:spPr>
          <a:xfrm>
            <a:off x="548640" y="1920240"/>
            <a:ext cx="2788920" cy="777240"/>
          </a:xfrm>
          <a:prstGeom prst="chevron">
            <a:avLst>
              <a:gd name="adj" fmla="val 35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4F0FB"/>
                </a:solidFill>
                <a:latin typeface="Segoe UI Semibold"/>
              </a:rPr>
              <a:t>1   Zählen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2468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Segoe UI"/>
              </a:rPr>
              <a:t>Dein Team zählt einmal sauber durch. Mit Anleitung und Lagerplatz-Etiketten von uns.</a:t>
            </a:r>
          </a:p>
        </p:txBody>
      </p:sp>
      <p:sp>
        <p:nvSpPr>
          <p:cNvPr id="10" name="Chevron 9"/>
          <p:cNvSpPr/>
          <p:nvPr/>
        </p:nvSpPr>
        <p:spPr>
          <a:xfrm>
            <a:off x="3364992" y="1920240"/>
            <a:ext cx="2788920" cy="777240"/>
          </a:xfrm>
          <a:prstGeom prst="chevron">
            <a:avLst>
              <a:gd name="adj" fmla="val 35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85032" y="202996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4F0FB"/>
                </a:solidFill>
                <a:latin typeface="Segoe UI Semibold"/>
              </a:rPr>
              <a:t>2   Verbinden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971800"/>
            <a:ext cx="2468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Segoe UI"/>
              </a:rPr>
              <a:t>Wir verbinden das Cockpit mit Onlineshop, Kasse und Versand. Alles läuft in einem System zusammen.</a:t>
            </a:r>
          </a:p>
        </p:txBody>
      </p:sp>
      <p:sp>
        <p:nvSpPr>
          <p:cNvPr id="13" name="Chevron 12"/>
          <p:cNvSpPr/>
          <p:nvPr/>
        </p:nvSpPr>
        <p:spPr>
          <a:xfrm>
            <a:off x="6181344" y="1920240"/>
            <a:ext cx="2788920" cy="777240"/>
          </a:xfrm>
          <a:prstGeom prst="chevron">
            <a:avLst>
              <a:gd name="adj" fmla="val 35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1384" y="202996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4F0FB"/>
                </a:solidFill>
                <a:latin typeface="Segoe UI Semibold"/>
              </a:rPr>
              <a:t>3   Schulen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2971800"/>
            <a:ext cx="2468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Segoe UI"/>
              </a:rPr>
              <a:t>30 Minuten pro Person. Jeder bekommt eine eigene PIN.</a:t>
            </a:r>
          </a:p>
        </p:txBody>
      </p:sp>
      <p:sp>
        <p:nvSpPr>
          <p:cNvPr id="16" name="Chevron 15"/>
          <p:cNvSpPr/>
          <p:nvPr/>
        </p:nvSpPr>
        <p:spPr>
          <a:xfrm>
            <a:off x="8997696" y="1920240"/>
            <a:ext cx="2788920" cy="777240"/>
          </a:xfrm>
          <a:prstGeom prst="chevron">
            <a:avLst>
              <a:gd name="adj" fmla="val 35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17736" y="202996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 Semibold"/>
              </a:rPr>
              <a:t>4   Betrieb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971800"/>
            <a:ext cx="2468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Segoe UI"/>
              </a:rPr>
              <a:t>Wochen-Bericht jeden Montag. Wir betreuen und bauen aus, wenn du es willst.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BB92FF"/>
                </a:solidFill>
                <a:latin typeface="Segoe UI"/>
              </a:rPr>
              <a:t>Kein Umbau. Kein Stillstand. Kein Risiko für das Tagesgeschäft.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Drei Modelle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Klein, mittel, gross. Jedes enthält das kleinere. Wechsel jederzeit möglich.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FINELLI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29000"/>
            <a:ext cx="3383280" cy="2468880"/>
          </a:xfrm>
          <a:prstGeom prst="roundRect">
            <a:avLst>
              <a:gd name="adj" fmla="val 4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3657600"/>
            <a:ext cx="2834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E93B5"/>
                </a:solidFill>
                <a:latin typeface="Bahnschrift"/>
              </a:rPr>
              <a:t>KLEIN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BB92FF"/>
                </a:solidFill>
                <a:latin typeface="Segoe UI Light"/>
              </a:rPr>
              <a:t>Basic</a:t>
            </a:r>
          </a:p>
          <a:p>
            <a:pPr algn="l">
              <a:spcAft>
                <a:spcPts val="600"/>
              </a:spcAft>
            </a:pPr>
            <a:r>
              <a:rPr sz="2700" b="1">
                <a:solidFill>
                  <a:srgbClr val="F4F0FB"/>
                </a:solidFill>
                <a:latin typeface="Segoe UI Semibold"/>
              </a:rPr>
              <a:t>CHF 1'250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E93B5"/>
                </a:solidFill>
                <a:latin typeface="Segoe UI"/>
              </a:rPr>
              <a:t>pro Monat</a:t>
            </a:r>
          </a:p>
          <a:p>
            <a:pPr algn="l">
              <a:spcAft>
                <a:spcPts val="600"/>
              </a:spcAft>
            </a:pPr>
            <a:endParaRPr sz="1200" b="0">
              <a:solidFill>
                <a:srgbClr val="9E93B5"/>
              </a:solidFill>
              <a:latin typeface="Segoe UI"/>
            </a:endParaRP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9E93B5"/>
                </a:solidFill>
                <a:latin typeface="Segoe UI"/>
              </a:rPr>
              <a:t>Lager und Alltag im Griff.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971800"/>
            <a:ext cx="3383280" cy="292608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180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3200400"/>
            <a:ext cx="28346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ADFFB"/>
                </a:solidFill>
                <a:latin typeface="Bahnschrift"/>
              </a:rPr>
              <a:t>MITTEL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 Light"/>
              </a:rPr>
              <a:t>Premium</a:t>
            </a:r>
          </a:p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Segoe UI Semibold"/>
              </a:rPr>
              <a:t>CHF 2'200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EADFFB"/>
                </a:solidFill>
                <a:latin typeface="Segoe UI"/>
              </a:rPr>
              <a:t>pro Monat</a:t>
            </a:r>
          </a:p>
          <a:p>
            <a:pPr algn="l">
              <a:spcAft>
                <a:spcPts val="600"/>
              </a:spcAft>
            </a:pPr>
            <a:endParaRPr sz="1200" b="0">
              <a:solidFill>
                <a:srgbClr val="EADFFB"/>
              </a:solidFill>
              <a:latin typeface="Segoe UI"/>
            </a:endParaRP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EADFFB"/>
                </a:solidFill>
                <a:latin typeface="Segoe UI"/>
              </a:rPr>
              <a:t>Dazu: dein Shop verkauft aktiv 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715768"/>
            <a:ext cx="1737360" cy="43891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BB92FF"/>
              </a:gs>
              <a:gs pos="100000">
                <a:srgbClr val="7C3AE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752344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Segoe UI Semibold"/>
              </a:rPr>
              <a:t>Unser Vorschlag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14600"/>
            <a:ext cx="3383280" cy="338328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251636"/>
              </a:gs>
              <a:gs pos="100000">
                <a:srgbClr val="0A0710"/>
              </a:gs>
            </a:gsLst>
            <a:lin ang="180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92440" y="2514600"/>
            <a:ext cx="3383280" cy="82296"/>
          </a:xfrm>
          <a:prstGeom prst="roundRect">
            <a:avLst>
              <a:gd name="adj" fmla="val 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2743200"/>
            <a:ext cx="28346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E93B5"/>
                </a:solidFill>
                <a:latin typeface="Bahnschrift"/>
              </a:rPr>
              <a:t>GROSS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BB92FF"/>
                </a:solidFill>
                <a:latin typeface="Segoe UI Light"/>
              </a:rPr>
              <a:t>Max</a:t>
            </a:r>
          </a:p>
          <a:p>
            <a:pPr algn="l">
              <a:spcAft>
                <a:spcPts val="600"/>
              </a:spcAft>
            </a:pPr>
            <a:r>
              <a:rPr sz="2700" b="1">
                <a:solidFill>
                  <a:srgbClr val="F4F0FB"/>
                </a:solidFill>
                <a:latin typeface="Segoe UI Semibold"/>
              </a:rPr>
              <a:t>CHF 5'000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E93B5"/>
                </a:solidFill>
                <a:latin typeface="Segoe UI"/>
              </a:rPr>
              <a:t>pro Monat</a:t>
            </a:r>
          </a:p>
          <a:p>
            <a:pPr algn="l">
              <a:spcAft>
                <a:spcPts val="600"/>
              </a:spcAft>
            </a:pPr>
            <a:endParaRPr sz="1200" b="0">
              <a:solidFill>
                <a:srgbClr val="9E93B5"/>
              </a:solidFill>
              <a:latin typeface="Segoe UI"/>
            </a:endParaRP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9E93B5"/>
                </a:solidFill>
                <a:latin typeface="Segoe UI"/>
              </a:rPr>
              <a:t>Dazu: Marketing und Zahlen automatisch.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080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9E93B5"/>
                </a:solidFill>
                <a:latin typeface="Segoe UI"/>
              </a:rPr>
              <a:t>Preise gemäss Absprache. Details, Laufzeit und Garantien regelt der Vertrag.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40"/>
                            </p:stCondLst>
                            <p:childTnLst>
                              <p:par>
                                <p:cTn id="23" presetID="3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620"/>
                            </p:stCondLst>
                            <p:childTnLst>
                              <p:par>
                                <p:cTn id="32" presetID="3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40"/>
                            </p:stCondLst>
                            <p:childTnLst>
                              <p:par>
                                <p:cTn id="41" presetID="3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900"/>
                            </p:stCondLst>
                            <p:childTnLst>
                              <p:par>
                                <p:cTn id="50" presetID="3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600"/>
                            </p:stCondLst>
                            <p:childTnLst>
                              <p:par>
                                <p:cTn id="59" presetID="3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340"/>
                            </p:stCondLst>
                            <p:childTnLst>
                              <p:par>
                                <p:cTn id="68" presetID="3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4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120"/>
                            </p:stCondLst>
                            <p:childTnLst>
                              <p:par>
                                <p:cTn id="77" presetID="3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4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4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4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940"/>
                            </p:stCondLst>
                            <p:childTnLst>
                              <p:par>
                                <p:cTn id="86" presetID="3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4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800"/>
                            </p:stCondLst>
                            <p:childTnLst>
                              <p:par>
                                <p:cTn id="95" presetID="3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4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7700"/>
                            </p:stCondLst>
                            <p:childTnLst>
                              <p:par>
                                <p:cTn id="104" presetID="30" presetClass="entr" presetSubtype="0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4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4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4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8640"/>
                            </p:stCondLst>
                            <p:childTnLst>
                              <p:par>
                                <p:cTn id="113" presetID="30" presetClass="entr" presetSubtype="0" fill="hold" grpId="0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4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4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4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620"/>
                            </p:stCondLst>
                            <p:childTnLst>
                              <p:par>
                                <p:cTn id="122" presetID="30" presetClass="entr" presetSubtype="0" fill="hold" grpId="0" nodeType="after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4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" accel="10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 animBg="1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CHF 1'250 pro Monat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FINELLI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Wochen-Report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5623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Jeden Montag eine Seite:</a:t>
            </a:r>
            <a:r>
              <a:rPr sz="1350" b="0">
                <a:solidFill>
                  <a:srgbClr val="F4F0FB"/>
                </a:solidFill>
                <a:latin typeface="Segoe UI"/>
              </a:rPr>
              <a:t> was lief, was knapp ist, was kommt.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Bestell-Alarm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72491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Meldet sich, bevor ein Artikel ausgeht.</a:t>
            </a:r>
            <a:r>
              <a:rPr sz="1350" b="0">
                <a:solidFill>
                  <a:srgbClr val="F4F0FB"/>
                </a:solidFill>
                <a:latin typeface="Segoe UI"/>
              </a:rPr>
              <a:t> Mit Mengen-Vorschlag.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" y="352044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52044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Lager-Automatik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59359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Beide Standorte immer aktuell.</a:t>
            </a:r>
            <a:r>
              <a:rPr sz="1350" b="0">
                <a:solidFill>
                  <a:srgbClr val="F4F0FB"/>
                </a:solidFill>
                <a:latin typeface="Segoe UI"/>
              </a:rPr>
              <a:t> Umlagern in zwei Klicks.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8912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Verpackungs-Software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46227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Pickzettel mit Laufweg.</a:t>
            </a:r>
            <a:r>
              <a:rPr sz="1350" b="0">
                <a:solidFill>
                  <a:srgbClr val="F4F0FB"/>
                </a:solidFill>
                <a:latin typeface="Segoe UI"/>
              </a:rPr>
              <a:t> Post-Etikette automatisch.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5780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8640" y="525780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Kassenabrechnung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533095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Tagesabschluss automatisch.</a:t>
            </a:r>
            <a:r>
              <a:rPr sz="1350" b="0">
                <a:solidFill>
                  <a:srgbClr val="F4F0FB"/>
                </a:solidFill>
                <a:latin typeface="Segoe UI"/>
              </a:rPr>
              <a:t> Kein Nachtragen von Hand.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CHF 2'200 pro Monat   ·   alles aus Basic, plus: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FINELLI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Shop-Regal-Zahlen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5623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Was verkauft und was liegen bleibt.</a:t>
            </a:r>
            <a:r>
              <a:rPr sz="1350" b="0">
                <a:solidFill>
                  <a:srgbClr val="F4F0FB"/>
                </a:solidFill>
                <a:latin typeface="Segoe UI"/>
              </a:rPr>
              <a:t> Pro Produkt, pro Regal.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Alter/Region-Zahlen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72491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Wer bei dir kauft:</a:t>
            </a:r>
            <a:r>
              <a:rPr sz="1350" b="0">
                <a:solidFill>
                  <a:srgbClr val="F4F0FB"/>
                </a:solidFill>
                <a:latin typeface="Segoe UI"/>
              </a:rPr>
              <a:t> Alter und Region auf einen Blick.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" y="352044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52044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Website-Auto-Verwaltung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59359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Produkte und Texte pflegen sich selbst.</a:t>
            </a:r>
            <a:r>
              <a:rPr sz="1350" b="0">
                <a:solidFill>
                  <a:srgbClr val="F4F0FB"/>
                </a:solidFill>
                <a:latin typeface="Segoe UI"/>
              </a:rPr>
              <a:t> Du gibst frei.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8912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Persönlicher Shop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46227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Jeder Besucher sieht zuerst,</a:t>
            </a:r>
            <a:r>
              <a:rPr sz="1350" b="0">
                <a:solidFill>
                  <a:srgbClr val="F4F0FB"/>
                </a:solidFill>
                <a:latin typeface="Segoe UI"/>
              </a:rPr>
              <a:t> was ihn am ehesten interessiert.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5780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8640" y="525780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Website-Avatar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533095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Digitaler Berater</a:t>
            </a:r>
            <a:r>
              <a:rPr sz="1350" b="0">
                <a:solidFill>
                  <a:srgbClr val="F4F0FB"/>
                </a:solidFill>
                <a:latin typeface="Segoe UI"/>
              </a:rPr>
              <a:t> beantwortet Kundenfragen. Rund um die Uhr.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CHF 5'000 pro Monat   ·   alles aus Premium, plus: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FINELLI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Trends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5623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Was in Streetwear zieht.</a:t>
            </a:r>
            <a:r>
              <a:rPr sz="1350" b="0">
                <a:solidFill>
                  <a:srgbClr val="F4F0FB"/>
                </a:solidFill>
                <a:latin typeface="Segoe UI"/>
              </a:rPr>
              <a:t> Woche für Woche aufbereitet.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Custom Planer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72491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Planung für Drops und Saison.</a:t>
            </a:r>
            <a:r>
              <a:rPr sz="1350" b="0">
                <a:solidFill>
                  <a:srgbClr val="F4F0FB"/>
                </a:solidFill>
                <a:latin typeface="Segoe UI"/>
              </a:rPr>
              <a:t> Auf deine Marke zugeschnitten.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" y="352044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52044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Ads-Schalter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59359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Werbung mit klarem Kostenblick.</a:t>
            </a:r>
            <a:r>
              <a:rPr sz="1350" b="0">
                <a:solidFill>
                  <a:srgbClr val="F4F0FB"/>
                </a:solidFill>
                <a:latin typeface="Segoe UI"/>
              </a:rPr>
              <a:t> Ein und aus per Klick.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8912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38912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Marketing automatisiert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46227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Newsletter und Posts als Entwurf.</a:t>
            </a:r>
            <a:r>
              <a:rPr sz="1350" b="0">
                <a:solidFill>
                  <a:srgbClr val="F4F0FB"/>
                </a:solidFill>
                <a:latin typeface="Segoe UI"/>
              </a:rPr>
              <a:t> Du gibst frei.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57800"/>
            <a:ext cx="3246120" cy="68580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8640" y="5257800"/>
            <a:ext cx="64008" cy="6858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B92FF"/>
                </a:solidFill>
                <a:latin typeface="Segoe UI Semibold"/>
              </a:rPr>
              <a:t>Treuhand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5330952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4F0FB"/>
                </a:solidFill>
                <a:latin typeface="Segoe UI"/>
              </a:rPr>
              <a:t>Zahlen fertig für den Treuhänder.</a:t>
            </a:r>
            <a:r>
              <a:rPr sz="1350" b="0">
                <a:solidFill>
                  <a:srgbClr val="F4F0FB"/>
                </a:solidFill>
                <a:latin typeface="Segoe UI"/>
              </a:rPr>
              <a:t> Weniger Honorarstunden.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0">
                <a:solidFill>
                  <a:srgbClr val="F4F0FB"/>
                </a:solidFill>
                <a:latin typeface="Segoe UI Light"/>
              </a:rPr>
              <a:t>Wer macht was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E93B5"/>
                </a:solidFill>
                <a:latin typeface="Segoe UI"/>
              </a:rPr>
              <a:t>Für dich als Chef: fast nichts.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4114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F4F0FB"/>
                </a:solidFill>
                <a:latin typeface="Segoe UI Semibold"/>
              </a:rPr>
              <a:t>FINELLI</a:t>
            </a:r>
            <a:r>
              <a:rPr sz="900">
                <a:solidFill>
                  <a:srgbClr val="BB92FF"/>
                </a:solidFill>
              </a:rPr>
              <a:t>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3566160" cy="82296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B92FF"/>
                </a:solidFill>
                <a:latin typeface="Segoe UI Semibold"/>
              </a:rPr>
              <a:t>WIR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0FB"/>
                </a:solidFill>
                <a:latin typeface="Segoe UI"/>
              </a:rPr>
              <a:t>Einrichten, verbinden, schulen, betreuen. </a:t>
            </a:r>
            <a:r>
              <a:rPr sz="1500" b="1">
                <a:solidFill>
                  <a:srgbClr val="F4F0FB"/>
                </a:solidFill>
                <a:latin typeface="Segoe UI"/>
              </a:rPr>
              <a:t>Monat für Monat.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92024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98264" y="1920240"/>
            <a:ext cx="3566160" cy="82296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4" y="2286000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B92FF"/>
                </a:solidFill>
                <a:latin typeface="Segoe UI Semibold"/>
              </a:rPr>
              <a:t>DEIN TEAM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0FB"/>
                </a:solidFill>
                <a:latin typeface="Segoe UI"/>
              </a:rPr>
              <a:t>Einmal sauber zählen. </a:t>
            </a:r>
            <a:r>
              <a:rPr sz="1500" b="1">
                <a:solidFill>
                  <a:srgbClr val="F4F0FB"/>
                </a:solidFill>
                <a:latin typeface="Segoe UI"/>
              </a:rPr>
              <a:t>Danach: scannen statt suchen.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92024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1A1027"/>
          </a:solidFill>
          <a:ln w="12700">
            <a:solidFill>
              <a:srgbClr val="2E2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47888" y="1920240"/>
            <a:ext cx="3566160" cy="82296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22208" y="2286000"/>
            <a:ext cx="30175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B92FF"/>
                </a:solidFill>
                <a:latin typeface="Segoe UI Semibold"/>
              </a:rPr>
              <a:t>DU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4F0FB"/>
                </a:solidFill>
                <a:latin typeface="Segoe UI"/>
              </a:rPr>
              <a:t>Entscheiden. Sonst nichts.</a:t>
            </a:r>
            <a:r>
              <a:rPr sz="1500" b="0">
                <a:solidFill>
                  <a:srgbClr val="F4F0FB"/>
                </a:solidFill>
                <a:latin typeface="Segoe UI"/>
              </a:rPr>
              <a:t> Jeder KI-Vorschlag wartet auf dein Ja.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BB92FF"/>
                </a:solidFill>
                <a:latin typeface="Segoe UI"/>
              </a:rPr>
              <a:t>Keine KI bucht deinen Bestand. Jede Buchung macht ein Mensch.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710"/>
              </a:gs>
              <a:gs pos="100000">
                <a:srgbClr val="180A24"/>
              </a:gs>
            </a:gsLst>
            <a:lin ang="17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914400" y="1188720"/>
            <a:ext cx="13716000" cy="2743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710"/>
              </a:gs>
              <a:gs pos="100000">
                <a:srgbClr val="4C1D95"/>
              </a:gs>
            </a:gsLst>
            <a:lin ang="20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0">
                <a:solidFill>
                  <a:srgbClr val="F4F0FB"/>
                </a:solidFill>
                <a:latin typeface="Segoe UI Light"/>
              </a:rPr>
              <a:t>Du entscheidest.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788920"/>
            <a:ext cx="1280160" cy="45720"/>
          </a:xfrm>
          <a:prstGeom prst="roundRect">
            <a:avLst>
              <a:gd name="adj" fmla="val 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97280" y="3118104"/>
            <a:ext cx="91440" cy="457200"/>
          </a:xfrm>
          <a:prstGeom prst="roundRect">
            <a:avLst>
              <a:gd name="adj" fmla="val 5000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3063240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4F0FB"/>
                </a:solidFill>
                <a:latin typeface="Segoe UI"/>
              </a:rPr>
              <a:t>Die Vorschau läuft. </a:t>
            </a:r>
            <a:r>
              <a:rPr sz="1700" b="1">
                <a:solidFill>
                  <a:srgbClr val="F4F0FB"/>
                </a:solidFill>
                <a:latin typeface="Segoe UI"/>
              </a:rPr>
              <a:t>Du hast sie selbst geklickt.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895344"/>
            <a:ext cx="91440" cy="457200"/>
          </a:xfrm>
          <a:prstGeom prst="roundRect">
            <a:avLst>
              <a:gd name="adj" fmla="val 5000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3840480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4F0FB"/>
                </a:solidFill>
                <a:latin typeface="Segoe UI"/>
              </a:rPr>
              <a:t>Modell wählen, starten, </a:t>
            </a:r>
            <a:r>
              <a:rPr sz="1700" b="1">
                <a:solidFill>
                  <a:srgbClr val="F4F0FB"/>
                </a:solidFill>
                <a:latin typeface="Segoe UI"/>
              </a:rPr>
              <a:t>jederzeit hochwechseln.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672584"/>
            <a:ext cx="91440" cy="457200"/>
          </a:xfrm>
          <a:prstGeom prst="roundRect">
            <a:avLst>
              <a:gd name="adj" fmla="val 50000"/>
            </a:avLst>
          </a:prstGeom>
          <a:solidFill>
            <a:srgbClr val="BB9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4617720"/>
            <a:ext cx="9509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4F0FB"/>
                </a:solidFill>
                <a:latin typeface="Segoe UI"/>
              </a:rPr>
              <a:t>Jetzt: </a:t>
            </a:r>
            <a:r>
              <a:rPr sz="1700" b="1">
                <a:solidFill>
                  <a:srgbClr val="F4F0FB"/>
                </a:solidFill>
                <a:latin typeface="Segoe UI"/>
              </a:rPr>
              <a:t>deine Fragen.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852160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E93B5"/>
                </a:solidFill>
                <a:latin typeface="Bahnschrift"/>
              </a:rPr>
              <a:t>Finelli Studios AG · Vor-Ort-Termin · 22. Juli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14:reveal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998</Words>
  <Application>Microsoft Office PowerPoint</Application>
  <PresentationFormat>Breitbild</PresentationFormat>
  <Paragraphs>191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2" baseType="lpstr">
      <vt:lpstr>Arial</vt:lpstr>
      <vt:lpstr>Bahnschrift</vt:lpstr>
      <vt:lpstr>Calibri</vt:lpstr>
      <vt:lpstr>Segoe UI</vt:lpstr>
      <vt:lpstr>Segoe UI Light</vt:lpstr>
      <vt:lpstr>Segoe UI Semibold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Bhatti Abdulmannan (bhattabd)</cp:lastModifiedBy>
  <cp:revision>2</cp:revision>
  <dcterms:created xsi:type="dcterms:W3CDTF">2013-01-27T09:14:16Z</dcterms:created>
  <dcterms:modified xsi:type="dcterms:W3CDTF">2026-07-20T17:43:53Z</dcterms:modified>
  <cp:category/>
</cp:coreProperties>
</file>