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716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97280" y="2103120"/>
            <a:ext cx="1005840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5400" b="0">
                <a:solidFill>
                  <a:srgbClr val="FFFFFF"/>
                </a:solidFill>
                <a:latin typeface="Segoe UI"/>
              </a:rPr>
              <a:t/>
            </a:r>
            <a:r>
              <a:rPr b="1" sz="5400">
                <a:solidFill>
                  <a:srgbClr val="FFFFFF"/>
                </a:solidFill>
                <a:latin typeface="Georgia"/>
              </a:rPr>
              <a:t>FINELLI</a:t>
            </a:r>
            <a:r>
              <a:rPr sz="3000">
                <a:solidFill>
                  <a:srgbClr val="A8271C"/>
                </a:solidFill>
              </a:rPr>
              <a:t> ●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97280" y="3383280"/>
            <a:ext cx="96012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2200" b="0">
                <a:solidFill>
                  <a:srgbClr val="D8D6DC"/>
                </a:solidFill>
                <a:latin typeface="Georgia"/>
              </a:rPr>
              <a:t>Dein Lager. Dein Shop. Ein Cockpit.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" y="5760720"/>
            <a:ext cx="91440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9A97A0"/>
                </a:solidFill>
                <a:latin typeface="Segoe UI"/>
              </a:rPr>
              <a:t>Finelli Studios AG · Vor-Ort-Termin  ·  22. Juli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4F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0" y="0"/>
            <a:ext cx="12191695" cy="146304"/>
          </a:xfrm>
          <a:prstGeom prst="roundRect">
            <a:avLst>
              <a:gd name="adj" fmla="val 0"/>
            </a:avLst>
          </a:prstGeom>
          <a:solidFill>
            <a:srgbClr val="A827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84048"/>
            <a:ext cx="86868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>
                <a:solidFill>
                  <a:srgbClr val="17161A"/>
                </a:solidFill>
                <a:latin typeface="Georgia"/>
              </a:rPr>
              <a:t>Wo du heute stehst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024128"/>
            <a:ext cx="10515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77747C"/>
                </a:solidFill>
                <a:latin typeface="Segoe UI"/>
              </a:rPr>
              <a:t>Drei Momente aus deinem Alltag — und keiner davon ist deine Schuld.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692640" y="411480"/>
            <a:ext cx="54864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2000" b="0">
                <a:solidFill>
                  <a:srgbClr val="17161A"/>
                </a:solidFill>
                <a:latin typeface="Segoe UI"/>
              </a:rPr>
              <a:t/>
            </a:r>
            <a:r>
              <a:rPr b="1" sz="2000">
                <a:solidFill>
                  <a:srgbClr val="17161A"/>
                </a:solidFill>
                <a:latin typeface="Georgia"/>
              </a:rPr>
              <a:t>FINELLI</a:t>
            </a:r>
            <a:r>
              <a:rPr sz="1100">
                <a:solidFill>
                  <a:srgbClr val="A8271C"/>
                </a:solidFill>
              </a:rPr>
              <a:t> ●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737360"/>
            <a:ext cx="3520440" cy="3931920"/>
          </a:xfrm>
          <a:prstGeom prst="roundRect">
            <a:avLst>
              <a:gd name="adj" fmla="val 4500"/>
            </a:avLst>
          </a:prstGeom>
          <a:solidFill>
            <a:srgbClr val="FFFFFF"/>
          </a:solidFill>
          <a:ln w="15875">
            <a:solidFill>
              <a:srgbClr val="E5E3D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1965960"/>
            <a:ext cx="2971800" cy="34747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>
                <a:solidFill>
                  <a:srgbClr val="A8271C"/>
                </a:solidFill>
                <a:latin typeface="Segoe UI"/>
              </a:rPr>
              <a:t>Der Verkauf, der platzt</a:t>
            </a:r>
          </a:p>
          <a:p>
            <a:pPr algn="l">
              <a:spcAft>
                <a:spcPts val="600"/>
              </a:spcAft>
            </a:pPr>
            <a:r>
              <a:rPr sz="1400" b="0">
                <a:solidFill>
                  <a:srgbClr val="17161A"/>
                </a:solidFill>
                <a:latin typeface="Segoe UI"/>
              </a:rPr>
              <a:t>Online kauft jemand ein Teil — und im Regal liegt es gar nicht. Der Verkauf platzt, der Ärger bleibt.</a:t>
            </a:r>
          </a:p>
          <a:p>
            <a:pPr algn="l">
              <a:spcAft>
                <a:spcPts val="600"/>
              </a:spcAft>
            </a:pPr>
            <a:r>
              <a:rPr sz="1400" b="1">
                <a:solidFill>
                  <a:srgbClr val="17161A"/>
                </a:solidFill>
                <a:latin typeface="Segoe UI"/>
              </a:rPr>
              <a:t>Ab sofort: Der Bestand stimmt — der Verkauf platzt nicht mehr.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89120" y="1737360"/>
            <a:ext cx="3520440" cy="3931920"/>
          </a:xfrm>
          <a:prstGeom prst="roundRect">
            <a:avLst>
              <a:gd name="adj" fmla="val 4500"/>
            </a:avLst>
          </a:prstGeom>
          <a:solidFill>
            <a:srgbClr val="FFFFFF"/>
          </a:solidFill>
          <a:ln w="15875">
            <a:solidFill>
              <a:srgbClr val="E5E3D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663440" y="1965960"/>
            <a:ext cx="2971800" cy="34747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>
                <a:solidFill>
                  <a:srgbClr val="A8271C"/>
                </a:solidFill>
                <a:latin typeface="Segoe UI"/>
              </a:rPr>
              <a:t>«Grösse M in Zürich weg — hat Embrach noch eine?»</a:t>
            </a:r>
          </a:p>
          <a:p>
            <a:pPr algn="l">
              <a:spcAft>
                <a:spcPts val="600"/>
              </a:spcAft>
            </a:pPr>
            <a:r>
              <a:rPr sz="1400" b="0">
                <a:solidFill>
                  <a:srgbClr val="17161A"/>
                </a:solidFill>
                <a:latin typeface="Segoe UI"/>
              </a:rPr>
              <a:t>Heute lässt sich das im Laden praktisch nicht nachschauen. Also geht der Kunde — und kommt selten wieder.</a:t>
            </a:r>
          </a:p>
          <a:p>
            <a:pPr algn="l">
              <a:spcAft>
                <a:spcPts val="600"/>
              </a:spcAft>
            </a:pPr>
            <a:r>
              <a:rPr sz="1400" b="1">
                <a:solidFill>
                  <a:srgbClr val="17161A"/>
                </a:solidFill>
                <a:latin typeface="Segoe UI"/>
              </a:rPr>
              <a:t>Ab sofort: Antwort in Sekunden, beide Standorte auf einen Blick.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229600" y="1737360"/>
            <a:ext cx="3520440" cy="3931920"/>
          </a:xfrm>
          <a:prstGeom prst="roundRect">
            <a:avLst>
              <a:gd name="adj" fmla="val 4500"/>
            </a:avLst>
          </a:prstGeom>
          <a:solidFill>
            <a:srgbClr val="FFFFFF"/>
          </a:solidFill>
          <a:ln w="15875">
            <a:solidFill>
              <a:srgbClr val="E5E3D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503920" y="1965960"/>
            <a:ext cx="2971800" cy="34747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>
                <a:solidFill>
                  <a:srgbClr val="A8271C"/>
                </a:solidFill>
                <a:latin typeface="Segoe UI"/>
              </a:rPr>
              <a:t>Die Kasse, die von Hand nachkommt</a:t>
            </a:r>
          </a:p>
          <a:p>
            <a:pPr algn="l">
              <a:spcAft>
                <a:spcPts val="600"/>
              </a:spcAft>
            </a:pPr>
            <a:r>
              <a:rPr sz="1400" b="0">
                <a:solidFill>
                  <a:srgbClr val="17161A"/>
                </a:solidFill>
                <a:latin typeface="Segoe UI"/>
              </a:rPr>
              <a:t>Was im Laden verkauft wird, tippst du später von Hand in Shopify nach — Fehler inklusive.</a:t>
            </a:r>
          </a:p>
          <a:p>
            <a:pPr algn="l">
              <a:spcAft>
                <a:spcPts val="600"/>
              </a:spcAft>
            </a:pPr>
            <a:r>
              <a:rPr sz="1400" b="1">
                <a:solidFill>
                  <a:srgbClr val="17161A"/>
                </a:solidFill>
                <a:latin typeface="Segoe UI"/>
              </a:rPr>
              <a:t>Ab sofort: Zahlen, denen du glauben kannst.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5943600"/>
            <a:ext cx="109728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>
                <a:solidFill>
                  <a:srgbClr val="77747C"/>
                </a:solidFill>
                <a:latin typeface="Segoe UI"/>
              </a:rPr>
              <a:t>Belegt: Im Handel sind 54–65 % aller Bestandszahlen falsch (DeHoratius/Raman 2008 · ECR/Cardiff 2019).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4F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0" y="0"/>
            <a:ext cx="12191695" cy="146304"/>
          </a:xfrm>
          <a:prstGeom prst="roundRect">
            <a:avLst>
              <a:gd name="adj" fmla="val 0"/>
            </a:avLst>
          </a:prstGeom>
          <a:solidFill>
            <a:srgbClr val="A827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84048"/>
            <a:ext cx="86868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>
                <a:solidFill>
                  <a:srgbClr val="17161A"/>
                </a:solidFill>
                <a:latin typeface="Georgia"/>
              </a:rPr>
              <a:t>Was wir bauen — und was sicher NICHT passiert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024128"/>
            <a:ext cx="10515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77747C"/>
                </a:solidFill>
                <a:latin typeface="Segoe UI"/>
              </a:rPr>
              <a:t>Drei Versprechen, bevor wir über Modelle reden.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692640" y="411480"/>
            <a:ext cx="54864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2000" b="0">
                <a:solidFill>
                  <a:srgbClr val="17161A"/>
                </a:solidFill>
                <a:latin typeface="Segoe UI"/>
              </a:rPr>
              <a:t/>
            </a:r>
            <a:r>
              <a:rPr b="1" sz="2000">
                <a:solidFill>
                  <a:srgbClr val="17161A"/>
                </a:solidFill>
                <a:latin typeface="Georgia"/>
              </a:rPr>
              <a:t>FINELLI</a:t>
            </a:r>
            <a:r>
              <a:rPr sz="1100">
                <a:solidFill>
                  <a:srgbClr val="A8271C"/>
                </a:solidFill>
              </a:rPr>
              <a:t> ●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828800"/>
            <a:ext cx="502920" cy="502920"/>
          </a:xfrm>
          <a:prstGeom prst="roundRect">
            <a:avLst>
              <a:gd name="adj" fmla="val 4500"/>
            </a:avLst>
          </a:prstGeom>
          <a:solidFill>
            <a:srgbClr val="A827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1865376"/>
            <a:ext cx="5029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2000" b="1">
                <a:solidFill>
                  <a:srgbClr val="FFFFFF"/>
                </a:solidFill>
                <a:latin typeface="Segoe UI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25880" y="1773936"/>
            <a:ext cx="10241280" cy="11887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700" b="1">
                <a:solidFill>
                  <a:srgbClr val="17161A"/>
                </a:solidFill>
                <a:latin typeface="Georgia"/>
              </a:rPr>
              <a:t>Shopify bleibt der Chef.</a:t>
            </a:r>
          </a:p>
          <a:p>
            <a:pPr algn="l">
              <a:spcAft>
                <a:spcPts val="600"/>
              </a:spcAft>
            </a:pPr>
            <a:r>
              <a:rPr sz="1350" b="0">
                <a:solidFill>
                  <a:srgbClr val="77747C"/>
                </a:solidFill>
                <a:latin typeface="Segoe UI"/>
              </a:rPr>
              <a:t>Wir ersetzen nichts, wir setzen auf. Dein Shop, deine Kasse, dein Versand laufen weiter wie heute — das Cockpit macht sie nur sichtbar und bedienbar.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3246120"/>
            <a:ext cx="502920" cy="502920"/>
          </a:xfrm>
          <a:prstGeom prst="roundRect">
            <a:avLst>
              <a:gd name="adj" fmla="val 4500"/>
            </a:avLst>
          </a:prstGeom>
          <a:solidFill>
            <a:srgbClr val="A827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3282696"/>
            <a:ext cx="5029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2000" b="1">
                <a:solidFill>
                  <a:srgbClr val="FFFFFF"/>
                </a:solidFill>
                <a:latin typeface="Segoe UI"/>
              </a:rP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25880" y="3191256"/>
            <a:ext cx="10241280" cy="11887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700" b="1">
                <a:solidFill>
                  <a:srgbClr val="17161A"/>
                </a:solidFill>
                <a:latin typeface="Georgia"/>
              </a:rPr>
              <a:t>KI assistiert — entscheidet nie.</a:t>
            </a:r>
          </a:p>
          <a:p>
            <a:pPr algn="l">
              <a:spcAft>
                <a:spcPts val="600"/>
              </a:spcAft>
            </a:pPr>
            <a:r>
              <a:rPr sz="1350" b="0">
                <a:solidFill>
                  <a:srgbClr val="77747C"/>
                </a:solidFill>
                <a:latin typeface="Segoe UI"/>
              </a:rPr>
              <a:t>Jede Buchung, jede Bestellung, jede Freigabe macht ein Mensch. Die KI schlägt vor, erinnert und rechnet — du bleibst der Boss.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40" y="4663440"/>
            <a:ext cx="502920" cy="502920"/>
          </a:xfrm>
          <a:prstGeom prst="roundRect">
            <a:avLst>
              <a:gd name="adj" fmla="val 4500"/>
            </a:avLst>
          </a:prstGeom>
          <a:solidFill>
            <a:srgbClr val="A827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48640" y="4700016"/>
            <a:ext cx="5029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2000" b="1">
                <a:solidFill>
                  <a:srgbClr val="FFFFFF"/>
                </a:solidFill>
                <a:latin typeface="Segoe UI"/>
              </a:rPr>
              <a:t>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325880" y="4608576"/>
            <a:ext cx="10241280" cy="11887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700" b="1">
                <a:solidFill>
                  <a:srgbClr val="17161A"/>
                </a:solidFill>
                <a:latin typeface="Georgia"/>
              </a:rPr>
              <a:t>Alles inbegriffen.</a:t>
            </a:r>
          </a:p>
          <a:p>
            <a:pPr algn="l">
              <a:spcAft>
                <a:spcPts val="600"/>
              </a:spcAft>
            </a:pPr>
            <a:r>
              <a:rPr sz="1350" b="0">
                <a:solidFill>
                  <a:srgbClr val="77747C"/>
                </a:solidFill>
                <a:latin typeface="Segoe UI"/>
              </a:rPr>
              <a:t>Ein Monatspreis, keine Extra-Abos, keine versteckten Werkzeuge. Wir richten ein, schulen dein Team und bleiben dran.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4F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0" y="0"/>
            <a:ext cx="12191695" cy="146304"/>
          </a:xfrm>
          <a:prstGeom prst="roundRect">
            <a:avLst>
              <a:gd name="adj" fmla="val 0"/>
            </a:avLst>
          </a:prstGeom>
          <a:solidFill>
            <a:srgbClr val="A827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84048"/>
            <a:ext cx="86868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>
                <a:solidFill>
                  <a:srgbClr val="17161A"/>
                </a:solidFill>
                <a:latin typeface="Georgia"/>
              </a:rPr>
              <a:t>So sieht deine Übersicht aus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024128"/>
            <a:ext cx="10515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77747C"/>
                </a:solidFill>
                <a:latin typeface="Segoe UI"/>
              </a:rPr>
              <a:t>Ampeln statt Tabellen: grün = alles gut, gelb = knapp, rot = leer. Dazu der KI-Vorschlag — übernehmen oder ablehnen, du entscheidest.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692640" y="411480"/>
            <a:ext cx="54864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2000" b="0">
                <a:solidFill>
                  <a:srgbClr val="17161A"/>
                </a:solidFill>
                <a:latin typeface="Segoe UI"/>
              </a:rPr>
              <a:t/>
            </a:r>
            <a:r>
              <a:rPr b="1" sz="2000">
                <a:solidFill>
                  <a:srgbClr val="17161A"/>
                </a:solidFill>
                <a:latin typeface="Georgia"/>
              </a:rPr>
              <a:t>FINELLI</a:t>
            </a:r>
            <a:r>
              <a:rPr sz="1100">
                <a:solidFill>
                  <a:srgbClr val="A8271C"/>
                </a:solidFill>
              </a:rPr>
              <a:t> ●</a:t>
            </a:r>
          </a:p>
        </p:txBody>
      </p:sp>
      <p:pic>
        <p:nvPicPr>
          <p:cNvPr id="6" name="Picture 5" descr="klick-beweis-app-2-uebersich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61556" y="1691640"/>
            <a:ext cx="3638407" cy="466344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48640" y="644652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0">
                <a:solidFill>
                  <a:srgbClr val="77747C"/>
                </a:solidFill>
                <a:latin typeface="Segoe UI"/>
              </a:rPr>
              <a:t>Echte Bildschirm-Fotos aus der lauffähigen Vorschau (Übungs-Modus, Beispieldaten) — am Termin klickst du selbst.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4F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0" y="0"/>
            <a:ext cx="12191695" cy="146304"/>
          </a:xfrm>
          <a:prstGeom prst="roundRect">
            <a:avLst>
              <a:gd name="adj" fmla="val 0"/>
            </a:avLst>
          </a:prstGeom>
          <a:solidFill>
            <a:srgbClr val="A827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84048"/>
            <a:ext cx="86868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>
                <a:solidFill>
                  <a:srgbClr val="17161A"/>
                </a:solidFill>
                <a:latin typeface="Georgia"/>
              </a:rPr>
              <a:t>Scannen — auch wenn das WLAN zickt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024128"/>
            <a:ext cx="10515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77747C"/>
                </a:solidFill>
                <a:latin typeface="Segoe UI"/>
              </a:rPr>
              <a:t>Karton auf, Handy dran, fertig. Fällt das Lager-WLAN aus, wartet die Buchung in der Warteschlange und kommt automatisch nach — nichts geht verloren.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692640" y="411480"/>
            <a:ext cx="54864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2000" b="0">
                <a:solidFill>
                  <a:srgbClr val="17161A"/>
                </a:solidFill>
                <a:latin typeface="Segoe UI"/>
              </a:rPr>
              <a:t/>
            </a:r>
            <a:r>
              <a:rPr b="1" sz="2000">
                <a:solidFill>
                  <a:srgbClr val="17161A"/>
                </a:solidFill>
                <a:latin typeface="Georgia"/>
              </a:rPr>
              <a:t>FINELLI</a:t>
            </a:r>
            <a:r>
              <a:rPr sz="1100">
                <a:solidFill>
                  <a:srgbClr val="A8271C"/>
                </a:solidFill>
              </a:rPr>
              <a:t> ●</a:t>
            </a:r>
          </a:p>
        </p:txBody>
      </p:sp>
      <p:pic>
        <p:nvPicPr>
          <p:cNvPr id="6" name="Picture 5" descr="klick-beweis-app-7-offline-warteschlan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963590" y="1691640"/>
            <a:ext cx="4234339" cy="466344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48640" y="644652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0">
                <a:solidFill>
                  <a:srgbClr val="77747C"/>
                </a:solidFill>
                <a:latin typeface="Segoe UI"/>
              </a:rPr>
              <a:t>Echte Bildschirm-Fotos aus der lauffähigen Vorschau (Übungs-Modus, Beispieldaten) — am Termin klickst du selbst.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4F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0" y="0"/>
            <a:ext cx="12191695" cy="146304"/>
          </a:xfrm>
          <a:prstGeom prst="roundRect">
            <a:avLst>
              <a:gd name="adj" fmla="val 0"/>
            </a:avLst>
          </a:prstGeom>
          <a:solidFill>
            <a:srgbClr val="A827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84048"/>
            <a:ext cx="86868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>
                <a:solidFill>
                  <a:srgbClr val="17161A"/>
                </a:solidFill>
                <a:latin typeface="Georgia"/>
              </a:rPr>
              <a:t>Frag Finelli — deine Zahlen auf Zuruf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024128"/>
            <a:ext cx="10515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77747C"/>
                </a:solidFill>
                <a:latin typeface="Segoe UI"/>
              </a:rPr>
              <a:t>Du fragst in normalen Worten («Wo liegt der Hoodie?»), die App antwortet aus deinen echten Zahlen. Sie antwortet nur — buchen tust du.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692640" y="411480"/>
            <a:ext cx="54864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2000" b="0">
                <a:solidFill>
                  <a:srgbClr val="17161A"/>
                </a:solidFill>
                <a:latin typeface="Segoe UI"/>
              </a:rPr>
              <a:t/>
            </a:r>
            <a:r>
              <a:rPr b="1" sz="2000">
                <a:solidFill>
                  <a:srgbClr val="17161A"/>
                </a:solidFill>
                <a:latin typeface="Georgia"/>
              </a:rPr>
              <a:t>FINELLI</a:t>
            </a:r>
            <a:r>
              <a:rPr sz="1100">
                <a:solidFill>
                  <a:srgbClr val="A8271C"/>
                </a:solidFill>
              </a:rPr>
              <a:t> ●</a:t>
            </a:r>
          </a:p>
        </p:txBody>
      </p:sp>
      <p:pic>
        <p:nvPicPr>
          <p:cNvPr id="6" name="Picture 5" descr="klick-beweis-app-8-frag-finelli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91815" y="1691640"/>
            <a:ext cx="5977890" cy="466344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48640" y="644652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0">
                <a:solidFill>
                  <a:srgbClr val="77747C"/>
                </a:solidFill>
                <a:latin typeface="Segoe UI"/>
              </a:rPr>
              <a:t>Echte Bildschirm-Fotos aus der lauffähigen Vorschau (Übungs-Modus, Beispieldaten) — am Termin klickst du selbst.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4F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0" y="0"/>
            <a:ext cx="12191695" cy="146304"/>
          </a:xfrm>
          <a:prstGeom prst="roundRect">
            <a:avLst>
              <a:gd name="adj" fmla="val 0"/>
            </a:avLst>
          </a:prstGeom>
          <a:solidFill>
            <a:srgbClr val="A827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84048"/>
            <a:ext cx="86868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>
                <a:solidFill>
                  <a:srgbClr val="17161A"/>
                </a:solidFill>
                <a:latin typeface="Georgia"/>
              </a:rPr>
              <a:t>So führen wir es ein — Schritt für Schritt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024128"/>
            <a:ext cx="10515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77747C"/>
                </a:solidFill>
                <a:latin typeface="Segoe UI"/>
              </a:rPr>
              <a:t>Kein Umbau, kein Stillstand im Laden.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692640" y="411480"/>
            <a:ext cx="54864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2000" b="0">
                <a:solidFill>
                  <a:srgbClr val="17161A"/>
                </a:solidFill>
                <a:latin typeface="Segoe UI"/>
              </a:rPr>
              <a:t/>
            </a:r>
            <a:r>
              <a:rPr b="1" sz="2000">
                <a:solidFill>
                  <a:srgbClr val="17161A"/>
                </a:solidFill>
                <a:latin typeface="Georgia"/>
              </a:rPr>
              <a:t>FINELLI</a:t>
            </a:r>
            <a:r>
              <a:rPr sz="1100">
                <a:solidFill>
                  <a:srgbClr val="A8271C"/>
                </a:solidFill>
              </a:rPr>
              <a:t> ●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920240"/>
            <a:ext cx="2606040" cy="3291840"/>
          </a:xfrm>
          <a:prstGeom prst="roundRect">
            <a:avLst>
              <a:gd name="adj" fmla="val 4500"/>
            </a:avLst>
          </a:prstGeom>
          <a:solidFill>
            <a:srgbClr val="FFFFFF"/>
          </a:solidFill>
          <a:ln w="15875">
            <a:solidFill>
              <a:srgbClr val="E5E3D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777240" y="2148840"/>
            <a:ext cx="457200" cy="457200"/>
          </a:xfrm>
          <a:prstGeom prst="roundRect">
            <a:avLst>
              <a:gd name="adj" fmla="val 4500"/>
            </a:avLst>
          </a:prstGeom>
          <a:solidFill>
            <a:srgbClr val="1716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2176272"/>
            <a:ext cx="45720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800" b="1">
                <a:solidFill>
                  <a:srgbClr val="FFFFFF"/>
                </a:solidFill>
                <a:latin typeface="Segoe UI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2788920"/>
            <a:ext cx="2148840" cy="2286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450" b="1">
                <a:solidFill>
                  <a:srgbClr val="17161A"/>
                </a:solidFill>
                <a:latin typeface="Segoe UI"/>
              </a:rPr>
              <a:t>Zählen &amp; Ordnen</a:t>
            </a:r>
          </a:p>
          <a:p>
            <a:pPr algn="l">
              <a:spcAft>
                <a:spcPts val="600"/>
              </a:spcAft>
            </a:pPr>
            <a:r>
              <a:rPr sz="1250" b="0">
                <a:solidFill>
                  <a:srgbClr val="77747C"/>
                </a:solidFill>
                <a:latin typeface="Segoe UI"/>
              </a:rPr>
              <a:t>Dein Team zählt einmal sauber durch — nach unserer klaren Anleitung, mit Lagerplatz-Etiketten. Wir zählen nicht selbst, wir leiten an.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410712" y="1920240"/>
            <a:ext cx="2606040" cy="3291840"/>
          </a:xfrm>
          <a:prstGeom prst="roundRect">
            <a:avLst>
              <a:gd name="adj" fmla="val 4500"/>
            </a:avLst>
          </a:prstGeom>
          <a:solidFill>
            <a:srgbClr val="FFFFFF"/>
          </a:solidFill>
          <a:ln w="15875">
            <a:solidFill>
              <a:srgbClr val="E5E3D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3639312" y="2148840"/>
            <a:ext cx="457200" cy="457200"/>
          </a:xfrm>
          <a:prstGeom prst="roundRect">
            <a:avLst>
              <a:gd name="adj" fmla="val 4500"/>
            </a:avLst>
          </a:prstGeom>
          <a:solidFill>
            <a:srgbClr val="1716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639312" y="2176272"/>
            <a:ext cx="45720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800" b="1">
                <a:solidFill>
                  <a:srgbClr val="FFFFFF"/>
                </a:solidFill>
                <a:latin typeface="Segoe UI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39312" y="2788920"/>
            <a:ext cx="2148840" cy="2286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450" b="1">
                <a:solidFill>
                  <a:srgbClr val="17161A"/>
                </a:solidFill>
                <a:latin typeface="Segoe UI"/>
              </a:rPr>
              <a:t>Einrichten &amp; Verbinden</a:t>
            </a:r>
          </a:p>
          <a:p>
            <a:pPr algn="l">
              <a:spcAft>
                <a:spcPts val="600"/>
              </a:spcAft>
            </a:pPr>
            <a:r>
              <a:rPr sz="1250" b="0">
                <a:solidFill>
                  <a:srgbClr val="77747C"/>
                </a:solidFill>
                <a:latin typeface="Segoe UI"/>
              </a:rPr>
              <a:t>Wir verbinden das Cockpit mit deinem Shopify. Shopify bleibt führend — es gibt kein zweites Bestandssystem.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72784" y="1920240"/>
            <a:ext cx="2606040" cy="3291840"/>
          </a:xfrm>
          <a:prstGeom prst="roundRect">
            <a:avLst>
              <a:gd name="adj" fmla="val 4500"/>
            </a:avLst>
          </a:prstGeom>
          <a:solidFill>
            <a:srgbClr val="FFFFFF"/>
          </a:solidFill>
          <a:ln w="15875">
            <a:solidFill>
              <a:srgbClr val="E5E3D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6501384" y="2148840"/>
            <a:ext cx="457200" cy="457200"/>
          </a:xfrm>
          <a:prstGeom prst="roundRect">
            <a:avLst>
              <a:gd name="adj" fmla="val 4500"/>
            </a:avLst>
          </a:prstGeom>
          <a:solidFill>
            <a:srgbClr val="1716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501384" y="2176272"/>
            <a:ext cx="45720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800" b="1">
                <a:solidFill>
                  <a:srgbClr val="FFFFFF"/>
                </a:solidFill>
                <a:latin typeface="Segoe UI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501384" y="2788920"/>
            <a:ext cx="2148840" cy="2286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450" b="1">
                <a:solidFill>
                  <a:srgbClr val="17161A"/>
                </a:solidFill>
                <a:latin typeface="Segoe UI"/>
              </a:rPr>
              <a:t>Team schulen</a:t>
            </a:r>
          </a:p>
          <a:p>
            <a:pPr algn="l">
              <a:spcAft>
                <a:spcPts val="600"/>
              </a:spcAft>
            </a:pPr>
            <a:r>
              <a:rPr sz="1250" b="0">
                <a:solidFill>
                  <a:srgbClr val="77747C"/>
                </a:solidFill>
                <a:latin typeface="Segoe UI"/>
              </a:rPr>
              <a:t>30 Minuten pro Person. Jeder bekommt seine eigene PIN — jeder Klick ist zuordenbar.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9134856" y="1920240"/>
            <a:ext cx="2606040" cy="3291840"/>
          </a:xfrm>
          <a:prstGeom prst="roundRect">
            <a:avLst>
              <a:gd name="adj" fmla="val 4500"/>
            </a:avLst>
          </a:prstGeom>
          <a:solidFill>
            <a:srgbClr val="FFFFFF"/>
          </a:solidFill>
          <a:ln w="15875">
            <a:solidFill>
              <a:srgbClr val="E5E3D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9363456" y="2148840"/>
            <a:ext cx="457200" cy="457200"/>
          </a:xfrm>
          <a:prstGeom prst="roundRect">
            <a:avLst>
              <a:gd name="adj" fmla="val 4500"/>
            </a:avLst>
          </a:prstGeom>
          <a:solidFill>
            <a:srgbClr val="1716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363456" y="2176272"/>
            <a:ext cx="45720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800" b="1">
                <a:solidFill>
                  <a:srgbClr val="FFFFFF"/>
                </a:solidFill>
                <a:latin typeface="Segoe UI"/>
              </a:rPr>
              <a:t>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363456" y="2788920"/>
            <a:ext cx="2148840" cy="2286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450" b="1">
                <a:solidFill>
                  <a:srgbClr val="17161A"/>
                </a:solidFill>
                <a:latin typeface="Segoe UI"/>
              </a:rPr>
              <a:t>Betrieb &amp; Betreuung</a:t>
            </a:r>
          </a:p>
          <a:p>
            <a:pPr algn="l">
              <a:spcAft>
                <a:spcPts val="600"/>
              </a:spcAft>
            </a:pPr>
            <a:r>
              <a:rPr sz="1250" b="0">
                <a:solidFill>
                  <a:srgbClr val="77747C"/>
                </a:solidFill>
                <a:latin typeface="Segoe UI"/>
              </a:rPr>
              <a:t>Jeden Montag der Wochen-Bericht in Klartext. Wir schauen regelmässig rein und bauen aus, wenn DU es willst.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48640" y="5669280"/>
            <a:ext cx="110642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250" b="1">
                <a:solidFill>
                  <a:srgbClr val="17161A"/>
                </a:solidFill>
                <a:latin typeface="Segoe UI"/>
              </a:rPr>
              <a:t>Du merkst vom Umbau nichts: Der Laden läuft an jedem einzelnen Tag normal weiter.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4F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0" y="0"/>
            <a:ext cx="12191695" cy="146304"/>
          </a:xfrm>
          <a:prstGeom prst="roundRect">
            <a:avLst>
              <a:gd name="adj" fmla="val 0"/>
            </a:avLst>
          </a:prstGeom>
          <a:solidFill>
            <a:srgbClr val="A827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84048"/>
            <a:ext cx="86868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>
                <a:solidFill>
                  <a:srgbClr val="17161A"/>
                </a:solidFill>
                <a:latin typeface="Georgia"/>
              </a:rPr>
              <a:t>Drei Modelle — du wählst das Tempo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024128"/>
            <a:ext cx="10515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77747C"/>
                </a:solidFill>
                <a:latin typeface="Segoe UI"/>
              </a:rPr>
              <a:t>Jedes Modell enthält alles aus dem kleineren. Wechseln geht jederzeit nach oben.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692640" y="411480"/>
            <a:ext cx="54864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2000" b="0">
                <a:solidFill>
                  <a:srgbClr val="17161A"/>
                </a:solidFill>
                <a:latin typeface="Segoe UI"/>
              </a:rPr>
              <a:t/>
            </a:r>
            <a:r>
              <a:rPr b="1" sz="2000">
                <a:solidFill>
                  <a:srgbClr val="17161A"/>
                </a:solidFill>
                <a:latin typeface="Georgia"/>
              </a:rPr>
              <a:t>FINELLI</a:t>
            </a:r>
            <a:r>
              <a:rPr sz="1100">
                <a:solidFill>
                  <a:srgbClr val="A8271C"/>
                </a:solidFill>
              </a:rPr>
              <a:t> ●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91640"/>
            <a:ext cx="3520440" cy="4297680"/>
          </a:xfrm>
          <a:prstGeom prst="roundRect">
            <a:avLst>
              <a:gd name="adj" fmla="val 4500"/>
            </a:avLst>
          </a:prstGeom>
          <a:solidFill>
            <a:srgbClr val="FFFFFF"/>
          </a:solidFill>
          <a:ln w="15875">
            <a:solidFill>
              <a:srgbClr val="E5E3D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1965960"/>
            <a:ext cx="2971800" cy="3840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700" b="1">
                <a:solidFill>
                  <a:srgbClr val="A8271C"/>
                </a:solidFill>
                <a:latin typeface="Georgia"/>
              </a:rPr>
              <a:t>Basic</a:t>
            </a:r>
          </a:p>
          <a:p>
            <a:pPr algn="l">
              <a:spcAft>
                <a:spcPts val="600"/>
              </a:spcAft>
            </a:pPr>
            <a:r>
              <a:rPr sz="2400" b="1">
                <a:solidFill>
                  <a:srgbClr val="17161A"/>
                </a:solidFill>
                <a:latin typeface="Segoe UI"/>
              </a:rPr>
              <a:t>CHF 1'250.– pro Monat</a:t>
            </a:r>
          </a:p>
          <a:p>
            <a:pPr algn="l">
              <a:spcAft>
                <a:spcPts val="600"/>
              </a:spcAft>
            </a:pPr>
            <a:r>
              <a:rPr sz="1300" b="0">
                <a:solidFill>
                  <a:srgbClr val="17161A"/>
                </a:solidFill>
                <a:latin typeface="Segoe UI"/>
              </a:rPr>
              <a:t>–  Wochen-Report</a:t>
            </a:r>
          </a:p>
          <a:p>
            <a:pPr algn="l">
              <a:spcAft>
                <a:spcPts val="600"/>
              </a:spcAft>
            </a:pPr>
            <a:r>
              <a:rPr sz="1300" b="0">
                <a:solidFill>
                  <a:srgbClr val="17161A"/>
                </a:solidFill>
                <a:latin typeface="Segoe UI"/>
              </a:rPr>
              <a:t>–  Bestell-Alarm</a:t>
            </a:r>
          </a:p>
          <a:p>
            <a:pPr algn="l">
              <a:spcAft>
                <a:spcPts val="600"/>
              </a:spcAft>
            </a:pPr>
            <a:r>
              <a:rPr sz="1300" b="0">
                <a:solidFill>
                  <a:srgbClr val="17161A"/>
                </a:solidFill>
                <a:latin typeface="Segoe UI"/>
              </a:rPr>
              <a:t>–  Lager-Automatik</a:t>
            </a:r>
          </a:p>
          <a:p>
            <a:pPr algn="l">
              <a:spcAft>
                <a:spcPts val="600"/>
              </a:spcAft>
            </a:pPr>
            <a:r>
              <a:rPr sz="1300" b="0">
                <a:solidFill>
                  <a:srgbClr val="17161A"/>
                </a:solidFill>
                <a:latin typeface="Segoe UI"/>
              </a:rPr>
              <a:t>–  Verpackungs-Software</a:t>
            </a:r>
          </a:p>
          <a:p>
            <a:pPr algn="l">
              <a:spcAft>
                <a:spcPts val="600"/>
              </a:spcAft>
            </a:pPr>
            <a:r>
              <a:rPr sz="1300" b="0">
                <a:solidFill>
                  <a:srgbClr val="17161A"/>
                </a:solidFill>
                <a:latin typeface="Segoe UI"/>
              </a:rPr>
              <a:t>–  Kassenabrechnung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89120" y="1691640"/>
            <a:ext cx="3520440" cy="4297680"/>
          </a:xfrm>
          <a:prstGeom prst="roundRect">
            <a:avLst>
              <a:gd name="adj" fmla="val 4500"/>
            </a:avLst>
          </a:prstGeom>
          <a:solidFill>
            <a:srgbClr val="1716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663440" y="1965960"/>
            <a:ext cx="2971800" cy="3840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700" b="1">
                <a:solidFill>
                  <a:srgbClr val="F0C9C3"/>
                </a:solidFill>
                <a:latin typeface="Georgia"/>
              </a:rPr>
              <a:t>Premium</a:t>
            </a:r>
          </a:p>
          <a:p>
            <a:pPr algn="l"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Segoe UI"/>
              </a:rPr>
              <a:t>CHF 2'200.– pro Monat</a:t>
            </a:r>
          </a:p>
          <a:p>
            <a:pPr algn="l">
              <a:spcAft>
                <a:spcPts val="600"/>
              </a:spcAft>
            </a:pPr>
            <a:r>
              <a:rPr sz="1150" b="0">
                <a:solidFill>
                  <a:srgbClr val="B7B4BD"/>
                </a:solidFill>
                <a:latin typeface="Segoe UI"/>
              </a:rPr>
              <a:t>alles aus Basic, plus:</a:t>
            </a:r>
          </a:p>
          <a:p>
            <a:pPr algn="l">
              <a:spcAft>
                <a:spcPts val="600"/>
              </a:spcAft>
            </a:pPr>
            <a:r>
              <a:rPr sz="1300" b="0">
                <a:solidFill>
                  <a:srgbClr val="FFFFFF"/>
                </a:solidFill>
                <a:latin typeface="Segoe UI"/>
              </a:rPr>
              <a:t>–  Shop-Regal-Zahlen</a:t>
            </a:r>
          </a:p>
          <a:p>
            <a:pPr algn="l">
              <a:spcAft>
                <a:spcPts val="600"/>
              </a:spcAft>
            </a:pPr>
            <a:r>
              <a:rPr sz="1300" b="0">
                <a:solidFill>
                  <a:srgbClr val="FFFFFF"/>
                </a:solidFill>
                <a:latin typeface="Segoe UI"/>
              </a:rPr>
              <a:t>–  Alter/Region-Zahlen</a:t>
            </a:r>
          </a:p>
          <a:p>
            <a:pPr algn="l">
              <a:spcAft>
                <a:spcPts val="600"/>
              </a:spcAft>
            </a:pPr>
            <a:r>
              <a:rPr sz="1300" b="0">
                <a:solidFill>
                  <a:srgbClr val="FFFFFF"/>
                </a:solidFill>
                <a:latin typeface="Segoe UI"/>
              </a:rPr>
              <a:t>–  Website-Auto-Verwaltung</a:t>
            </a:r>
          </a:p>
          <a:p>
            <a:pPr algn="l">
              <a:spcAft>
                <a:spcPts val="600"/>
              </a:spcAft>
            </a:pPr>
            <a:r>
              <a:rPr sz="1300" b="0">
                <a:solidFill>
                  <a:srgbClr val="FFFFFF"/>
                </a:solidFill>
                <a:latin typeface="Segoe UI"/>
              </a:rPr>
              <a:t>–  Shop passt sich dem Kunden an</a:t>
            </a:r>
          </a:p>
          <a:p>
            <a:pPr algn="l">
              <a:spcAft>
                <a:spcPts val="600"/>
              </a:spcAft>
            </a:pPr>
            <a:r>
              <a:rPr sz="1300" b="0">
                <a:solidFill>
                  <a:srgbClr val="FFFFFF"/>
                </a:solidFill>
                <a:latin typeface="Segoe UI"/>
              </a:rPr>
              <a:t>–  Website-Avatar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663440" y="1463040"/>
            <a:ext cx="1737360" cy="457200"/>
          </a:xfrm>
          <a:prstGeom prst="roundRect">
            <a:avLst>
              <a:gd name="adj" fmla="val 4500"/>
            </a:avLst>
          </a:prstGeom>
          <a:solidFill>
            <a:srgbClr val="A827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663440" y="1490472"/>
            <a:ext cx="173736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200" b="1">
                <a:solidFill>
                  <a:srgbClr val="FFFFFF"/>
                </a:solidFill>
                <a:latin typeface="Segoe UI"/>
              </a:rPr>
              <a:t>Unser Vorschlag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229600" y="1691640"/>
            <a:ext cx="3520440" cy="4297680"/>
          </a:xfrm>
          <a:prstGeom prst="roundRect">
            <a:avLst>
              <a:gd name="adj" fmla="val 4500"/>
            </a:avLst>
          </a:prstGeom>
          <a:solidFill>
            <a:srgbClr val="FFFFFF"/>
          </a:solidFill>
          <a:ln w="15875">
            <a:solidFill>
              <a:srgbClr val="E5E3D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503920" y="1965960"/>
            <a:ext cx="2971800" cy="3840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700" b="1">
                <a:solidFill>
                  <a:srgbClr val="A8271C"/>
                </a:solidFill>
                <a:latin typeface="Georgia"/>
              </a:rPr>
              <a:t>Max</a:t>
            </a:r>
          </a:p>
          <a:p>
            <a:pPr algn="l">
              <a:spcAft>
                <a:spcPts val="600"/>
              </a:spcAft>
            </a:pPr>
            <a:r>
              <a:rPr sz="2400" b="1">
                <a:solidFill>
                  <a:srgbClr val="17161A"/>
                </a:solidFill>
                <a:latin typeface="Segoe UI"/>
              </a:rPr>
              <a:t>CHF 5'000.– pro Monat</a:t>
            </a:r>
          </a:p>
          <a:p>
            <a:pPr algn="l">
              <a:spcAft>
                <a:spcPts val="600"/>
              </a:spcAft>
            </a:pPr>
            <a:r>
              <a:rPr sz="1150" b="0">
                <a:solidFill>
                  <a:srgbClr val="77747C"/>
                </a:solidFill>
                <a:latin typeface="Segoe UI"/>
              </a:rPr>
              <a:t>alles aus Premium, plus:</a:t>
            </a:r>
          </a:p>
          <a:p>
            <a:pPr algn="l">
              <a:spcAft>
                <a:spcPts val="600"/>
              </a:spcAft>
            </a:pPr>
            <a:r>
              <a:rPr sz="1300" b="0">
                <a:solidFill>
                  <a:srgbClr val="17161A"/>
                </a:solidFill>
                <a:latin typeface="Segoe UI"/>
              </a:rPr>
              <a:t>–  Trends</a:t>
            </a:r>
          </a:p>
          <a:p>
            <a:pPr algn="l">
              <a:spcAft>
                <a:spcPts val="600"/>
              </a:spcAft>
            </a:pPr>
            <a:r>
              <a:rPr sz="1300" b="0">
                <a:solidFill>
                  <a:srgbClr val="17161A"/>
                </a:solidFill>
                <a:latin typeface="Segoe UI"/>
              </a:rPr>
              <a:t>–  Custom Planer</a:t>
            </a:r>
          </a:p>
          <a:p>
            <a:pPr algn="l">
              <a:spcAft>
                <a:spcPts val="600"/>
              </a:spcAft>
            </a:pPr>
            <a:r>
              <a:rPr sz="1300" b="0">
                <a:solidFill>
                  <a:srgbClr val="17161A"/>
                </a:solidFill>
                <a:latin typeface="Segoe UI"/>
              </a:rPr>
              <a:t>–  Ads-Schalter</a:t>
            </a:r>
          </a:p>
          <a:p>
            <a:pPr algn="l">
              <a:spcAft>
                <a:spcPts val="600"/>
              </a:spcAft>
            </a:pPr>
            <a:r>
              <a:rPr sz="1300" b="0">
                <a:solidFill>
                  <a:srgbClr val="17161A"/>
                </a:solidFill>
                <a:latin typeface="Segoe UI"/>
              </a:rPr>
              <a:t>–  Marketing automatisiert</a:t>
            </a:r>
          </a:p>
          <a:p>
            <a:pPr algn="l">
              <a:spcAft>
                <a:spcPts val="600"/>
              </a:spcAft>
            </a:pPr>
            <a:r>
              <a:rPr sz="1300" b="0">
                <a:solidFill>
                  <a:srgbClr val="17161A"/>
                </a:solidFill>
                <a:latin typeface="Segoe UI"/>
              </a:rPr>
              <a:t>–  Treuhand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6172200"/>
            <a:ext cx="110642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150" b="0">
                <a:solidFill>
                  <a:srgbClr val="77747C"/>
                </a:solidFill>
                <a:latin typeface="Segoe UI"/>
              </a:rPr>
              <a:t>Preise gemäss Absprache · Details, Laufzeit und Garantien regelt der Vertrag — kein Kleingedrucktes am Termin.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4F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0" y="0"/>
            <a:ext cx="12191695" cy="146304"/>
          </a:xfrm>
          <a:prstGeom prst="roundRect">
            <a:avLst>
              <a:gd name="adj" fmla="val 0"/>
            </a:avLst>
          </a:prstGeom>
          <a:solidFill>
            <a:srgbClr val="A827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84048"/>
            <a:ext cx="86868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>
                <a:solidFill>
                  <a:srgbClr val="17161A"/>
                </a:solidFill>
                <a:latin typeface="Georgia"/>
              </a:rPr>
              <a:t>Basic — was das für dich heisst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024128"/>
            <a:ext cx="10515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77747C"/>
                </a:solidFill>
                <a:latin typeface="Segoe UI"/>
              </a:rPr>
              <a:t>CHF 1'250.– pro Monat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692640" y="411480"/>
            <a:ext cx="54864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2000" b="0">
                <a:solidFill>
                  <a:srgbClr val="17161A"/>
                </a:solidFill>
                <a:latin typeface="Segoe UI"/>
              </a:rPr>
              <a:t/>
            </a:r>
            <a:r>
              <a:rPr b="1" sz="2000">
                <a:solidFill>
                  <a:srgbClr val="17161A"/>
                </a:solidFill>
                <a:latin typeface="Georgia"/>
              </a:rPr>
              <a:t>FINELLI</a:t>
            </a:r>
            <a:r>
              <a:rPr sz="1100">
                <a:solidFill>
                  <a:srgbClr val="A8271C"/>
                </a:solidFill>
              </a:rPr>
              <a:t> ●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737360"/>
            <a:ext cx="329184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>
                <a:solidFill>
                  <a:srgbClr val="A8271C"/>
                </a:solidFill>
                <a:latin typeface="Segoe UI"/>
              </a:rPr>
              <a:t>Wochen-Report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0" y="1737360"/>
            <a:ext cx="7498079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17161A"/>
                </a:solidFill>
                <a:latin typeface="Segoe UI"/>
              </a:rPr>
              <a:t>Jeden Montag eine Seite in Klartext: was lief, was ist knapp, was kommt — kein Excel nötig.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606040"/>
            <a:ext cx="329184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>
                <a:solidFill>
                  <a:srgbClr val="A8271C"/>
                </a:solidFill>
                <a:latin typeface="Segoe UI"/>
              </a:rPr>
              <a:t>Bestell-Alarm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114800" y="2606040"/>
            <a:ext cx="7498079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17161A"/>
                </a:solidFill>
                <a:latin typeface="Segoe UI"/>
              </a:rPr>
              <a:t>Die App meldet sich, BEVOR ein Artikel ausgeht — mit Vorschlag, wie viel du nachbestellen könntest.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3474720"/>
            <a:ext cx="329184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>
                <a:solidFill>
                  <a:srgbClr val="A8271C"/>
                </a:solidFill>
                <a:latin typeface="Segoe UI"/>
              </a:rPr>
              <a:t>Lager-Automatik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114800" y="3474720"/>
            <a:ext cx="7498079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17161A"/>
                </a:solidFill>
                <a:latin typeface="Segoe UI"/>
              </a:rPr>
              <a:t>Beide Standorte immer aktuell. Umlagern in zwei Klicks — das System führt Buch, dein Team trägt nur rüber.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4343400"/>
            <a:ext cx="329184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>
                <a:solidFill>
                  <a:srgbClr val="A8271C"/>
                </a:solidFill>
                <a:latin typeface="Segoe UI"/>
              </a:rPr>
              <a:t>Verpackungs-Software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114800" y="4343400"/>
            <a:ext cx="7498079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17161A"/>
                </a:solidFill>
                <a:latin typeface="Segoe UI"/>
              </a:rPr>
              <a:t>Pickzettel mit Laufweg statt Suchweg: Regal und Fach stehen drauf, die Post-Etikette kommt automatisch.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5212080"/>
            <a:ext cx="329184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>
                <a:solidFill>
                  <a:srgbClr val="A8271C"/>
                </a:solidFill>
                <a:latin typeface="Segoe UI"/>
              </a:rPr>
              <a:t>Kassenabrechnung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114800" y="5212080"/>
            <a:ext cx="7498079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17161A"/>
                </a:solidFill>
                <a:latin typeface="Segoe UI"/>
              </a:rPr>
              <a:t>Der Tagesabschluss der Ladenkasse wird automatisch zusammengeführt — kein Nachtippen von Hand.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4F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0" y="0"/>
            <a:ext cx="12191695" cy="146304"/>
          </a:xfrm>
          <a:prstGeom prst="roundRect">
            <a:avLst>
              <a:gd name="adj" fmla="val 0"/>
            </a:avLst>
          </a:prstGeom>
          <a:solidFill>
            <a:srgbClr val="A827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84048"/>
            <a:ext cx="86868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>
                <a:solidFill>
                  <a:srgbClr val="17161A"/>
                </a:solidFill>
                <a:latin typeface="Georgia"/>
              </a:rPr>
              <a:t>Premium — was das für dich heisst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024128"/>
            <a:ext cx="10515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77747C"/>
                </a:solidFill>
                <a:latin typeface="Segoe UI"/>
              </a:rPr>
              <a:t>CHF 2'200.– pro Monat  ·  alles aus Basic, plus: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692640" y="411480"/>
            <a:ext cx="54864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2000" b="0">
                <a:solidFill>
                  <a:srgbClr val="17161A"/>
                </a:solidFill>
                <a:latin typeface="Segoe UI"/>
              </a:rPr>
              <a:t/>
            </a:r>
            <a:r>
              <a:rPr b="1" sz="2000">
                <a:solidFill>
                  <a:srgbClr val="17161A"/>
                </a:solidFill>
                <a:latin typeface="Georgia"/>
              </a:rPr>
              <a:t>FINELLI</a:t>
            </a:r>
            <a:r>
              <a:rPr sz="1100">
                <a:solidFill>
                  <a:srgbClr val="A8271C"/>
                </a:solidFill>
              </a:rPr>
              <a:t> ●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737360"/>
            <a:ext cx="329184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>
                <a:solidFill>
                  <a:srgbClr val="A8271C"/>
                </a:solidFill>
                <a:latin typeface="Segoe UI"/>
              </a:rPr>
              <a:t>Shop-Regal-Zahlen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0" y="1737360"/>
            <a:ext cx="7498079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17161A"/>
                </a:solidFill>
                <a:latin typeface="Segoe UI"/>
              </a:rPr>
              <a:t>Welche Produkte und Regale verkaufen — und welche liegen bleiben. Du siehst es, statt es zu raten.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606040"/>
            <a:ext cx="329184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>
                <a:solidFill>
                  <a:srgbClr val="A8271C"/>
                </a:solidFill>
                <a:latin typeface="Segoe UI"/>
              </a:rPr>
              <a:t>Alter/Region-Zahlen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114800" y="2606040"/>
            <a:ext cx="7498079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17161A"/>
                </a:solidFill>
                <a:latin typeface="Segoe UI"/>
              </a:rPr>
              <a:t>Wer kauft bei dir: Alter und Region deiner Kundschaft auf einen Blick — für bessere Entscheide bei Drops.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3474720"/>
            <a:ext cx="329184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>
                <a:solidFill>
                  <a:srgbClr val="A8271C"/>
                </a:solidFill>
                <a:latin typeface="Segoe UI"/>
              </a:rPr>
              <a:t>Website-Auto-Verwaltung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114800" y="3474720"/>
            <a:ext cx="7498079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17161A"/>
                </a:solidFill>
                <a:latin typeface="Segoe UI"/>
              </a:rPr>
              <a:t>Produkte, Bestände und Texte auf deiner Website pflegen sich weitgehend selbst — du gibst frei.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4343400"/>
            <a:ext cx="329184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>
                <a:solidFill>
                  <a:srgbClr val="A8271C"/>
                </a:solidFill>
                <a:latin typeface="Segoe UI"/>
              </a:rPr>
              <a:t>Shop passt sich dem Kunden an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114800" y="4343400"/>
            <a:ext cx="7498079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17161A"/>
                </a:solidFill>
                <a:latin typeface="Segoe UI"/>
              </a:rPr>
              <a:t>Deine Website zeigt Besuchern zuerst, was sie am ehesten interessiert — wie ein guter Verkäufer im Laden.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5212080"/>
            <a:ext cx="329184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>
                <a:solidFill>
                  <a:srgbClr val="A8271C"/>
                </a:solidFill>
                <a:latin typeface="Segoe UI"/>
              </a:rPr>
              <a:t>Website-Avatar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114800" y="5212080"/>
            <a:ext cx="7498079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17161A"/>
                </a:solidFill>
                <a:latin typeface="Segoe UI"/>
              </a:rPr>
              <a:t>Ein digitaler Berater beantwortet Kundenfragen auf der Website — rund um die Uhr, in deinem Ton.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" y="6172200"/>
            <a:ext cx="105156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250" b="0">
                <a:solidFill>
                  <a:srgbClr val="77747C"/>
                </a:solidFill>
                <a:latin typeface="Segoe UI"/>
              </a:rPr>
              <a:t>Enthält alles aus Basic.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4F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0" y="0"/>
            <a:ext cx="12191695" cy="146304"/>
          </a:xfrm>
          <a:prstGeom prst="roundRect">
            <a:avLst>
              <a:gd name="adj" fmla="val 0"/>
            </a:avLst>
          </a:prstGeom>
          <a:solidFill>
            <a:srgbClr val="A827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84048"/>
            <a:ext cx="86868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>
                <a:solidFill>
                  <a:srgbClr val="17161A"/>
                </a:solidFill>
                <a:latin typeface="Georgia"/>
              </a:rPr>
              <a:t>Max — was das für dich heisst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024128"/>
            <a:ext cx="10515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77747C"/>
                </a:solidFill>
                <a:latin typeface="Segoe UI"/>
              </a:rPr>
              <a:t>CHF 5'000.– pro Monat  ·  alles aus Premium, plus: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692640" y="411480"/>
            <a:ext cx="54864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2000" b="0">
                <a:solidFill>
                  <a:srgbClr val="17161A"/>
                </a:solidFill>
                <a:latin typeface="Segoe UI"/>
              </a:rPr>
              <a:t/>
            </a:r>
            <a:r>
              <a:rPr b="1" sz="2000">
                <a:solidFill>
                  <a:srgbClr val="17161A"/>
                </a:solidFill>
                <a:latin typeface="Georgia"/>
              </a:rPr>
              <a:t>FINELLI</a:t>
            </a:r>
            <a:r>
              <a:rPr sz="1100">
                <a:solidFill>
                  <a:srgbClr val="A8271C"/>
                </a:solidFill>
              </a:rPr>
              <a:t> ●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737360"/>
            <a:ext cx="329184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>
                <a:solidFill>
                  <a:srgbClr val="A8271C"/>
                </a:solidFill>
                <a:latin typeface="Segoe UI"/>
              </a:rPr>
              <a:t>Trends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0" y="1737360"/>
            <a:ext cx="7498079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17161A"/>
                </a:solidFill>
                <a:latin typeface="Segoe UI"/>
              </a:rPr>
              <a:t>Was in Streetwear gerade zieht — Woche für Woche aufbereitet, bevor es alle wissen.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606040"/>
            <a:ext cx="329184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>
                <a:solidFill>
                  <a:srgbClr val="A8271C"/>
                </a:solidFill>
                <a:latin typeface="Segoe UI"/>
              </a:rPr>
              <a:t>Custom Planer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114800" y="2606040"/>
            <a:ext cx="7498079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17161A"/>
                </a:solidFill>
                <a:latin typeface="Segoe UI"/>
              </a:rPr>
              <a:t>Planung für Drops, Nachschub und Saison — auf deine Marke zugeschnitten, nicht von der Stange.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3474720"/>
            <a:ext cx="329184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>
                <a:solidFill>
                  <a:srgbClr val="A8271C"/>
                </a:solidFill>
                <a:latin typeface="Segoe UI"/>
              </a:rPr>
              <a:t>Ads-Schalter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114800" y="3474720"/>
            <a:ext cx="7498079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17161A"/>
                </a:solidFill>
                <a:latin typeface="Segoe UI"/>
              </a:rPr>
              <a:t>Werbung ein- und ausschalten wie einen Lichtschalter — mit klarem Blick auf Kosten und Wirkung.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4343400"/>
            <a:ext cx="329184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>
                <a:solidFill>
                  <a:srgbClr val="A8271C"/>
                </a:solidFill>
                <a:latin typeface="Segoe UI"/>
              </a:rPr>
              <a:t>Marketing automatisiert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114800" y="4343400"/>
            <a:ext cx="7498079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17161A"/>
                </a:solidFill>
                <a:latin typeface="Segoe UI"/>
              </a:rPr>
              <a:t>Newsletter und Posts entstehen automatisch als Entwurf — du gibst nur noch frei.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5212080"/>
            <a:ext cx="329184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>
                <a:solidFill>
                  <a:srgbClr val="A8271C"/>
                </a:solidFill>
                <a:latin typeface="Segoe UI"/>
              </a:rPr>
              <a:t>Treuhand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114800" y="5212080"/>
            <a:ext cx="7498079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17161A"/>
                </a:solidFill>
                <a:latin typeface="Segoe UI"/>
              </a:rPr>
              <a:t>Die Zahlen liegen fix fertig für den Treuhänder bereit — weniger Honorar-Stunden am Jahresende.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" y="6172200"/>
            <a:ext cx="105156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250" b="0">
                <a:solidFill>
                  <a:srgbClr val="77747C"/>
                </a:solidFill>
                <a:latin typeface="Segoe UI"/>
              </a:rPr>
              <a:t>Enthält alles aus Basic und Premium.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4F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0" y="0"/>
            <a:ext cx="12191695" cy="146304"/>
          </a:xfrm>
          <a:prstGeom prst="roundRect">
            <a:avLst>
              <a:gd name="adj" fmla="val 0"/>
            </a:avLst>
          </a:prstGeom>
          <a:solidFill>
            <a:srgbClr val="A827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84048"/>
            <a:ext cx="86868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>
                <a:solidFill>
                  <a:srgbClr val="17161A"/>
                </a:solidFill>
                <a:latin typeface="Georgia"/>
              </a:rPr>
              <a:t>Wer macht was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024128"/>
            <a:ext cx="10515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77747C"/>
                </a:solidFill>
                <a:latin typeface="Segoe UI"/>
              </a:rPr>
              <a:t>Für dich als Chef: fast nichts.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692640" y="411480"/>
            <a:ext cx="54864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2000" b="0">
                <a:solidFill>
                  <a:srgbClr val="17161A"/>
                </a:solidFill>
                <a:latin typeface="Segoe UI"/>
              </a:rPr>
              <a:t/>
            </a:r>
            <a:r>
              <a:rPr b="1" sz="2000">
                <a:solidFill>
                  <a:srgbClr val="17161A"/>
                </a:solidFill>
                <a:latin typeface="Georgia"/>
              </a:rPr>
              <a:t>FINELLI</a:t>
            </a:r>
            <a:r>
              <a:rPr sz="1100">
                <a:solidFill>
                  <a:srgbClr val="A8271C"/>
                </a:solidFill>
              </a:rPr>
              <a:t> ●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828800"/>
            <a:ext cx="3520440" cy="3291840"/>
          </a:xfrm>
          <a:prstGeom prst="roundRect">
            <a:avLst>
              <a:gd name="adj" fmla="val 4500"/>
            </a:avLst>
          </a:prstGeom>
          <a:solidFill>
            <a:srgbClr val="FFFFFF"/>
          </a:solidFill>
          <a:ln w="15875">
            <a:solidFill>
              <a:srgbClr val="E5E3D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2103120"/>
            <a:ext cx="2971800" cy="2743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>
                <a:solidFill>
                  <a:srgbClr val="A8271C"/>
                </a:solidFill>
                <a:latin typeface="Segoe UI"/>
              </a:rPr>
              <a:t>WIR</a:t>
            </a:r>
          </a:p>
          <a:p>
            <a:pPr algn="l">
              <a:spcAft>
                <a:spcPts val="600"/>
              </a:spcAft>
            </a:pPr>
            <a:r>
              <a:rPr sz="1400" b="0">
                <a:solidFill>
                  <a:srgbClr val="17161A"/>
                </a:solidFill>
                <a:latin typeface="Segoe UI"/>
              </a:rPr>
              <a:t>Einrichten, verbinden, schulen, betreuen. Wir bauen es auf und bleiben dran — Monat für Monat.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89120" y="1828800"/>
            <a:ext cx="3520440" cy="3291840"/>
          </a:xfrm>
          <a:prstGeom prst="roundRect">
            <a:avLst>
              <a:gd name="adj" fmla="val 4500"/>
            </a:avLst>
          </a:prstGeom>
          <a:solidFill>
            <a:srgbClr val="FFFFFF"/>
          </a:solidFill>
          <a:ln w="15875">
            <a:solidFill>
              <a:srgbClr val="E5E3D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663440" y="2103120"/>
            <a:ext cx="2971800" cy="2743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>
                <a:solidFill>
                  <a:srgbClr val="A8271C"/>
                </a:solidFill>
                <a:latin typeface="Segoe UI"/>
              </a:rPr>
              <a:t>DEIN TEAM</a:t>
            </a:r>
          </a:p>
          <a:p>
            <a:pPr algn="l">
              <a:spcAft>
                <a:spcPts val="600"/>
              </a:spcAft>
            </a:pPr>
            <a:r>
              <a:rPr sz="1400" b="0">
                <a:solidFill>
                  <a:srgbClr val="17161A"/>
                </a:solidFill>
                <a:latin typeface="Segoe UI"/>
              </a:rPr>
              <a:t>Einmalige Zähl- und Einräum-Arbeit nach klarer Anleitung. Danach: scannen statt suchen.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229600" y="1828800"/>
            <a:ext cx="3520440" cy="3291840"/>
          </a:xfrm>
          <a:prstGeom prst="roundRect">
            <a:avLst>
              <a:gd name="adj" fmla="val 4500"/>
            </a:avLst>
          </a:prstGeom>
          <a:solidFill>
            <a:srgbClr val="FFFFFF"/>
          </a:solidFill>
          <a:ln w="15875">
            <a:solidFill>
              <a:srgbClr val="E5E3D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503920" y="2103120"/>
            <a:ext cx="2971800" cy="2743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>
                <a:solidFill>
                  <a:srgbClr val="A8271C"/>
                </a:solidFill>
                <a:latin typeface="Segoe UI"/>
              </a:rPr>
              <a:t>DU</a:t>
            </a:r>
          </a:p>
          <a:p>
            <a:pPr algn="l">
              <a:spcAft>
                <a:spcPts val="600"/>
              </a:spcAft>
            </a:pPr>
            <a:r>
              <a:rPr sz="1400" b="0">
                <a:solidFill>
                  <a:srgbClr val="17161A"/>
                </a:solidFill>
                <a:latin typeface="Segoe UI"/>
              </a:rPr>
              <a:t>Entscheiden. Sonst nichts. Jeder Vorschlag der KI wartet auf dein Ja.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5577840"/>
            <a:ext cx="110642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1">
                <a:solidFill>
                  <a:srgbClr val="17161A"/>
                </a:solidFill>
                <a:latin typeface="Segoe UI"/>
              </a:rPr>
              <a:t>Keine KI bucht deinen Bestand. Jede Buchung macht ein Mensch.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716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97280" y="1463040"/>
            <a:ext cx="1005840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4000" b="1">
                <a:solidFill>
                  <a:srgbClr val="FFFFFF"/>
                </a:solidFill>
                <a:latin typeface="Georgia"/>
              </a:rPr>
              <a:t>Ohne Druck.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97280" y="2834640"/>
            <a:ext cx="987552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700" b="0">
                <a:solidFill>
                  <a:srgbClr val="D8D6DC"/>
                </a:solidFill>
                <a:latin typeface="Segoe UI"/>
              </a:rPr>
              <a:t>–  Du hast die Vorschau selbst geklickt — das ist keine Folie, das läuft.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" y="3520440"/>
            <a:ext cx="987552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700" b="0">
                <a:solidFill>
                  <a:srgbClr val="D8D6DC"/>
                </a:solidFill>
                <a:latin typeface="Segoe UI"/>
              </a:rPr>
              <a:t>–  Du wählst das Modell. Hochwechseln geht jederzeit, wenn es sich beweist.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" y="4206240"/>
            <a:ext cx="987552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700" b="0">
                <a:solidFill>
                  <a:srgbClr val="D8D6DC"/>
                </a:solidFill>
                <a:latin typeface="Segoe UI"/>
              </a:rPr>
              <a:t>–  Nächster Schritt: deine offenen Fragen — heute, hier, in Ruhe.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" y="5852160"/>
            <a:ext cx="987552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9A97A0"/>
                </a:solidFill>
                <a:latin typeface="Segoe UI"/>
              </a:rPr>
              <a:t>Finelli Studios AG · Vor-Ort-Termin 22. Juli 2026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