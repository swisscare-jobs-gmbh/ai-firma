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729984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9456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b="1" sz="5400">
                <a:solidFill>
                  <a:srgbClr val="FFFFFF"/>
                </a:solidFill>
                <a:latin typeface="Georgia"/>
              </a:rPr>
              <a:t>FINELLI</a:t>
            </a:r>
            <a:r>
              <a:rPr sz="30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474720"/>
            <a:ext cx="96012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>
                <a:solidFill>
                  <a:srgbClr val="D8D6DC"/>
                </a:solidFill>
                <a:latin typeface="Georgia"/>
              </a:rPr>
              <a:t>Dein Lager. Dein Shop. Ein Cockpit.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669280"/>
            <a:ext cx="9144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Finelli Studios AG · Vor-Ort-Termin   ·   22. Juli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Wo du heute stehst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Drei Situationen aus deinem Alltag. Keine davon ist deine Schuld.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Der Verkauf, der platzt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Online verkauft, im Regal leer. Du musst absagen und </a:t>
            </a:r>
            <a:r>
              <a:rPr sz="1300" b="1">
                <a:solidFill>
                  <a:srgbClr val="17161A"/>
                </a:solidFill>
                <a:latin typeface="Segoe UI"/>
              </a:rPr>
              <a:t>verlierst den Kunden.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54296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Die Standort-Frage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Grösse M in Zürich ausverkauft. Ob Embrach noch eine hat, </a:t>
            </a:r>
            <a:r>
              <a:rPr sz="1300" b="1">
                <a:solidFill>
                  <a:srgbClr val="17161A"/>
                </a:solidFill>
                <a:latin typeface="Segoe UI"/>
              </a:rPr>
              <a:t>sieht heute niemand.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64592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305409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Die Kasse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17161A"/>
                </a:solidFill>
                <a:latin typeface="Segoe UI"/>
              </a:rPr>
              <a:t>Ladenverkäufe werden von Hand im Onlineshop nachgetragen. </a:t>
            </a:r>
            <a:r>
              <a:rPr sz="1300" b="1">
                <a:solidFill>
                  <a:srgbClr val="17161A"/>
                </a:solidFill>
                <a:latin typeface="Segoe UI"/>
              </a:rPr>
              <a:t>Das kostet Zeit und stimmt oft nicht.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297680"/>
            <a:ext cx="11091672" cy="192024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526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0C9C3"/>
                </a:solidFill>
                <a:latin typeface="Segoe UI"/>
              </a:rPr>
              <a:t>AB SOFORT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Der Bestand stimmt. Jeder Verkauf hält.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Beide Standorte auf einen Blick.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5029200"/>
            <a:ext cx="109728" cy="6858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5029200"/>
            <a:ext cx="31546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Die Kasse rechnet sich selbst ab.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Zusagen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Bevor wir über Modelle reden.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04672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Kein Unterbruch.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Die Einführung läuft im Hintergrund. Laden und Onlineshop verkaufen jeden Tag normal weiter.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54296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4296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Jede Buchung macht ein Mensch.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Die KI schlägt vor und rechnet. Entscheiden tust du.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47888" y="1828800"/>
            <a:ext cx="356616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03920" y="2103120"/>
            <a:ext cx="502920" cy="502920"/>
          </a:xfrm>
          <a:prstGeom prst="roundRect">
            <a:avLst>
              <a:gd name="adj" fmla="val 6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139696"/>
            <a:ext cx="502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834640"/>
            <a:ext cx="3054096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7161A"/>
                </a:solidFill>
                <a:latin typeface="Georgia"/>
              </a:rPr>
              <a:t>Ein Preis. Alles drin.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Keine Extra-Abos. Einrichtung, Schulung und Betreuung sind inklusive.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Acht Abteilungen. Oder ein System.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So läuft dieselbe Arbeit in einer klassischen Firma.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4937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7161A"/>
                </a:solidFill>
                <a:latin typeface="Segoe UI"/>
              </a:rPr>
              <a:t>Klassisch braucht das eigene Abteilungen und viele Leute: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Produkt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108960" y="2148840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2148840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Marketing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Verkauf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3090672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08960" y="3090672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Kundendienst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IT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4032504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08960" y="4032504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Personal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Finanzen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08960" y="4974336"/>
            <a:ext cx="2377440" cy="777240"/>
          </a:xfrm>
          <a:prstGeom prst="roundRect">
            <a:avLst>
              <a:gd name="adj" fmla="val 6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0" y="4974336"/>
            <a:ext cx="237744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Einkauf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806440" y="3657600"/>
            <a:ext cx="914400" cy="640080"/>
          </a:xfrm>
          <a:prstGeom prst="rightArrow">
            <a:avLst/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040880" y="2148840"/>
            <a:ext cx="4572000" cy="3602736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2651760"/>
            <a:ext cx="384048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Georgia"/>
              </a:rPr>
              <a:t>Bei dir: ein System.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450" b="0">
                <a:solidFill>
                  <a:srgbClr val="D8D6DC"/>
                </a:solidFill>
                <a:latin typeface="Segoe UI"/>
              </a:rPr>
              <a:t>Das Cockpit übernimmt die Verwaltungsarbeit dieser Abteilungen. </a:t>
            </a:r>
            <a:r>
              <a:rPr sz="1450" b="1">
                <a:solidFill>
                  <a:srgbClr val="D8D6DC"/>
                </a:solidFill>
                <a:latin typeface="Segoe UI"/>
              </a:rPr>
              <a:t>Du führst die Marke. Dein Team verkauft.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Kein Stellenabbau bei dir: Es geht um Arbeit, die heute liegen bleibt oder dich Abende kostet.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arbeitet es zusammen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Operating System verbindet deine Systeme mit deinen Menschen.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926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SYSTEME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19456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Onlineshop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6324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Ladenkasse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3192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93192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Website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00600"/>
            <a:ext cx="274320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800600"/>
            <a:ext cx="27432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>
                <a:solidFill>
                  <a:srgbClr val="17161A"/>
                </a:solidFill>
                <a:latin typeface="Segoe UI"/>
              </a:rPr>
              <a:t>Post / Versand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20440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26280" y="2468880"/>
            <a:ext cx="3200400" cy="2377440"/>
          </a:xfrm>
          <a:prstGeom prst="roundRect">
            <a:avLst>
              <a:gd name="adj" fmla="val 1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06324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Segoe UI"/>
              </a:rPr>
              <a:t>OPERATING SYSTEM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F0C9C3"/>
                </a:solidFill>
                <a:latin typeface="Segoe UI"/>
              </a:rPr>
              <a:t>das Finelli Cockpit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55279" y="3383280"/>
            <a:ext cx="777240" cy="502920"/>
          </a:xfrm>
          <a:prstGeom prst="rightArrow">
            <a:avLst/>
          </a:prstGeom>
          <a:solidFill>
            <a:srgbClr val="777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17373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77747C"/>
                </a:solidFill>
                <a:latin typeface="Segoe UI"/>
              </a:rPr>
              <a:t>DEINE MENSCHEN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20" y="219456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235915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entscheidest und gibst frei.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3611880"/>
            <a:ext cx="2743200" cy="1188720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3776472"/>
            <a:ext cx="2468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scannt und verkauft.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17161A"/>
                </a:solidFill>
                <a:latin typeface="Segoe UI"/>
              </a:rPr>
              <a:t>Wir richten dieses System bei dir ein und betreuen es. Monat für Monat.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Die 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Ein Blick genügt.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6464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2F7D43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gut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0176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70176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B9861A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70176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knapp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13888" y="2286000"/>
            <a:ext cx="688848" cy="6583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13888" y="2322576"/>
            <a:ext cx="688848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700" b="1">
                <a:solidFill>
                  <a:srgbClr val="A8271C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888" y="2670048"/>
            <a:ext cx="688848" cy="2286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750" b="0">
                <a:solidFill>
                  <a:srgbClr val="77747C"/>
                </a:solidFill>
                <a:latin typeface="Segoe UI"/>
              </a:rPr>
              <a:t>leer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26464" y="3090672"/>
            <a:ext cx="2176272" cy="777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17904" y="31455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Heute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401568"/>
            <a:ext cx="1993392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17161A"/>
                </a:solidFill>
                <a:latin typeface="Segoe UI"/>
              </a:rPr>
              <a:t>14</a:t>
            </a:r>
            <a:r>
              <a:rPr sz="900" b="0">
                <a:solidFill>
                  <a:srgbClr val="17161A"/>
                </a:solidFill>
                <a:latin typeface="Segoe UI"/>
              </a:rPr>
              <a:t> Verkäufe   ·   </a:t>
            </a:r>
            <a:r>
              <a:rPr sz="900" b="1">
                <a:solidFill>
                  <a:srgbClr val="17161A"/>
                </a:solidFill>
                <a:latin typeface="Segoe UI"/>
              </a:rPr>
              <a:t>3</a:t>
            </a:r>
            <a:r>
              <a:rPr sz="900" b="0">
                <a:solidFill>
                  <a:srgbClr val="17161A"/>
                </a:solidFill>
                <a:latin typeface="Segoe UI"/>
              </a:rPr>
              <a:t> Bestellungen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426464" y="4005072"/>
            <a:ext cx="217627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A827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7904" y="4059936"/>
            <a:ext cx="1993392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1">
                <a:solidFill>
                  <a:srgbClr val="A8271C"/>
                </a:solidFill>
                <a:latin typeface="Segoe UI"/>
              </a:rPr>
              <a:t>KI-Vorschlag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7904" y="4334256"/>
            <a:ext cx="1993392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Hoodie M in Zürich leer. 12 nachbestellen?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17904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7904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1">
                <a:solidFill>
                  <a:srgbClr val="FFFFFF"/>
                </a:solidFill>
                <a:latin typeface="Segoe UI"/>
              </a:rPr>
              <a:t>Übernehmen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560320" y="4937760"/>
            <a:ext cx="950976" cy="329184"/>
          </a:xfrm>
          <a:prstGeom prst="roundRect">
            <a:avLst>
              <a:gd name="adj" fmla="val 25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60320" y="4937760"/>
            <a:ext cx="950976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800" b="0">
                <a:solidFill>
                  <a:srgbClr val="17161A"/>
                </a:solidFill>
                <a:latin typeface="Segoe UI"/>
              </a:rPr>
              <a:t>Ablehnen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Ampeln zeigen den Bestand.</a:t>
            </a:r>
            <a:r>
              <a:rPr sz="1600" b="0">
                <a:solidFill>
                  <a:srgbClr val="17161A"/>
                </a:solidFill>
                <a:latin typeface="Segoe UI"/>
              </a:rPr>
              <a:t> Grün gut, gelb knapp, rot leer.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Heute-Zahlen live</a:t>
            </a:r>
            <a:r>
              <a:rPr sz="1600" b="0">
                <a:solidFill>
                  <a:srgbClr val="17161A"/>
                </a:solidFill>
                <a:latin typeface="Segoe UI"/>
              </a:rPr>
              <a:t> aus deinem Shop.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KI-Vorschlag:</a:t>
            </a:r>
            <a:r>
              <a:rPr sz="1600" b="0">
                <a:solidFill>
                  <a:srgbClr val="17161A"/>
                </a:solidFill>
                <a:latin typeface="Segoe UI"/>
              </a:rPr>
              <a:t> übernehmen oder ablehnen. Du entscheidest.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Der Wareneingang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Karton auf, Handy dran, fertig.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426464" y="2286000"/>
            <a:ext cx="2176272" cy="457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17904" y="2395728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48256" y="2286000"/>
            <a:ext cx="153619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Test: WLAN ausgeschaltet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26464" y="2889504"/>
            <a:ext cx="2176272" cy="685800"/>
          </a:xfrm>
          <a:prstGeom prst="roundRect">
            <a:avLst>
              <a:gd name="adj" fmla="val 12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6464" y="2889504"/>
            <a:ext cx="2176272" cy="6858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Artikel scannen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426464" y="3712464"/>
            <a:ext cx="2176272" cy="548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17904" y="3712464"/>
            <a:ext cx="1993392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2F7D43"/>
                </a:solidFill>
                <a:latin typeface="Segoe UI"/>
              </a:rPr>
              <a:t>Eingebucht:</a:t>
            </a:r>
            <a:r>
              <a:rPr sz="850" b="0">
                <a:solidFill>
                  <a:srgbClr val="2F7D43"/>
                </a:solidFill>
                <a:latin typeface="Segoe UI"/>
              </a:rPr>
              <a:t> 1x Tee Box-Logo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426464" y="4407408"/>
            <a:ext cx="2176272" cy="960120"/>
          </a:xfrm>
          <a:prstGeom prst="roundRect">
            <a:avLst>
              <a:gd name="adj" fmla="val 6000"/>
            </a:avLst>
          </a:prstGeom>
          <a:solidFill>
            <a:srgbClr val="F5ECD9"/>
          </a:solidFill>
          <a:ln w="12700">
            <a:solidFill>
              <a:srgbClr val="B986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17904" y="4480560"/>
            <a:ext cx="1993392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>
                <a:solidFill>
                  <a:srgbClr val="7A5C12"/>
                </a:solidFill>
                <a:latin typeface="Segoe UI"/>
              </a:rPr>
              <a:t>Warteschlange: 1 Buchung.</a:t>
            </a:r>
            <a:r>
              <a:rPr sz="850" b="0">
                <a:solidFill>
                  <a:srgbClr val="7A5C12"/>
                </a:solidFill>
                <a:latin typeface="Segoe UI"/>
              </a:rPr>
              <a:t> Wird automatisch nachgebucht, sobald WLAN da ist.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Scannen und einbuchen</a:t>
            </a:r>
            <a:r>
              <a:rPr sz="1600" b="0">
                <a:solidFill>
                  <a:srgbClr val="17161A"/>
                </a:solidFill>
                <a:latin typeface="Segoe UI"/>
              </a:rPr>
              <a:t> in 10 Sekunden pro Artikel.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Ohne WLAN</a:t>
            </a:r>
            <a:r>
              <a:rPr sz="1600" b="0">
                <a:solidFill>
                  <a:srgbClr val="17161A"/>
                </a:solidFill>
                <a:latin typeface="Segoe UI"/>
              </a:rPr>
              <a:t> wartet die Buchung in der Warteschlange.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Nichts geht verloren.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Jede Buchung landet genau einmal im System.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Frag Finelli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Deine Zahlen in normaler Sprache.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88720" y="1737360"/>
            <a:ext cx="2651760" cy="4572000"/>
          </a:xfrm>
          <a:prstGeom prst="roundRect">
            <a:avLst>
              <a:gd name="adj" fmla="val 9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98448" y="1847088"/>
            <a:ext cx="2432304" cy="4352544"/>
          </a:xfrm>
          <a:prstGeom prst="roundRect">
            <a:avLst>
              <a:gd name="adj" fmla="val 7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1920240"/>
            <a:ext cx="2212848" cy="2743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000" b="1">
                <a:solidFill>
                  <a:srgbClr val="17161A"/>
                </a:solidFill>
                <a:latin typeface="Segoe UI"/>
              </a:rPr>
              <a:t>FINELLI 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18193" y="2286000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09633" y="2286000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Wo liegt Hoodie 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26464" y="2916936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17904" y="2916936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Zürich 0, Embrach 4. Regal B, Fach 3.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8193" y="3547872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09633" y="3547872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FFFFFF"/>
                </a:solidFill>
                <a:latin typeface="Segoe UI"/>
              </a:rPr>
              <a:t>Was ist knapp?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26464" y="4178808"/>
            <a:ext cx="1784543" cy="50292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17904" y="4178808"/>
            <a:ext cx="1601663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17161A"/>
                </a:solidFill>
                <a:latin typeface="Segoe UI"/>
              </a:rPr>
              <a:t>Cap Sport und Beanie Logo.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26464" y="5696712"/>
            <a:ext cx="2176272" cy="3657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36192" y="5696712"/>
            <a:ext cx="1956816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77747C"/>
                </a:solidFill>
                <a:latin typeface="Segoe UI"/>
              </a:rPr>
              <a:t>Frage eingeben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219456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219456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Fragen statt suchen.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Keine Tabellen, keine Excel-Listen.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4290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2900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Antworten aus deinen echten Zahlen,</a:t>
            </a:r>
            <a:r>
              <a:rPr sz="1600" b="0">
                <a:solidFill>
                  <a:srgbClr val="17161A"/>
                </a:solidFill>
                <a:latin typeface="Segoe UI"/>
              </a:rPr>
              <a:t> in Sekunden.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754880" y="466344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0" y="4663440"/>
            <a:ext cx="6492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17161A"/>
                </a:solidFill>
                <a:latin typeface="Segoe UI"/>
              </a:rPr>
              <a:t>Nur Antworten.</a:t>
            </a:r>
            <a:r>
              <a:rPr sz="1600" b="0">
                <a:solidFill>
                  <a:srgbClr val="17161A"/>
                </a:solidFill>
                <a:latin typeface="Segoe UI"/>
              </a:rPr>
              <a:t> Gebucht wird nichts.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So führen wir es ein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Vier Schritte. Der Laden läuft normal weiter.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Chevron 5"/>
          <p:cNvSpPr/>
          <p:nvPr/>
        </p:nvSpPr>
        <p:spPr>
          <a:xfrm>
            <a:off x="548640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1   Zählen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Dein Team zählt einmal sauber durch. Mit Anleitung und Lagerplatz-Etiketten von uns.</a:t>
            </a:r>
          </a:p>
        </p:txBody>
      </p:sp>
      <p:sp>
        <p:nvSpPr>
          <p:cNvPr id="9" name="Chevron 8"/>
          <p:cNvSpPr/>
          <p:nvPr/>
        </p:nvSpPr>
        <p:spPr>
          <a:xfrm>
            <a:off x="3364992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85032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2   Verbinden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Wir verbinden das Cockpit mit Onlineshop, Kasse und Versand. Alles läuft in einem System zusammen.</a:t>
            </a:r>
          </a:p>
        </p:txBody>
      </p:sp>
      <p:sp>
        <p:nvSpPr>
          <p:cNvPr id="12" name="Chevron 11"/>
          <p:cNvSpPr/>
          <p:nvPr/>
        </p:nvSpPr>
        <p:spPr>
          <a:xfrm>
            <a:off x="6181344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3   Schulen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72784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30 Minuten pro Person. Jeder bekommt eine eigene PIN.</a:t>
            </a:r>
          </a:p>
        </p:txBody>
      </p:sp>
      <p:sp>
        <p:nvSpPr>
          <p:cNvPr id="15" name="Chevron 14"/>
          <p:cNvSpPr/>
          <p:nvPr/>
        </p:nvSpPr>
        <p:spPr>
          <a:xfrm>
            <a:off x="8997696" y="1920240"/>
            <a:ext cx="2788920" cy="777240"/>
          </a:xfrm>
          <a:prstGeom prst="chevron">
            <a:avLst>
              <a:gd name="adj" fmla="val 35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17736" y="2029968"/>
            <a:ext cx="2240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4   Betrieb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971800"/>
            <a:ext cx="24688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77747C"/>
                </a:solidFill>
                <a:latin typeface="Segoe UI"/>
              </a:rPr>
              <a:t>Wochen-Bericht jeden Montag. Wir betreuen und bauen aus, wenn du es willst.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 Umbau. Kein Stillstand. Kein Risiko für das Tagesgeschäft.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Drei Modelle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Klein, mittel, gross. Jedes enthält das kleinere. Wechsel jederzeit möglich.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429000"/>
            <a:ext cx="3383280" cy="2468880"/>
          </a:xfrm>
          <a:prstGeom prst="roundRect">
            <a:avLst>
              <a:gd name="adj" fmla="val 3000"/>
            </a:avLst>
          </a:prstGeom>
          <a:solidFill>
            <a:srgbClr val="E4E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657600"/>
            <a:ext cx="2834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77747C"/>
                </a:solidFill>
                <a:latin typeface="Segoe UI"/>
              </a:rPr>
              <a:t>KLEIN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17161A"/>
                </a:solidFill>
                <a:latin typeface="Georgia"/>
              </a:rPr>
              <a:t>Basic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17161A"/>
                </a:solidFill>
                <a:latin typeface="Segoe UI"/>
              </a:rPr>
              <a:t>CHF 1'250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77747C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77747C"/>
                </a:solidFill>
                <a:latin typeface="Segoe UI"/>
              </a:rPr>
              <a:t>Lager und Alltag im Griff.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971800"/>
            <a:ext cx="3383280" cy="2926080"/>
          </a:xfrm>
          <a:prstGeom prst="roundRect">
            <a:avLst>
              <a:gd name="adj" fmla="val 3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3200400"/>
            <a:ext cx="28346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F0C9C3"/>
                </a:solidFill>
                <a:latin typeface="Segoe UI"/>
              </a:rPr>
              <a:t>MITTEL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Georgia"/>
              </a:rPr>
              <a:t>Premium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CHF 2'200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F0C9C3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F0C9C3"/>
                </a:solidFill>
                <a:latin typeface="Segoe UI"/>
              </a:rPr>
              <a:t>Dazu: dein Shop verkauft aktiv mit.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63440" y="2715768"/>
            <a:ext cx="1691640" cy="438912"/>
          </a:xfrm>
          <a:prstGeom prst="roundRect">
            <a:avLst>
              <a:gd name="adj" fmla="val 6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43200"/>
            <a:ext cx="1691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50" b="1">
                <a:solidFill>
                  <a:srgbClr val="FFFFFF"/>
                </a:solidFill>
                <a:latin typeface="Segoe UI"/>
              </a:rPr>
              <a:t>Unser Vorschlag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514600"/>
            <a:ext cx="3383280" cy="3383280"/>
          </a:xfrm>
          <a:prstGeom prst="roundRect">
            <a:avLst>
              <a:gd name="adj" fmla="val 3000"/>
            </a:avLst>
          </a:prstGeom>
          <a:solidFill>
            <a:srgbClr val="17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92440" y="2514600"/>
            <a:ext cx="3383280" cy="82296"/>
          </a:xfrm>
          <a:prstGeom prst="roundRect">
            <a:avLst>
              <a:gd name="adj" fmla="val 0"/>
            </a:avLst>
          </a:prstGeom>
          <a:solidFill>
            <a:srgbClr val="B08D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743200"/>
            <a:ext cx="2834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B7B4BD"/>
                </a:solidFill>
                <a:latin typeface="Segoe UI"/>
              </a:rPr>
              <a:t>GROSS</a:t>
            </a:r>
          </a:p>
          <a:p>
            <a:pPr algn="l">
              <a:spcAft>
                <a:spcPts val="600"/>
              </a:spcAft>
            </a:pPr>
            <a:r>
              <a:rPr sz="2100" b="1">
                <a:solidFill>
                  <a:srgbClr val="B08D57"/>
                </a:solidFill>
                <a:latin typeface="Georgia"/>
              </a:rPr>
              <a:t>Max</a:t>
            </a:r>
          </a:p>
          <a:p>
            <a:pPr algn="l">
              <a:spcAft>
                <a:spcPts val="600"/>
              </a:spcAft>
            </a:pPr>
            <a:r>
              <a:rPr sz="2600" b="1">
                <a:solidFill>
                  <a:srgbClr val="B08D57"/>
                </a:solidFill>
                <a:latin typeface="Segoe UI"/>
              </a:rPr>
              <a:t>CHF 5'000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B7B4BD"/>
                </a:solidFill>
                <a:latin typeface="Segoe UI"/>
              </a:rPr>
              <a:t>pro Monat</a:t>
            </a:r>
          </a:p>
          <a:p>
            <a:pPr algn="l">
              <a:spcAft>
                <a:spcPts val="600"/>
              </a:spcAft>
            </a:pPr>
          </a:p>
          <a:p>
            <a:pPr algn="l">
              <a:spcAft>
                <a:spcPts val="600"/>
              </a:spcAft>
            </a:pPr>
            <a:r>
              <a:rPr sz="1250" b="0">
                <a:solidFill>
                  <a:srgbClr val="B7B4BD"/>
                </a:solidFill>
                <a:latin typeface="Segoe UI"/>
              </a:rPr>
              <a:t>Dazu: Marketing und Zahlen automatisch.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0807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>
                <a:solidFill>
                  <a:srgbClr val="77747C"/>
                </a:solidFill>
                <a:latin typeface="Segoe UI"/>
              </a:rPr>
              <a:t>Preise gemäss Absprache. Details, Laufzeit und Garantien regelt der Vertrag.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Basic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1'250 pro Monat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Wochen-Report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Jeden Montag eine Seite:</a:t>
            </a:r>
            <a:r>
              <a:rPr sz="1350" b="0">
                <a:solidFill>
                  <a:srgbClr val="17161A"/>
                </a:solidFill>
                <a:latin typeface="Segoe UI"/>
              </a:rPr>
              <a:t> was lief, was knapp ist, was kommt.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Bestell-Alarm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Meldet sich, bevor ein Artikel ausgeht.</a:t>
            </a:r>
            <a:r>
              <a:rPr sz="1350" b="0">
                <a:solidFill>
                  <a:srgbClr val="17161A"/>
                </a:solidFill>
                <a:latin typeface="Segoe UI"/>
              </a:rPr>
              <a:t> Mit Mengen-Vorschlag.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Lager-Automatik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Beide Standorte immer aktuell.</a:t>
            </a:r>
            <a:r>
              <a:rPr sz="1350" b="0">
                <a:solidFill>
                  <a:srgbClr val="17161A"/>
                </a:solidFill>
                <a:latin typeface="Segoe UI"/>
              </a:rPr>
              <a:t> Umlagern in zwei Klicks.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Verpackungs-Software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Pickzettel mit Laufweg.</a:t>
            </a:r>
            <a:r>
              <a:rPr sz="1350" b="0">
                <a:solidFill>
                  <a:srgbClr val="17161A"/>
                </a:solidFill>
                <a:latin typeface="Segoe UI"/>
              </a:rPr>
              <a:t> Post-Etikette automatisch.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Kassenabrechnung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Tagesabschluss automatisch.</a:t>
            </a:r>
            <a:r>
              <a:rPr sz="1350" b="0">
                <a:solidFill>
                  <a:srgbClr val="17161A"/>
                </a:solidFill>
                <a:latin typeface="Segoe UI"/>
              </a:rPr>
              <a:t> Kein Nachtragen von Hand.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Premium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2'200 pro Monat   ·   alles aus Basic,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Shop-Regal-Zahlen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Was verkauft und was liegen bleibt.</a:t>
            </a:r>
            <a:r>
              <a:rPr sz="1350" b="0">
                <a:solidFill>
                  <a:srgbClr val="17161A"/>
                </a:solidFill>
                <a:latin typeface="Segoe UI"/>
              </a:rPr>
              <a:t> Pro Produkt, pro Regal.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Alter/Region-Zahlen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Wer bei dir kauft:</a:t>
            </a:r>
            <a:r>
              <a:rPr sz="1350" b="0">
                <a:solidFill>
                  <a:srgbClr val="17161A"/>
                </a:solidFill>
                <a:latin typeface="Segoe UI"/>
              </a:rPr>
              <a:t> Alter und Region auf einen Blick.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Website-Auto-Verwaltung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Produkte und Texte pflegen sich selbst.</a:t>
            </a:r>
            <a:r>
              <a:rPr sz="1350" b="0">
                <a:solidFill>
                  <a:srgbClr val="17161A"/>
                </a:solidFill>
                <a:latin typeface="Segoe UI"/>
              </a:rPr>
              <a:t> Du gibst frei.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Persönlicher Shop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Jeder Besucher sieht zuerst,</a:t>
            </a:r>
            <a:r>
              <a:rPr sz="1350" b="0">
                <a:solidFill>
                  <a:srgbClr val="17161A"/>
                </a:solidFill>
                <a:latin typeface="Segoe UI"/>
              </a:rPr>
              <a:t> was ihn am ehesten interessiert.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Website-Avatar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Digitaler Berater</a:t>
            </a:r>
            <a:r>
              <a:rPr sz="1350" b="0">
                <a:solidFill>
                  <a:srgbClr val="17161A"/>
                </a:solidFill>
                <a:latin typeface="Segoe UI"/>
              </a:rPr>
              <a:t> beantwortet Kundenfragen. Rund um die Uhr.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CHF 5'000 pro Monat   ·   alles aus Premium, plus: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8308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Trends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85623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Was in Streetwear zieht.</a:t>
            </a:r>
            <a:r>
              <a:rPr sz="1350" b="0">
                <a:solidFill>
                  <a:srgbClr val="17161A"/>
                </a:solidFill>
                <a:latin typeface="Segoe UI"/>
              </a:rPr>
              <a:t> Woche für Woche aufbereitet.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5176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5176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Custom Planer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72491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Planung für Drops und Saison.</a:t>
            </a:r>
            <a:r>
              <a:rPr sz="1350" b="0">
                <a:solidFill>
                  <a:srgbClr val="17161A"/>
                </a:solidFill>
                <a:latin typeface="Segoe UI"/>
              </a:rPr>
              <a:t> Auf deine Marke zugeschnitten.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2044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52044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Ads-Schalter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59359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Werbung mit klarem Kostenblick.</a:t>
            </a:r>
            <a:r>
              <a:rPr sz="1350" b="0">
                <a:solidFill>
                  <a:srgbClr val="17161A"/>
                </a:solidFill>
                <a:latin typeface="Segoe UI"/>
              </a:rPr>
              <a:t> Ein und aus per Klick.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38912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Marketing automatisiert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446227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Newsletter und Posts als Entwurf.</a:t>
            </a:r>
            <a:r>
              <a:rPr sz="1350" b="0">
                <a:solidFill>
                  <a:srgbClr val="17161A"/>
                </a:solidFill>
                <a:latin typeface="Segoe UI"/>
              </a:rPr>
              <a:t> Du gibst frei.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257800"/>
            <a:ext cx="3246120" cy="685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57800"/>
            <a:ext cx="29260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A8271C"/>
                </a:solidFill>
                <a:latin typeface="Segoe UI"/>
              </a:rPr>
              <a:t>Treuhand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60520" y="5330952"/>
            <a:ext cx="749807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Zahlen fertig für den Treuhänder.</a:t>
            </a:r>
            <a:r>
              <a:rPr sz="1350" b="0">
                <a:solidFill>
                  <a:srgbClr val="17161A"/>
                </a:solidFill>
                <a:latin typeface="Segoe UI"/>
              </a:rPr>
              <a:t> Weniger Honorarstunden.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4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8778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900" b="1">
                <a:solidFill>
                  <a:srgbClr val="17161A"/>
                </a:solidFill>
                <a:latin typeface="Georgia"/>
              </a:rPr>
              <a:t>Wer macht was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87552"/>
            <a:ext cx="8778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0">
                <a:solidFill>
                  <a:srgbClr val="77747C"/>
                </a:solidFill>
                <a:latin typeface="Segoe UI"/>
              </a:rPr>
              <a:t>Für dich als Chef: fast nichts.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11480"/>
            <a:ext cx="2103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800">
                <a:solidFill>
                  <a:srgbClr val="17161A"/>
                </a:solidFill>
                <a:latin typeface="Georgia"/>
              </a:rPr>
              <a:t>FINELLI</a:t>
            </a:r>
            <a:r>
              <a:rPr sz="900">
                <a:solidFill>
                  <a:srgbClr val="A8271C"/>
                </a:solidFill>
              </a:rPr>
              <a:t> 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WIR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Einrichten, verbinden, schulen, betreuen. </a:t>
            </a:r>
            <a:r>
              <a:rPr sz="1500" b="1">
                <a:solidFill>
                  <a:srgbClr val="17161A"/>
                </a:solidFill>
                <a:latin typeface="Segoe UI"/>
              </a:rPr>
              <a:t>Monat für Monat.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72584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DEIN TEAM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7161A"/>
                </a:solidFill>
                <a:latin typeface="Segoe UI"/>
              </a:rPr>
              <a:t>Einmal sauber zählen. </a:t>
            </a:r>
            <a:r>
              <a:rPr sz="1500" b="1">
                <a:solidFill>
                  <a:srgbClr val="17161A"/>
                </a:solidFill>
                <a:latin typeface="Segoe UI"/>
              </a:rPr>
              <a:t>Danach: scannen statt suchen.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47888" y="1920240"/>
            <a:ext cx="35661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22208" y="2240280"/>
            <a:ext cx="30175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A8271C"/>
                </a:solidFill>
                <a:latin typeface="Segoe UI"/>
              </a:rPr>
              <a:t>DU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17161A"/>
                </a:solidFill>
                <a:latin typeface="Segoe UI"/>
              </a:rPr>
              <a:t>Entscheiden. Sonst nichts.</a:t>
            </a:r>
            <a:r>
              <a:rPr sz="1500" b="0">
                <a:solidFill>
                  <a:srgbClr val="17161A"/>
                </a:solidFill>
                <a:latin typeface="Segoe UI"/>
              </a:rPr>
              <a:t> Jeder KI-Vorschlag wartet auf dein Ja.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50" b="1">
                <a:solidFill>
                  <a:srgbClr val="17161A"/>
                </a:solidFill>
                <a:latin typeface="Segoe UI"/>
              </a:rPr>
              <a:t>Keine KI bucht deinen Bestand. Jede Buchung macht ein Mensch.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6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128016"/>
          </a:xfrm>
          <a:prstGeom prst="roundRect">
            <a:avLst>
              <a:gd name="adj" fmla="val 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5448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Georgia"/>
              </a:rPr>
              <a:t>Du entscheidest.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7238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301752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Die Vorschau läuft. </a:t>
            </a:r>
            <a:r>
              <a:rPr sz="1700" b="1">
                <a:solidFill>
                  <a:srgbClr val="D8D6DC"/>
                </a:solidFill>
                <a:latin typeface="Segoe UI"/>
              </a:rPr>
              <a:t>Du hast sie selbst geklickt.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84962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0" y="379476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Modell wählen, starten, </a:t>
            </a:r>
            <a:r>
              <a:rPr sz="1700" b="1">
                <a:solidFill>
                  <a:srgbClr val="D8D6DC"/>
                </a:solidFill>
                <a:latin typeface="Segoe UI"/>
              </a:rPr>
              <a:t>jederzeit hochwechseln.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626864"/>
            <a:ext cx="109728" cy="457200"/>
          </a:xfrm>
          <a:prstGeom prst="roundRect">
            <a:avLst>
              <a:gd name="adj" fmla="val 50000"/>
            </a:avLst>
          </a:prstGeom>
          <a:solidFill>
            <a:srgbClr val="A827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4572000"/>
            <a:ext cx="95097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8D6DC"/>
                </a:solidFill>
                <a:latin typeface="Segoe UI"/>
              </a:rPr>
              <a:t>Jetzt: </a:t>
            </a:r>
            <a:r>
              <a:rPr sz="1700" b="1">
                <a:solidFill>
                  <a:srgbClr val="D8D6DC"/>
                </a:solidFill>
                <a:latin typeface="Segoe UI"/>
              </a:rPr>
              <a:t>deine Fragen.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852160"/>
            <a:ext cx="98755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9A97A0"/>
                </a:solidFill>
                <a:latin typeface="Segoe UI"/>
              </a:rPr>
              <a:t>Finelli Studios AG · Vor-Ort-Termin · 22. Juli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