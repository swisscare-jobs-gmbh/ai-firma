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729984"/>
            <a:ext cx="12191695" cy="128016"/>
          </a:xfrm>
          <a:prstGeom prst="roundRect">
            <a:avLst>
              <a:gd name="adj" fmla="val 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5400">
                <a:solidFill>
                  <a:srgbClr val="FFFFFF"/>
                </a:solidFill>
                <a:latin typeface="Georgia"/>
              </a:rPr>
              <a:t>FINELLI</a:t>
            </a:r>
            <a:r>
              <a:rPr sz="3000">
                <a:solidFill>
                  <a:srgbClr val="A8271C"/>
                </a:solidFill>
              </a:rPr>
              <a:t> 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474720"/>
            <a:ext cx="9601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D8D6DC"/>
                </a:solidFill>
                <a:latin typeface="Georgia"/>
              </a:rPr>
              <a:t>Dein Lager. Dein Shop. Ein Cockpit.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669280"/>
            <a:ext cx="914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97A0"/>
                </a:solidFill>
                <a:latin typeface="Segoe UI"/>
              </a:rPr>
              <a:t>Finelli Studios AG · Vor-Ort-Termin   ·   22. Juli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28016"/>
          </a:xfrm>
          <a:prstGeom prst="roundRect">
            <a:avLst>
              <a:gd name="adj" fmla="val 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778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17161A"/>
                </a:solidFill>
                <a:latin typeface="Georgia"/>
              </a:rPr>
              <a:t>Wo du heute stehst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87552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77747C"/>
                </a:solidFill>
                <a:latin typeface="Segoe UI"/>
              </a:rPr>
              <a:t>Drei Situationen aus deinem Alltag. Keine davon ist deine Schuld.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41148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800">
                <a:solidFill>
                  <a:srgbClr val="17161A"/>
                </a:solidFill>
                <a:latin typeface="Georgia"/>
              </a:rPr>
              <a:t>FINELLI</a:t>
            </a:r>
            <a:r>
              <a:rPr sz="900">
                <a:solidFill>
                  <a:srgbClr val="A8271C"/>
                </a:solidFill>
              </a:rPr>
              <a:t> 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874519"/>
            <a:ext cx="3054096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A8271C"/>
                </a:solidFill>
                <a:latin typeface="Segoe UI"/>
              </a:rPr>
              <a:t>Der Verkauf, der platzt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7161A"/>
                </a:solidFill>
                <a:latin typeface="Segoe UI"/>
              </a:rPr>
              <a:t>Online verkauft, im Regal leer. Du musst absagen und </a:t>
            </a:r>
            <a:r>
              <a:rPr sz="1300" b="1">
                <a:solidFill>
                  <a:srgbClr val="17161A"/>
                </a:solidFill>
                <a:latin typeface="Segoe UI"/>
              </a:rPr>
              <a:t>verlierst den Kunden.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98264" y="164592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54296" y="1874519"/>
            <a:ext cx="3054096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A8271C"/>
                </a:solidFill>
                <a:latin typeface="Segoe UI"/>
              </a:rPr>
              <a:t>Die Standort-Frage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7161A"/>
                </a:solidFill>
                <a:latin typeface="Segoe UI"/>
              </a:rPr>
              <a:t>Grösse M in Zürich ausverkauft. Ob Embrach noch eine hat, </a:t>
            </a:r>
            <a:r>
              <a:rPr sz="1300" b="1">
                <a:solidFill>
                  <a:srgbClr val="17161A"/>
                </a:solidFill>
                <a:latin typeface="Segoe UI"/>
              </a:rPr>
              <a:t>sieht heute niemand.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47888" y="164592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0" y="1874519"/>
            <a:ext cx="3054096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A8271C"/>
                </a:solidFill>
                <a:latin typeface="Segoe UI"/>
              </a:rPr>
              <a:t>Die Kasse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7161A"/>
                </a:solidFill>
                <a:latin typeface="Segoe UI"/>
              </a:rPr>
              <a:t>Ladenverkäufe werden von Hand in Shopify nachgetragen. </a:t>
            </a:r>
            <a:r>
              <a:rPr sz="1300" b="1">
                <a:solidFill>
                  <a:srgbClr val="17161A"/>
                </a:solidFill>
                <a:latin typeface="Segoe UI"/>
              </a:rPr>
              <a:t>Das kostet Zeit und stimmt oft nicht.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297680"/>
            <a:ext cx="11091672" cy="1920240"/>
          </a:xfrm>
          <a:prstGeom prst="roundRect">
            <a:avLst>
              <a:gd name="adj" fmla="val 6000"/>
            </a:avLst>
          </a:prstGeom>
          <a:solidFill>
            <a:srgbClr val="17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709160"/>
            <a:ext cx="35661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FFFFFF"/>
                </a:solidFill>
                <a:latin typeface="Georgia"/>
              </a:rPr>
              <a:t>54 bis 65 %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4663440"/>
            <a:ext cx="6949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aller Bestandszahlen im Handel sind falsch.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5349240"/>
            <a:ext cx="6035040" cy="274320"/>
          </a:xfrm>
          <a:prstGeom prst="roundRect">
            <a:avLst>
              <a:gd name="adj" fmla="val 50000"/>
            </a:avLst>
          </a:prstGeom>
          <a:solidFill>
            <a:srgbClr val="3A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89120" y="5349240"/>
            <a:ext cx="3621024" cy="274320"/>
          </a:xfrm>
          <a:prstGeom prst="roundRect">
            <a:avLst>
              <a:gd name="adj" fmla="val 5000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0" y="5760720"/>
            <a:ext cx="6949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9A97A0"/>
                </a:solidFill>
                <a:latin typeface="Segoe UI"/>
              </a:rPr>
              <a:t>Quelle: DeHoratius/Raman 2008 · ECR/Cardiff 2019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28016"/>
          </a:xfrm>
          <a:prstGeom prst="roundRect">
            <a:avLst>
              <a:gd name="adj" fmla="val 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778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17161A"/>
                </a:solidFill>
                <a:latin typeface="Georgia"/>
              </a:rPr>
              <a:t>Drei Zusagen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87552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77747C"/>
                </a:solidFill>
                <a:latin typeface="Segoe UI"/>
              </a:rPr>
              <a:t>Bevor wir über Modelle reden.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41148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800">
                <a:solidFill>
                  <a:srgbClr val="17161A"/>
                </a:solidFill>
                <a:latin typeface="Georgia"/>
              </a:rPr>
              <a:t>FINELLI</a:t>
            </a:r>
            <a:r>
              <a:rPr sz="900">
                <a:solidFill>
                  <a:srgbClr val="A8271C"/>
                </a:solidFill>
              </a:rPr>
              <a:t> 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356616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04672" y="2103120"/>
            <a:ext cx="502920" cy="502920"/>
          </a:xfrm>
          <a:prstGeom prst="roundRect">
            <a:avLst>
              <a:gd name="adj" fmla="val 600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2139696"/>
            <a:ext cx="502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834640"/>
            <a:ext cx="3054096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7161A"/>
                </a:solidFill>
                <a:latin typeface="Georgia"/>
              </a:rPr>
              <a:t>Shopify bleibt führend.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77747C"/>
                </a:solidFill>
                <a:latin typeface="Segoe UI"/>
              </a:rPr>
              <a:t>Wir ersetzen nichts. Das Cockpit setzt auf deine bestehenden Systeme auf.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8264" y="1828800"/>
            <a:ext cx="356616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654296" y="2103120"/>
            <a:ext cx="502920" cy="502920"/>
          </a:xfrm>
          <a:prstGeom prst="roundRect">
            <a:avLst>
              <a:gd name="adj" fmla="val 600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54296" y="2139696"/>
            <a:ext cx="502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54296" y="2834640"/>
            <a:ext cx="3054096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7161A"/>
                </a:solidFill>
                <a:latin typeface="Georgia"/>
              </a:rPr>
              <a:t>Jede Buchung macht ein Mensch.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77747C"/>
                </a:solidFill>
                <a:latin typeface="Segoe UI"/>
              </a:rPr>
              <a:t>Die KI schlägt vor und rechnet. Entscheiden tust du.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47888" y="1828800"/>
            <a:ext cx="356616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503920" y="2103120"/>
            <a:ext cx="502920" cy="502920"/>
          </a:xfrm>
          <a:prstGeom prst="roundRect">
            <a:avLst>
              <a:gd name="adj" fmla="val 600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0" y="2139696"/>
            <a:ext cx="502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2834640"/>
            <a:ext cx="3054096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7161A"/>
                </a:solidFill>
                <a:latin typeface="Georgia"/>
              </a:rPr>
              <a:t>Ein Preis. Alles drin.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77747C"/>
                </a:solidFill>
                <a:latin typeface="Segoe UI"/>
              </a:rPr>
              <a:t>Keine Extra-Abos. Einrichtung, Schulung und Betreuung sind inklusive.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28016"/>
          </a:xfrm>
          <a:prstGeom prst="roundRect">
            <a:avLst>
              <a:gd name="adj" fmla="val 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778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17161A"/>
                </a:solidFill>
                <a:latin typeface="Georgia"/>
              </a:rPr>
              <a:t>Acht Abteilungen. Oder ein System.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87552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77747C"/>
                </a:solidFill>
                <a:latin typeface="Segoe UI"/>
              </a:rPr>
              <a:t>So läuft dieselbe Arbeit in einer klassischen Firma.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41148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800">
                <a:solidFill>
                  <a:srgbClr val="17161A"/>
                </a:solidFill>
                <a:latin typeface="Georgia"/>
              </a:rPr>
              <a:t>FINELLI</a:t>
            </a:r>
            <a:r>
              <a:rPr sz="900">
                <a:solidFill>
                  <a:srgbClr val="A8271C"/>
                </a:solidFill>
              </a:rPr>
              <a:t> 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7161A"/>
                </a:solidFill>
                <a:latin typeface="Segoe UI"/>
              </a:rPr>
              <a:t>Klassisch braucht das eigene Abteilungen und viele Leute: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48840"/>
            <a:ext cx="2377440" cy="777240"/>
          </a:xfrm>
          <a:prstGeom prst="roundRect">
            <a:avLst>
              <a:gd name="adj" fmla="val 6000"/>
            </a:avLst>
          </a:prstGeom>
          <a:solidFill>
            <a:srgbClr val="E4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2377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17161A"/>
                </a:solidFill>
                <a:latin typeface="Segoe UI"/>
              </a:rPr>
              <a:t>Produkt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08960" y="2148840"/>
            <a:ext cx="2377440" cy="777240"/>
          </a:xfrm>
          <a:prstGeom prst="roundRect">
            <a:avLst>
              <a:gd name="adj" fmla="val 6000"/>
            </a:avLst>
          </a:prstGeom>
          <a:solidFill>
            <a:srgbClr val="E4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0" y="2148840"/>
            <a:ext cx="2377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17161A"/>
                </a:solidFill>
                <a:latin typeface="Segoe UI"/>
              </a:rPr>
              <a:t>Marketing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90672"/>
            <a:ext cx="2377440" cy="777240"/>
          </a:xfrm>
          <a:prstGeom prst="roundRect">
            <a:avLst>
              <a:gd name="adj" fmla="val 6000"/>
            </a:avLst>
          </a:prstGeom>
          <a:solidFill>
            <a:srgbClr val="E4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090672"/>
            <a:ext cx="2377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17161A"/>
                </a:solidFill>
                <a:latin typeface="Segoe UI"/>
              </a:rPr>
              <a:t>Verkauf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08960" y="3090672"/>
            <a:ext cx="2377440" cy="777240"/>
          </a:xfrm>
          <a:prstGeom prst="roundRect">
            <a:avLst>
              <a:gd name="adj" fmla="val 6000"/>
            </a:avLst>
          </a:prstGeom>
          <a:solidFill>
            <a:srgbClr val="E4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08960" y="3090672"/>
            <a:ext cx="2377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17161A"/>
                </a:solidFill>
                <a:latin typeface="Segoe UI"/>
              </a:rPr>
              <a:t>Kundendienst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032504"/>
            <a:ext cx="2377440" cy="777240"/>
          </a:xfrm>
          <a:prstGeom prst="roundRect">
            <a:avLst>
              <a:gd name="adj" fmla="val 6000"/>
            </a:avLst>
          </a:prstGeom>
          <a:solidFill>
            <a:srgbClr val="E4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032504"/>
            <a:ext cx="2377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17161A"/>
                </a:solidFill>
                <a:latin typeface="Segoe UI"/>
              </a:rPr>
              <a:t>IT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108960" y="4032504"/>
            <a:ext cx="2377440" cy="777240"/>
          </a:xfrm>
          <a:prstGeom prst="roundRect">
            <a:avLst>
              <a:gd name="adj" fmla="val 6000"/>
            </a:avLst>
          </a:prstGeom>
          <a:solidFill>
            <a:srgbClr val="E4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08960" y="4032504"/>
            <a:ext cx="2377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17161A"/>
                </a:solidFill>
                <a:latin typeface="Segoe UI"/>
              </a:rPr>
              <a:t>Personal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974336"/>
            <a:ext cx="2377440" cy="777240"/>
          </a:xfrm>
          <a:prstGeom prst="roundRect">
            <a:avLst>
              <a:gd name="adj" fmla="val 6000"/>
            </a:avLst>
          </a:prstGeom>
          <a:solidFill>
            <a:srgbClr val="E4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974336"/>
            <a:ext cx="2377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17161A"/>
                </a:solidFill>
                <a:latin typeface="Segoe UI"/>
              </a:rPr>
              <a:t>Finanzen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108960" y="4974336"/>
            <a:ext cx="2377440" cy="777240"/>
          </a:xfrm>
          <a:prstGeom prst="roundRect">
            <a:avLst>
              <a:gd name="adj" fmla="val 6000"/>
            </a:avLst>
          </a:prstGeom>
          <a:solidFill>
            <a:srgbClr val="E4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08960" y="4974336"/>
            <a:ext cx="2377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17161A"/>
                </a:solidFill>
                <a:latin typeface="Segoe UI"/>
              </a:rPr>
              <a:t>Einkauf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5806440" y="3657600"/>
            <a:ext cx="914400" cy="640080"/>
          </a:xfrm>
          <a:prstGeom prst="rightArrow">
            <a:avLst/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040880" y="2148840"/>
            <a:ext cx="4572000" cy="3602736"/>
          </a:xfrm>
          <a:prstGeom prst="roundRect">
            <a:avLst>
              <a:gd name="adj" fmla="val 6000"/>
            </a:avLst>
          </a:prstGeom>
          <a:solidFill>
            <a:srgbClr val="17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0" y="2651760"/>
            <a:ext cx="38404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Georgia"/>
              </a:rPr>
              <a:t>Bei dir: ein System.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sz="1450" b="0">
                <a:solidFill>
                  <a:srgbClr val="D8D6DC"/>
                </a:solidFill>
                <a:latin typeface="Segoe UI"/>
              </a:rPr>
              <a:t>Das Cockpit übernimmt die Verwaltungsarbeit dieser Abteilungen. </a:t>
            </a:r>
            <a:r>
              <a:rPr sz="1450" b="1">
                <a:solidFill>
                  <a:srgbClr val="D8D6DC"/>
                </a:solidFill>
                <a:latin typeface="Segoe UI"/>
              </a:rPr>
              <a:t>Du führst die Marke. Dein Team verkauft.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77747C"/>
                </a:solidFill>
                <a:latin typeface="Segoe UI"/>
              </a:rPr>
              <a:t>Kein Stellenabbau bei dir: Es geht um Arbeit, die heute liegen bleibt oder dich Abende kostet.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28016"/>
          </a:xfrm>
          <a:prstGeom prst="roundRect">
            <a:avLst>
              <a:gd name="adj" fmla="val 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778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17161A"/>
                </a:solidFill>
                <a:latin typeface="Georgia"/>
              </a:rPr>
              <a:t>So arbeitet es zusammen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87552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77747C"/>
                </a:solidFill>
                <a:latin typeface="Segoe UI"/>
              </a:rPr>
              <a:t>Ein Operating System verbindet deine Systeme mit deinen Menschen.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41148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800">
                <a:solidFill>
                  <a:srgbClr val="17161A"/>
                </a:solidFill>
                <a:latin typeface="Georgia"/>
              </a:rPr>
              <a:t>FINELLI</a:t>
            </a:r>
            <a:r>
              <a:rPr sz="900">
                <a:solidFill>
                  <a:srgbClr val="A8271C"/>
                </a:solidFill>
              </a:rPr>
              <a:t> 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77747C"/>
                </a:solidFill>
                <a:latin typeface="Segoe UI"/>
              </a:rPr>
              <a:t>DEINE SYSTEME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94560"/>
            <a:ext cx="274320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194560"/>
            <a:ext cx="27432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7161A"/>
                </a:solidFill>
                <a:latin typeface="Segoe UI"/>
              </a:rPr>
              <a:t>Shopify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063240"/>
            <a:ext cx="274320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063240"/>
            <a:ext cx="27432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7161A"/>
                </a:solidFill>
                <a:latin typeface="Segoe UI"/>
              </a:rPr>
              <a:t>Ladenkasse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931920"/>
            <a:ext cx="274320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931920"/>
            <a:ext cx="27432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7161A"/>
                </a:solidFill>
                <a:latin typeface="Segoe UI"/>
              </a:rPr>
              <a:t>Website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800600"/>
            <a:ext cx="274320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4800600"/>
            <a:ext cx="27432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7161A"/>
                </a:solidFill>
                <a:latin typeface="Segoe UI"/>
              </a:rPr>
              <a:t>Post / Versand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520440" y="3383280"/>
            <a:ext cx="777240" cy="502920"/>
          </a:xfrm>
          <a:prstGeom prst="rightArrow">
            <a:avLst/>
          </a:prstGeom>
          <a:solidFill>
            <a:srgbClr val="7774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26280" y="2468880"/>
            <a:ext cx="3200400" cy="2377440"/>
          </a:xfrm>
          <a:prstGeom prst="roundRect">
            <a:avLst>
              <a:gd name="adj" fmla="val 1000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3440" y="3063240"/>
            <a:ext cx="29260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Segoe UI"/>
              </a:rPr>
              <a:t>OPERATING SYSTEM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F0C9C3"/>
                </a:solidFill>
                <a:latin typeface="Segoe UI"/>
              </a:rPr>
              <a:t>das Finelli Cockpit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955279" y="3383280"/>
            <a:ext cx="777240" cy="502920"/>
          </a:xfrm>
          <a:prstGeom prst="rightArrow">
            <a:avLst/>
          </a:prstGeom>
          <a:solidFill>
            <a:srgbClr val="7774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0" y="173736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77747C"/>
                </a:solidFill>
                <a:latin typeface="Segoe UI"/>
              </a:rPr>
              <a:t>DEINE MENSCHEN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61120" y="2194560"/>
            <a:ext cx="2743200" cy="1188720"/>
          </a:xfrm>
          <a:prstGeom prst="roundRect">
            <a:avLst>
              <a:gd name="adj" fmla="val 6000"/>
            </a:avLst>
          </a:prstGeom>
          <a:solidFill>
            <a:srgbClr val="17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98280" y="2359152"/>
            <a:ext cx="2468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Du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B7B4BD"/>
                </a:solidFill>
                <a:latin typeface="Segoe UI"/>
              </a:rPr>
              <a:t>entscheidest und gibst frei.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0" y="3611880"/>
            <a:ext cx="2743200" cy="1188720"/>
          </a:xfrm>
          <a:prstGeom prst="roundRect">
            <a:avLst>
              <a:gd name="adj" fmla="val 6000"/>
            </a:avLst>
          </a:prstGeom>
          <a:solidFill>
            <a:srgbClr val="17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98280" y="3776472"/>
            <a:ext cx="2468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Dein Team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B7B4BD"/>
                </a:solidFill>
                <a:latin typeface="Segoe UI"/>
              </a:rPr>
              <a:t>scannt und verkauft.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17161A"/>
                </a:solidFill>
                <a:latin typeface="Segoe UI"/>
              </a:rPr>
              <a:t>Wir richten dieses System bei dir ein und betreuen es. Monat für Monat.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28016"/>
          </a:xfrm>
          <a:prstGeom prst="roundRect">
            <a:avLst>
              <a:gd name="adj" fmla="val 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778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17161A"/>
                </a:solidFill>
                <a:latin typeface="Georgia"/>
              </a:rPr>
              <a:t>Die Übersicht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87552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77747C"/>
                </a:solidFill>
                <a:latin typeface="Segoe UI"/>
              </a:rPr>
              <a:t>Ein Blick genügt.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41148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800">
                <a:solidFill>
                  <a:srgbClr val="17161A"/>
                </a:solidFill>
                <a:latin typeface="Georgia"/>
              </a:rPr>
              <a:t>FINELLI</a:t>
            </a:r>
            <a:r>
              <a:rPr sz="900">
                <a:solidFill>
                  <a:srgbClr val="A8271C"/>
                </a:solidFill>
              </a:rPr>
              <a:t> 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88720" y="1737360"/>
            <a:ext cx="2651760" cy="4572000"/>
          </a:xfrm>
          <a:prstGeom prst="roundRect">
            <a:avLst>
              <a:gd name="adj" fmla="val 9000"/>
            </a:avLst>
          </a:prstGeom>
          <a:solidFill>
            <a:srgbClr val="17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98448" y="1847088"/>
            <a:ext cx="2432304" cy="4352544"/>
          </a:xfrm>
          <a:prstGeom prst="roundRect">
            <a:avLst>
              <a:gd name="adj" fmla="val 7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08176" y="1920240"/>
            <a:ext cx="2212848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7161A"/>
                </a:solidFill>
                <a:latin typeface="Segoe UI"/>
              </a:rPr>
              <a:t>FINELLI 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26464" y="2286000"/>
            <a:ext cx="688848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26464" y="2322576"/>
            <a:ext cx="688848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1700" b="1">
                <a:solidFill>
                  <a:srgbClr val="2F7D43"/>
                </a:solidFill>
                <a:latin typeface="Segoe U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26464" y="2670048"/>
            <a:ext cx="688848" cy="2286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750" b="0">
                <a:solidFill>
                  <a:srgbClr val="77747C"/>
                </a:solidFill>
                <a:latin typeface="Segoe UI"/>
              </a:rPr>
              <a:t>gut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70176" y="2286000"/>
            <a:ext cx="688848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70176" y="2322576"/>
            <a:ext cx="688848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1700" b="1">
                <a:solidFill>
                  <a:srgbClr val="B9861A"/>
                </a:solidFill>
                <a:latin typeface="Segoe U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70176" y="2670048"/>
            <a:ext cx="688848" cy="2286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750" b="0">
                <a:solidFill>
                  <a:srgbClr val="77747C"/>
                </a:solidFill>
                <a:latin typeface="Segoe UI"/>
              </a:rPr>
              <a:t>knapp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13888" y="2286000"/>
            <a:ext cx="688848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13888" y="2322576"/>
            <a:ext cx="688848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1700" b="1">
                <a:solidFill>
                  <a:srgbClr val="A8271C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13888" y="2670048"/>
            <a:ext cx="688848" cy="2286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750" b="0">
                <a:solidFill>
                  <a:srgbClr val="77747C"/>
                </a:solidFill>
                <a:latin typeface="Segoe UI"/>
              </a:rPr>
              <a:t>leer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426464" y="3090672"/>
            <a:ext cx="2176272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17904" y="3145536"/>
            <a:ext cx="199339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17161A"/>
                </a:solidFill>
                <a:latin typeface="Segoe UI"/>
              </a:rPr>
              <a:t>Heute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7904" y="3401568"/>
            <a:ext cx="1993392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17161A"/>
                </a:solidFill>
                <a:latin typeface="Segoe UI"/>
              </a:rPr>
              <a:t>14</a:t>
            </a:r>
            <a:r>
              <a:rPr sz="900" b="0">
                <a:solidFill>
                  <a:srgbClr val="17161A"/>
                </a:solidFill>
                <a:latin typeface="Segoe UI"/>
              </a:rPr>
              <a:t> Verkäufe   ·   </a:t>
            </a:r>
            <a:r>
              <a:rPr sz="900" b="1">
                <a:solidFill>
                  <a:srgbClr val="17161A"/>
                </a:solidFill>
                <a:latin typeface="Segoe UI"/>
              </a:rPr>
              <a:t>3</a:t>
            </a:r>
            <a:r>
              <a:rPr sz="900" b="0">
                <a:solidFill>
                  <a:srgbClr val="17161A"/>
                </a:solidFill>
                <a:latin typeface="Segoe UI"/>
              </a:rPr>
              <a:t> Bestellungen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426464" y="4005072"/>
            <a:ext cx="217627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A827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17904" y="4059936"/>
            <a:ext cx="199339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A8271C"/>
                </a:solidFill>
                <a:latin typeface="Segoe UI"/>
              </a:rPr>
              <a:t>KI-Vorschlag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17904" y="4334256"/>
            <a:ext cx="1993392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0">
                <a:solidFill>
                  <a:srgbClr val="17161A"/>
                </a:solidFill>
                <a:latin typeface="Segoe UI"/>
              </a:rPr>
              <a:t>Hoodie M in Zürich leer. 12 nachbestellen?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517904" y="4937760"/>
            <a:ext cx="950976" cy="329184"/>
          </a:xfrm>
          <a:prstGeom prst="roundRect">
            <a:avLst>
              <a:gd name="adj" fmla="val 2500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517904" y="4937760"/>
            <a:ext cx="950976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800" b="1">
                <a:solidFill>
                  <a:srgbClr val="FFFFFF"/>
                </a:solidFill>
                <a:latin typeface="Segoe UI"/>
              </a:rPr>
              <a:t>Übernehmen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560320" y="4937760"/>
            <a:ext cx="950976" cy="329184"/>
          </a:xfrm>
          <a:prstGeom prst="roundRect">
            <a:avLst>
              <a:gd name="adj" fmla="val 25000"/>
            </a:avLst>
          </a:prstGeom>
          <a:solidFill>
            <a:srgbClr val="E4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560320" y="4937760"/>
            <a:ext cx="950976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800" b="0">
                <a:solidFill>
                  <a:srgbClr val="17161A"/>
                </a:solidFill>
                <a:latin typeface="Segoe UI"/>
              </a:rPr>
              <a:t>Ablehnen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0" y="2194560"/>
            <a:ext cx="128016" cy="868680"/>
          </a:xfrm>
          <a:prstGeom prst="roundRect">
            <a:avLst>
              <a:gd name="adj" fmla="val 5000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0" y="2194560"/>
            <a:ext cx="6492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7161A"/>
                </a:solidFill>
                <a:latin typeface="Segoe UI"/>
              </a:rPr>
              <a:t>Ampeln zeigen den Bestand.</a:t>
            </a:r>
            <a:r>
              <a:rPr sz="1600" b="0">
                <a:solidFill>
                  <a:srgbClr val="17161A"/>
                </a:solidFill>
                <a:latin typeface="Segoe UI"/>
              </a:rPr>
              <a:t> Grün gut, gelb knapp, rot leer.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0" y="3429000"/>
            <a:ext cx="128016" cy="868680"/>
          </a:xfrm>
          <a:prstGeom prst="roundRect">
            <a:avLst>
              <a:gd name="adj" fmla="val 5000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20640" y="3429000"/>
            <a:ext cx="6492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7161A"/>
                </a:solidFill>
                <a:latin typeface="Segoe UI"/>
              </a:rPr>
              <a:t>Heute-Zahlen live</a:t>
            </a:r>
            <a:r>
              <a:rPr sz="1600" b="0">
                <a:solidFill>
                  <a:srgbClr val="17161A"/>
                </a:solidFill>
                <a:latin typeface="Segoe UI"/>
              </a:rPr>
              <a:t> aus deinem Shop.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54880" y="4663440"/>
            <a:ext cx="128016" cy="868680"/>
          </a:xfrm>
          <a:prstGeom prst="roundRect">
            <a:avLst>
              <a:gd name="adj" fmla="val 5000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20640" y="4663440"/>
            <a:ext cx="6492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7161A"/>
                </a:solidFill>
                <a:latin typeface="Segoe UI"/>
              </a:rPr>
              <a:t>KI-Vorschlag:</a:t>
            </a:r>
            <a:r>
              <a:rPr sz="1600" b="0">
                <a:solidFill>
                  <a:srgbClr val="17161A"/>
                </a:solidFill>
                <a:latin typeface="Segoe UI"/>
              </a:rPr>
              <a:t> übernehmen oder ablehnen. Du entscheidest.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28016"/>
          </a:xfrm>
          <a:prstGeom prst="roundRect">
            <a:avLst>
              <a:gd name="adj" fmla="val 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778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17161A"/>
                </a:solidFill>
                <a:latin typeface="Georgia"/>
              </a:rPr>
              <a:t>Der Wareneingang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87552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77747C"/>
                </a:solidFill>
                <a:latin typeface="Segoe UI"/>
              </a:rPr>
              <a:t>Karton auf, Handy dran, fertig.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41148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800">
                <a:solidFill>
                  <a:srgbClr val="17161A"/>
                </a:solidFill>
                <a:latin typeface="Georgia"/>
              </a:rPr>
              <a:t>FINELLI</a:t>
            </a:r>
            <a:r>
              <a:rPr sz="900">
                <a:solidFill>
                  <a:srgbClr val="A8271C"/>
                </a:solidFill>
              </a:rPr>
              <a:t> 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88720" y="1737360"/>
            <a:ext cx="2651760" cy="4572000"/>
          </a:xfrm>
          <a:prstGeom prst="roundRect">
            <a:avLst>
              <a:gd name="adj" fmla="val 9000"/>
            </a:avLst>
          </a:prstGeom>
          <a:solidFill>
            <a:srgbClr val="17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98448" y="1847088"/>
            <a:ext cx="2432304" cy="4352544"/>
          </a:xfrm>
          <a:prstGeom prst="roundRect">
            <a:avLst>
              <a:gd name="adj" fmla="val 7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08176" y="1920240"/>
            <a:ext cx="2212848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7161A"/>
                </a:solidFill>
                <a:latin typeface="Segoe UI"/>
              </a:rPr>
              <a:t>FINELLI 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26464" y="2286000"/>
            <a:ext cx="2176272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517904" y="2395728"/>
            <a:ext cx="457200" cy="237744"/>
          </a:xfrm>
          <a:prstGeom prst="roundRect">
            <a:avLst>
              <a:gd name="adj" fmla="val 5000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48256" y="2286000"/>
            <a:ext cx="1536192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0">
                <a:solidFill>
                  <a:srgbClr val="17161A"/>
                </a:solidFill>
                <a:latin typeface="Segoe UI"/>
              </a:rPr>
              <a:t>Test: WLAN ausgeschaltet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26464" y="2889504"/>
            <a:ext cx="2176272" cy="685800"/>
          </a:xfrm>
          <a:prstGeom prst="roundRect">
            <a:avLst>
              <a:gd name="adj" fmla="val 1200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26464" y="2889504"/>
            <a:ext cx="2176272" cy="6858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Artikel scannen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26464" y="3712464"/>
            <a:ext cx="2176272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17904" y="3712464"/>
            <a:ext cx="1993392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1">
                <a:solidFill>
                  <a:srgbClr val="2F7D43"/>
                </a:solidFill>
                <a:latin typeface="Segoe UI"/>
              </a:rPr>
              <a:t>Eingebucht:</a:t>
            </a:r>
            <a:r>
              <a:rPr sz="850" b="0">
                <a:solidFill>
                  <a:srgbClr val="2F7D43"/>
                </a:solidFill>
                <a:latin typeface="Segoe UI"/>
              </a:rPr>
              <a:t> 1x Tee Box-Logo 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26464" y="4407408"/>
            <a:ext cx="2176272" cy="960120"/>
          </a:xfrm>
          <a:prstGeom prst="roundRect">
            <a:avLst>
              <a:gd name="adj" fmla="val 6000"/>
            </a:avLst>
          </a:prstGeom>
          <a:solidFill>
            <a:srgbClr val="F5ECD9"/>
          </a:solidFill>
          <a:ln w="12700">
            <a:solidFill>
              <a:srgbClr val="B986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17904" y="4480560"/>
            <a:ext cx="1993392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1">
                <a:solidFill>
                  <a:srgbClr val="7A5C12"/>
                </a:solidFill>
                <a:latin typeface="Segoe UI"/>
              </a:rPr>
              <a:t>Warteschlange: 1 Buchung.</a:t>
            </a:r>
            <a:r>
              <a:rPr sz="850" b="0">
                <a:solidFill>
                  <a:srgbClr val="7A5C12"/>
                </a:solidFill>
                <a:latin typeface="Segoe UI"/>
              </a:rPr>
              <a:t> Wird automatisch nachgebucht, sobald WLAN da ist.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80" y="2194560"/>
            <a:ext cx="128016" cy="868680"/>
          </a:xfrm>
          <a:prstGeom prst="roundRect">
            <a:avLst>
              <a:gd name="adj" fmla="val 5000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0" y="2194560"/>
            <a:ext cx="6492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7161A"/>
                </a:solidFill>
                <a:latin typeface="Segoe UI"/>
              </a:rPr>
              <a:t>Scannen und einbuchen</a:t>
            </a:r>
            <a:r>
              <a:rPr sz="1600" b="0">
                <a:solidFill>
                  <a:srgbClr val="17161A"/>
                </a:solidFill>
                <a:latin typeface="Segoe UI"/>
              </a:rPr>
              <a:t> in 10 Sekunden pro Artikel.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0" y="3429000"/>
            <a:ext cx="128016" cy="868680"/>
          </a:xfrm>
          <a:prstGeom prst="roundRect">
            <a:avLst>
              <a:gd name="adj" fmla="val 5000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0" y="3429000"/>
            <a:ext cx="6492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7161A"/>
                </a:solidFill>
                <a:latin typeface="Segoe UI"/>
              </a:rPr>
              <a:t>Ohne WLAN</a:t>
            </a:r>
            <a:r>
              <a:rPr sz="1600" b="0">
                <a:solidFill>
                  <a:srgbClr val="17161A"/>
                </a:solidFill>
                <a:latin typeface="Segoe UI"/>
              </a:rPr>
              <a:t> wartet die Buchung in der Warteschlange.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0" y="4663440"/>
            <a:ext cx="128016" cy="868680"/>
          </a:xfrm>
          <a:prstGeom prst="roundRect">
            <a:avLst>
              <a:gd name="adj" fmla="val 5000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0" y="4663440"/>
            <a:ext cx="6492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7161A"/>
                </a:solidFill>
                <a:latin typeface="Segoe UI"/>
              </a:rPr>
              <a:t>Nichts geht verloren.</a:t>
            </a:r>
            <a:r>
              <a:rPr sz="1600" b="0">
                <a:solidFill>
                  <a:srgbClr val="17161A"/>
                </a:solidFill>
                <a:latin typeface="Segoe UI"/>
              </a:rPr>
              <a:t> Jede Buchung landet genau einmal im System.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28016"/>
          </a:xfrm>
          <a:prstGeom prst="roundRect">
            <a:avLst>
              <a:gd name="adj" fmla="val 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778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17161A"/>
                </a:solidFill>
                <a:latin typeface="Georgia"/>
              </a:rPr>
              <a:t>Frag Finelli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87552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77747C"/>
                </a:solidFill>
                <a:latin typeface="Segoe UI"/>
              </a:rPr>
              <a:t>Deine Zahlen in normaler Sprache.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41148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800">
                <a:solidFill>
                  <a:srgbClr val="17161A"/>
                </a:solidFill>
                <a:latin typeface="Georgia"/>
              </a:rPr>
              <a:t>FINELLI</a:t>
            </a:r>
            <a:r>
              <a:rPr sz="900">
                <a:solidFill>
                  <a:srgbClr val="A8271C"/>
                </a:solidFill>
              </a:rPr>
              <a:t> 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88720" y="1737360"/>
            <a:ext cx="2651760" cy="4572000"/>
          </a:xfrm>
          <a:prstGeom prst="roundRect">
            <a:avLst>
              <a:gd name="adj" fmla="val 9000"/>
            </a:avLst>
          </a:prstGeom>
          <a:solidFill>
            <a:srgbClr val="17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98448" y="1847088"/>
            <a:ext cx="2432304" cy="4352544"/>
          </a:xfrm>
          <a:prstGeom prst="roundRect">
            <a:avLst>
              <a:gd name="adj" fmla="val 7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08176" y="1920240"/>
            <a:ext cx="2212848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7161A"/>
                </a:solidFill>
                <a:latin typeface="Segoe UI"/>
              </a:rPr>
              <a:t>FINELLI 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18193" y="2286000"/>
            <a:ext cx="1784543" cy="502920"/>
          </a:xfrm>
          <a:prstGeom prst="roundRect">
            <a:avLst>
              <a:gd name="adj" fmla="val 30000"/>
            </a:avLst>
          </a:prstGeom>
          <a:solidFill>
            <a:srgbClr val="17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09633" y="2286000"/>
            <a:ext cx="1601663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0">
                <a:solidFill>
                  <a:srgbClr val="FFFFFF"/>
                </a:solidFill>
                <a:latin typeface="Segoe UI"/>
              </a:rPr>
              <a:t>Wo liegt Hoodie M?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26464" y="2916936"/>
            <a:ext cx="1784543" cy="5029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17904" y="2916936"/>
            <a:ext cx="1601663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0">
                <a:solidFill>
                  <a:srgbClr val="17161A"/>
                </a:solidFill>
                <a:latin typeface="Segoe UI"/>
              </a:rPr>
              <a:t>Zürich 0, Embrach 4. Regal B, Fach 3.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18193" y="3547872"/>
            <a:ext cx="1784543" cy="502920"/>
          </a:xfrm>
          <a:prstGeom prst="roundRect">
            <a:avLst>
              <a:gd name="adj" fmla="val 30000"/>
            </a:avLst>
          </a:prstGeom>
          <a:solidFill>
            <a:srgbClr val="17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09633" y="3547872"/>
            <a:ext cx="1601663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0">
                <a:solidFill>
                  <a:srgbClr val="FFFFFF"/>
                </a:solidFill>
                <a:latin typeface="Segoe UI"/>
              </a:rPr>
              <a:t>Was ist knapp?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26464" y="4178808"/>
            <a:ext cx="1784543" cy="5029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17904" y="4178808"/>
            <a:ext cx="1601663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0">
                <a:solidFill>
                  <a:srgbClr val="17161A"/>
                </a:solidFill>
                <a:latin typeface="Segoe UI"/>
              </a:rPr>
              <a:t>Cap Sport und Beanie Logo.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26464" y="5696712"/>
            <a:ext cx="2176272" cy="3657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36192" y="5696712"/>
            <a:ext cx="1956816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0">
                <a:solidFill>
                  <a:srgbClr val="77747C"/>
                </a:solidFill>
                <a:latin typeface="Segoe UI"/>
              </a:rPr>
              <a:t>Frage eingeben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54880" y="2194560"/>
            <a:ext cx="128016" cy="868680"/>
          </a:xfrm>
          <a:prstGeom prst="roundRect">
            <a:avLst>
              <a:gd name="adj" fmla="val 5000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640" y="2194560"/>
            <a:ext cx="6492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7161A"/>
                </a:solidFill>
                <a:latin typeface="Segoe UI"/>
              </a:rPr>
              <a:t>Fragen statt suchen.</a:t>
            </a:r>
            <a:r>
              <a:rPr sz="1600" b="0">
                <a:solidFill>
                  <a:srgbClr val="17161A"/>
                </a:solidFill>
                <a:latin typeface="Segoe UI"/>
              </a:rPr>
              <a:t> Keine Tabellen, keine Excel-Listen.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80" y="3429000"/>
            <a:ext cx="128016" cy="868680"/>
          </a:xfrm>
          <a:prstGeom prst="roundRect">
            <a:avLst>
              <a:gd name="adj" fmla="val 5000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20640" y="3429000"/>
            <a:ext cx="6492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7161A"/>
                </a:solidFill>
                <a:latin typeface="Segoe UI"/>
              </a:rPr>
              <a:t>Antworten aus deinen echten Zahlen,</a:t>
            </a:r>
            <a:r>
              <a:rPr sz="1600" b="0">
                <a:solidFill>
                  <a:srgbClr val="17161A"/>
                </a:solidFill>
                <a:latin typeface="Segoe UI"/>
              </a:rPr>
              <a:t> in Sekunden.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0" y="4663440"/>
            <a:ext cx="128016" cy="868680"/>
          </a:xfrm>
          <a:prstGeom prst="roundRect">
            <a:avLst>
              <a:gd name="adj" fmla="val 5000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20640" y="4663440"/>
            <a:ext cx="6492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7161A"/>
                </a:solidFill>
                <a:latin typeface="Segoe UI"/>
              </a:rPr>
              <a:t>Nur Antworten.</a:t>
            </a:r>
            <a:r>
              <a:rPr sz="1600" b="0">
                <a:solidFill>
                  <a:srgbClr val="17161A"/>
                </a:solidFill>
                <a:latin typeface="Segoe UI"/>
              </a:rPr>
              <a:t> Gebucht wird nichts.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28016"/>
          </a:xfrm>
          <a:prstGeom prst="roundRect">
            <a:avLst>
              <a:gd name="adj" fmla="val 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778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17161A"/>
                </a:solidFill>
                <a:latin typeface="Georgia"/>
              </a:rPr>
              <a:t>So führen wir es ein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87552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77747C"/>
                </a:solidFill>
                <a:latin typeface="Segoe UI"/>
              </a:rPr>
              <a:t>Vier Schritte. Der Laden läuft normal weiter.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41148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800">
                <a:solidFill>
                  <a:srgbClr val="17161A"/>
                </a:solidFill>
                <a:latin typeface="Georgia"/>
              </a:rPr>
              <a:t>FINELLI</a:t>
            </a:r>
            <a:r>
              <a:rPr sz="900">
                <a:solidFill>
                  <a:srgbClr val="A8271C"/>
                </a:solidFill>
              </a:rPr>
              <a:t> ●</a:t>
            </a:r>
          </a:p>
        </p:txBody>
      </p:sp>
      <p:sp>
        <p:nvSpPr>
          <p:cNvPr id="6" name="Chevron 5"/>
          <p:cNvSpPr/>
          <p:nvPr/>
        </p:nvSpPr>
        <p:spPr>
          <a:xfrm>
            <a:off x="548640" y="1920240"/>
            <a:ext cx="2788920" cy="777240"/>
          </a:xfrm>
          <a:prstGeom prst="chevron">
            <a:avLst>
              <a:gd name="adj" fmla="val 35000"/>
            </a:avLst>
          </a:prstGeom>
          <a:solidFill>
            <a:srgbClr val="17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029968"/>
            <a:ext cx="2240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1   Zählen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71800"/>
            <a:ext cx="246888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77747C"/>
                </a:solidFill>
                <a:latin typeface="Segoe UI"/>
              </a:rPr>
              <a:t>Dein Team zählt einmal sauber durch. Mit Anleitung und Lagerplatz-Etiketten von uns.</a:t>
            </a:r>
          </a:p>
        </p:txBody>
      </p:sp>
      <p:sp>
        <p:nvSpPr>
          <p:cNvPr id="9" name="Chevron 8"/>
          <p:cNvSpPr/>
          <p:nvPr/>
        </p:nvSpPr>
        <p:spPr>
          <a:xfrm>
            <a:off x="3364992" y="1920240"/>
            <a:ext cx="2788920" cy="777240"/>
          </a:xfrm>
          <a:prstGeom prst="chevron">
            <a:avLst>
              <a:gd name="adj" fmla="val 35000"/>
            </a:avLst>
          </a:prstGeom>
          <a:solidFill>
            <a:srgbClr val="17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85032" y="2029968"/>
            <a:ext cx="2240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2   Verbinden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56432" y="2971800"/>
            <a:ext cx="246888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77747C"/>
                </a:solidFill>
                <a:latin typeface="Segoe UI"/>
              </a:rPr>
              <a:t>Wir verbinden das Cockpit mit deinem Shopify. Shopify bleibt führend.</a:t>
            </a:r>
          </a:p>
        </p:txBody>
      </p:sp>
      <p:sp>
        <p:nvSpPr>
          <p:cNvPr id="12" name="Chevron 11"/>
          <p:cNvSpPr/>
          <p:nvPr/>
        </p:nvSpPr>
        <p:spPr>
          <a:xfrm>
            <a:off x="6181344" y="1920240"/>
            <a:ext cx="2788920" cy="777240"/>
          </a:xfrm>
          <a:prstGeom prst="chevron">
            <a:avLst>
              <a:gd name="adj" fmla="val 35000"/>
            </a:avLst>
          </a:prstGeom>
          <a:solidFill>
            <a:srgbClr val="17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01384" y="2029968"/>
            <a:ext cx="2240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3   Schulen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72784" y="2971800"/>
            <a:ext cx="246888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77747C"/>
                </a:solidFill>
                <a:latin typeface="Segoe UI"/>
              </a:rPr>
              <a:t>30 Minuten pro Person. Jeder bekommt eine eigene PIN.</a:t>
            </a:r>
          </a:p>
        </p:txBody>
      </p:sp>
      <p:sp>
        <p:nvSpPr>
          <p:cNvPr id="15" name="Chevron 14"/>
          <p:cNvSpPr/>
          <p:nvPr/>
        </p:nvSpPr>
        <p:spPr>
          <a:xfrm>
            <a:off x="8997696" y="1920240"/>
            <a:ext cx="2788920" cy="777240"/>
          </a:xfrm>
          <a:prstGeom prst="chevron">
            <a:avLst>
              <a:gd name="adj" fmla="val 3500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17736" y="2029968"/>
            <a:ext cx="2240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4   Betrieb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89136" y="2971800"/>
            <a:ext cx="246888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77747C"/>
                </a:solidFill>
                <a:latin typeface="Segoe UI"/>
              </a:rPr>
              <a:t>Wochen-Bericht jeden Montag. Wir betreuen und bauen aus, wenn du es willst.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94360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17161A"/>
                </a:solidFill>
                <a:latin typeface="Segoe UI"/>
              </a:rPr>
              <a:t>Kein Umbau. Kein Stillstand. Kein Risiko für das Tagesgeschäft.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28016"/>
          </a:xfrm>
          <a:prstGeom prst="roundRect">
            <a:avLst>
              <a:gd name="adj" fmla="val 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778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17161A"/>
                </a:solidFill>
                <a:latin typeface="Georgia"/>
              </a:rPr>
              <a:t>Drei Modelle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87552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77747C"/>
                </a:solidFill>
                <a:latin typeface="Segoe UI"/>
              </a:rPr>
              <a:t>Klein, mittel, gross. Jedes enthält das kleinere. Wechsel jederzeit möglich.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41148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800">
                <a:solidFill>
                  <a:srgbClr val="17161A"/>
                </a:solidFill>
                <a:latin typeface="Georgia"/>
              </a:rPr>
              <a:t>FINELLI</a:t>
            </a:r>
            <a:r>
              <a:rPr sz="900">
                <a:solidFill>
                  <a:srgbClr val="A8271C"/>
                </a:solidFill>
              </a:rPr>
              <a:t> 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429000"/>
            <a:ext cx="3383280" cy="2468880"/>
          </a:xfrm>
          <a:prstGeom prst="roundRect">
            <a:avLst>
              <a:gd name="adj" fmla="val 3000"/>
            </a:avLst>
          </a:prstGeom>
          <a:solidFill>
            <a:srgbClr val="E4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657600"/>
            <a:ext cx="283464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77747C"/>
                </a:solidFill>
                <a:latin typeface="Segoe UI"/>
              </a:rPr>
              <a:t>KLEIN</a:t>
            </a:r>
          </a:p>
          <a:p>
            <a:pPr algn="l">
              <a:spcAft>
                <a:spcPts val="600"/>
              </a:spcAft>
            </a:pPr>
            <a:r>
              <a:rPr sz="2100" b="1">
                <a:solidFill>
                  <a:srgbClr val="17161A"/>
                </a:solidFill>
                <a:latin typeface="Georgia"/>
              </a:rPr>
              <a:t>Basic</a:t>
            </a:r>
          </a:p>
          <a:p>
            <a:pPr algn="l">
              <a:spcAft>
                <a:spcPts val="600"/>
              </a:spcAft>
            </a:pPr>
            <a:r>
              <a:rPr sz="2600" b="1">
                <a:solidFill>
                  <a:srgbClr val="17161A"/>
                </a:solidFill>
                <a:latin typeface="Segoe UI"/>
              </a:rPr>
              <a:t>CHF 1'250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77747C"/>
                </a:solidFill>
                <a:latin typeface="Segoe UI"/>
              </a:rPr>
              <a:t>pro Monat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77747C"/>
                </a:solidFill>
                <a:latin typeface="Segoe UI"/>
              </a:rPr>
              <a:t>Lager und Alltag im Griff.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971800"/>
            <a:ext cx="3383280" cy="2926080"/>
          </a:xfrm>
          <a:prstGeom prst="roundRect">
            <a:avLst>
              <a:gd name="adj" fmla="val 300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3200400"/>
            <a:ext cx="283464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0C9C3"/>
                </a:solidFill>
                <a:latin typeface="Segoe UI"/>
              </a:rPr>
              <a:t>MITTEL</a:t>
            </a:r>
          </a:p>
          <a:p>
            <a:pPr algn="l">
              <a:spcAft>
                <a:spcPts val="600"/>
              </a:spcAft>
            </a:pPr>
            <a:r>
              <a:rPr sz="2100" b="1">
                <a:solidFill>
                  <a:srgbClr val="FFFFFF"/>
                </a:solidFill>
                <a:latin typeface="Georgia"/>
              </a:rPr>
              <a:t>Premium</a:t>
            </a:r>
          </a:p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CHF 2'200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F0C9C3"/>
                </a:solidFill>
                <a:latin typeface="Segoe UI"/>
              </a:rPr>
              <a:t>pro Monat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F0C9C3"/>
                </a:solidFill>
                <a:latin typeface="Segoe UI"/>
              </a:rPr>
              <a:t>Dazu: dein Shop verkauft aktiv mit.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2715768"/>
            <a:ext cx="1691640" cy="438912"/>
          </a:xfrm>
          <a:prstGeom prst="roundRect">
            <a:avLst>
              <a:gd name="adj" fmla="val 6000"/>
            </a:avLst>
          </a:prstGeom>
          <a:solidFill>
            <a:srgbClr val="17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43200"/>
            <a:ext cx="16916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1">
                <a:solidFill>
                  <a:srgbClr val="FFFFFF"/>
                </a:solidFill>
                <a:latin typeface="Segoe UI"/>
              </a:rPr>
              <a:t>Unser Vorschlag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2514600"/>
            <a:ext cx="3383280" cy="3383280"/>
          </a:xfrm>
          <a:prstGeom prst="roundRect">
            <a:avLst>
              <a:gd name="adj" fmla="val 3000"/>
            </a:avLst>
          </a:prstGeom>
          <a:solidFill>
            <a:srgbClr val="17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92440" y="2514600"/>
            <a:ext cx="3383280" cy="82296"/>
          </a:xfrm>
          <a:prstGeom prst="roundRect">
            <a:avLst>
              <a:gd name="adj" fmla="val 0"/>
            </a:avLst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60" y="2743200"/>
            <a:ext cx="283464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B7B4BD"/>
                </a:solidFill>
                <a:latin typeface="Segoe UI"/>
              </a:rPr>
              <a:t>GROSS</a:t>
            </a:r>
          </a:p>
          <a:p>
            <a:pPr algn="l">
              <a:spcAft>
                <a:spcPts val="600"/>
              </a:spcAft>
            </a:pPr>
            <a:r>
              <a:rPr sz="2100" b="1">
                <a:solidFill>
                  <a:srgbClr val="B08D57"/>
                </a:solidFill>
                <a:latin typeface="Georgia"/>
              </a:rPr>
              <a:t>Max</a:t>
            </a:r>
          </a:p>
          <a:p>
            <a:pPr algn="l">
              <a:spcAft>
                <a:spcPts val="600"/>
              </a:spcAft>
            </a:pPr>
            <a:r>
              <a:rPr sz="2600" b="1">
                <a:solidFill>
                  <a:srgbClr val="B08D57"/>
                </a:solidFill>
                <a:latin typeface="Segoe UI"/>
              </a:rPr>
              <a:t>CHF 5'000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B7B4BD"/>
                </a:solidFill>
                <a:latin typeface="Segoe UI"/>
              </a:rPr>
              <a:t>pro Monat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B7B4BD"/>
                </a:solidFill>
                <a:latin typeface="Segoe UI"/>
              </a:rPr>
              <a:t>Dazu: Marketing und Zahlen automatisch.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0807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77747C"/>
                </a:solidFill>
                <a:latin typeface="Segoe UI"/>
              </a:rPr>
              <a:t>Preise gemäss Absprache. Details, Laufzeit und Garantien regelt der Vertrag.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28016"/>
          </a:xfrm>
          <a:prstGeom prst="roundRect">
            <a:avLst>
              <a:gd name="adj" fmla="val 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778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17161A"/>
                </a:solidFill>
                <a:latin typeface="Georgia"/>
              </a:rPr>
              <a:t>Basic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87552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77747C"/>
                </a:solidFill>
                <a:latin typeface="Segoe UI"/>
              </a:rPr>
              <a:t>CHF 1'250 pro Monat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41148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800">
                <a:solidFill>
                  <a:srgbClr val="17161A"/>
                </a:solidFill>
                <a:latin typeface="Georgia"/>
              </a:rPr>
              <a:t>FINELLI</a:t>
            </a:r>
            <a:r>
              <a:rPr sz="900">
                <a:solidFill>
                  <a:srgbClr val="A8271C"/>
                </a:solidFill>
              </a:rPr>
              <a:t> 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324612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29260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A8271C"/>
                </a:solidFill>
                <a:latin typeface="Segoe UI"/>
              </a:rPr>
              <a:t>Wochen-Report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1856232"/>
            <a:ext cx="74980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17161A"/>
                </a:solidFill>
                <a:latin typeface="Segoe UI"/>
              </a:rPr>
              <a:t>Jeden Montag eine Seite:</a:t>
            </a:r>
            <a:r>
              <a:rPr sz="1350" b="0">
                <a:solidFill>
                  <a:srgbClr val="17161A"/>
                </a:solidFill>
                <a:latin typeface="Segoe UI"/>
              </a:rPr>
              <a:t> was lief, was knapp ist, was kommt.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51760"/>
            <a:ext cx="324612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51760"/>
            <a:ext cx="29260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A8271C"/>
                </a:solidFill>
                <a:latin typeface="Segoe UI"/>
              </a:rPr>
              <a:t>Bestell-Alarm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2724912"/>
            <a:ext cx="74980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17161A"/>
                </a:solidFill>
                <a:latin typeface="Segoe UI"/>
              </a:rPr>
              <a:t>Meldet sich, bevor ein Artikel ausgeht.</a:t>
            </a:r>
            <a:r>
              <a:rPr sz="1350" b="0">
                <a:solidFill>
                  <a:srgbClr val="17161A"/>
                </a:solidFill>
                <a:latin typeface="Segoe UI"/>
              </a:rPr>
              <a:t> Mit Mengen-Vorschlag.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520440"/>
            <a:ext cx="324612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520440"/>
            <a:ext cx="29260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A8271C"/>
                </a:solidFill>
                <a:latin typeface="Segoe UI"/>
              </a:rPr>
              <a:t>Lager-Automatik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3593592"/>
            <a:ext cx="74980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17161A"/>
                </a:solidFill>
                <a:latin typeface="Segoe UI"/>
              </a:rPr>
              <a:t>Beide Standorte immer aktuell.</a:t>
            </a:r>
            <a:r>
              <a:rPr sz="1350" b="0">
                <a:solidFill>
                  <a:srgbClr val="17161A"/>
                </a:solidFill>
                <a:latin typeface="Segoe UI"/>
              </a:rPr>
              <a:t> Umlagern in zwei Klicks.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389120"/>
            <a:ext cx="324612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389120"/>
            <a:ext cx="29260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A8271C"/>
                </a:solidFill>
                <a:latin typeface="Segoe UI"/>
              </a:rPr>
              <a:t>Verpackungs-Software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4462272"/>
            <a:ext cx="74980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17161A"/>
                </a:solidFill>
                <a:latin typeface="Segoe UI"/>
              </a:rPr>
              <a:t>Pickzettel mit Laufweg.</a:t>
            </a:r>
            <a:r>
              <a:rPr sz="1350" b="0">
                <a:solidFill>
                  <a:srgbClr val="17161A"/>
                </a:solidFill>
                <a:latin typeface="Segoe UI"/>
              </a:rPr>
              <a:t> Post-Etikette automatisch.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257800"/>
            <a:ext cx="324612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57800"/>
            <a:ext cx="29260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A8271C"/>
                </a:solidFill>
                <a:latin typeface="Segoe UI"/>
              </a:rPr>
              <a:t>Kassenabrechnung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60520" y="5330952"/>
            <a:ext cx="74980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17161A"/>
                </a:solidFill>
                <a:latin typeface="Segoe UI"/>
              </a:rPr>
              <a:t>Tagesabschluss automatisch.</a:t>
            </a:r>
            <a:r>
              <a:rPr sz="1350" b="0">
                <a:solidFill>
                  <a:srgbClr val="17161A"/>
                </a:solidFill>
                <a:latin typeface="Segoe UI"/>
              </a:rPr>
              <a:t> Kein Nachtragen von Hand.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28016"/>
          </a:xfrm>
          <a:prstGeom prst="roundRect">
            <a:avLst>
              <a:gd name="adj" fmla="val 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778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17161A"/>
                </a:solidFill>
                <a:latin typeface="Georgia"/>
              </a:rPr>
              <a:t>Premium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87552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77747C"/>
                </a:solidFill>
                <a:latin typeface="Segoe UI"/>
              </a:rPr>
              <a:t>CHF 2'200 pro Monat   ·   alles aus Basic, plus: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41148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800">
                <a:solidFill>
                  <a:srgbClr val="17161A"/>
                </a:solidFill>
                <a:latin typeface="Georgia"/>
              </a:rPr>
              <a:t>FINELLI</a:t>
            </a:r>
            <a:r>
              <a:rPr sz="900">
                <a:solidFill>
                  <a:srgbClr val="A8271C"/>
                </a:solidFill>
              </a:rPr>
              <a:t> 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324612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29260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A8271C"/>
                </a:solidFill>
                <a:latin typeface="Segoe UI"/>
              </a:rPr>
              <a:t>Shop-Regal-Zahlen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1856232"/>
            <a:ext cx="74980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17161A"/>
                </a:solidFill>
                <a:latin typeface="Segoe UI"/>
              </a:rPr>
              <a:t>Was verkauft und was liegen bleibt.</a:t>
            </a:r>
            <a:r>
              <a:rPr sz="1350" b="0">
                <a:solidFill>
                  <a:srgbClr val="17161A"/>
                </a:solidFill>
                <a:latin typeface="Segoe UI"/>
              </a:rPr>
              <a:t> Pro Produkt, pro Regal.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51760"/>
            <a:ext cx="324612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51760"/>
            <a:ext cx="29260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A8271C"/>
                </a:solidFill>
                <a:latin typeface="Segoe UI"/>
              </a:rPr>
              <a:t>Alter/Region-Zahlen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2724912"/>
            <a:ext cx="74980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17161A"/>
                </a:solidFill>
                <a:latin typeface="Segoe UI"/>
              </a:rPr>
              <a:t>Wer bei dir kauft:</a:t>
            </a:r>
            <a:r>
              <a:rPr sz="1350" b="0">
                <a:solidFill>
                  <a:srgbClr val="17161A"/>
                </a:solidFill>
                <a:latin typeface="Segoe UI"/>
              </a:rPr>
              <a:t> Alter und Region auf einen Blick.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520440"/>
            <a:ext cx="324612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520440"/>
            <a:ext cx="29260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A8271C"/>
                </a:solidFill>
                <a:latin typeface="Segoe UI"/>
              </a:rPr>
              <a:t>Website-Auto-Verwaltung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3593592"/>
            <a:ext cx="74980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17161A"/>
                </a:solidFill>
                <a:latin typeface="Segoe UI"/>
              </a:rPr>
              <a:t>Produkte und Texte pflegen sich selbst.</a:t>
            </a:r>
            <a:r>
              <a:rPr sz="1350" b="0">
                <a:solidFill>
                  <a:srgbClr val="17161A"/>
                </a:solidFill>
                <a:latin typeface="Segoe UI"/>
              </a:rPr>
              <a:t> Du gibst frei.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389120"/>
            <a:ext cx="324612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389120"/>
            <a:ext cx="29260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A8271C"/>
                </a:solidFill>
                <a:latin typeface="Segoe UI"/>
              </a:rPr>
              <a:t>Persönlicher Shop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4462272"/>
            <a:ext cx="74980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17161A"/>
                </a:solidFill>
                <a:latin typeface="Segoe UI"/>
              </a:rPr>
              <a:t>Jeder Besucher sieht zuerst,</a:t>
            </a:r>
            <a:r>
              <a:rPr sz="1350" b="0">
                <a:solidFill>
                  <a:srgbClr val="17161A"/>
                </a:solidFill>
                <a:latin typeface="Segoe UI"/>
              </a:rPr>
              <a:t> was ihn am ehesten interessiert.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257800"/>
            <a:ext cx="324612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57800"/>
            <a:ext cx="29260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A8271C"/>
                </a:solidFill>
                <a:latin typeface="Segoe UI"/>
              </a:rPr>
              <a:t>Website-Avatar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60520" y="5330952"/>
            <a:ext cx="74980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17161A"/>
                </a:solidFill>
                <a:latin typeface="Segoe UI"/>
              </a:rPr>
              <a:t>Digitaler Berater</a:t>
            </a:r>
            <a:r>
              <a:rPr sz="1350" b="0">
                <a:solidFill>
                  <a:srgbClr val="17161A"/>
                </a:solidFill>
                <a:latin typeface="Segoe UI"/>
              </a:rPr>
              <a:t> beantwortet Kundenfragen. Rund um die Uhr.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28016"/>
          </a:xfrm>
          <a:prstGeom prst="roundRect">
            <a:avLst>
              <a:gd name="adj" fmla="val 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778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17161A"/>
                </a:solidFill>
                <a:latin typeface="Georgia"/>
              </a:rPr>
              <a:t>Max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87552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77747C"/>
                </a:solidFill>
                <a:latin typeface="Segoe UI"/>
              </a:rPr>
              <a:t>CHF 5'000 pro Monat   ·   alles aus Premium, plus: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41148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800">
                <a:solidFill>
                  <a:srgbClr val="17161A"/>
                </a:solidFill>
                <a:latin typeface="Georgia"/>
              </a:rPr>
              <a:t>FINELLI</a:t>
            </a:r>
            <a:r>
              <a:rPr sz="900">
                <a:solidFill>
                  <a:srgbClr val="A8271C"/>
                </a:solidFill>
              </a:rPr>
              <a:t> 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324612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29260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A8271C"/>
                </a:solidFill>
                <a:latin typeface="Segoe UI"/>
              </a:rPr>
              <a:t>Trends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1856232"/>
            <a:ext cx="74980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17161A"/>
                </a:solidFill>
                <a:latin typeface="Segoe UI"/>
              </a:rPr>
              <a:t>Was in Streetwear zieht.</a:t>
            </a:r>
            <a:r>
              <a:rPr sz="1350" b="0">
                <a:solidFill>
                  <a:srgbClr val="17161A"/>
                </a:solidFill>
                <a:latin typeface="Segoe UI"/>
              </a:rPr>
              <a:t> Woche für Woche aufbereitet.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51760"/>
            <a:ext cx="324612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51760"/>
            <a:ext cx="29260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A8271C"/>
                </a:solidFill>
                <a:latin typeface="Segoe UI"/>
              </a:rPr>
              <a:t>Custom Planer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2724912"/>
            <a:ext cx="74980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17161A"/>
                </a:solidFill>
                <a:latin typeface="Segoe UI"/>
              </a:rPr>
              <a:t>Planung für Drops und Saison.</a:t>
            </a:r>
            <a:r>
              <a:rPr sz="1350" b="0">
                <a:solidFill>
                  <a:srgbClr val="17161A"/>
                </a:solidFill>
                <a:latin typeface="Segoe UI"/>
              </a:rPr>
              <a:t> Auf deine Marke zugeschnitten.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520440"/>
            <a:ext cx="324612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520440"/>
            <a:ext cx="29260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A8271C"/>
                </a:solidFill>
                <a:latin typeface="Segoe UI"/>
              </a:rPr>
              <a:t>Ads-Schalter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3593592"/>
            <a:ext cx="74980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17161A"/>
                </a:solidFill>
                <a:latin typeface="Segoe UI"/>
              </a:rPr>
              <a:t>Werbung mit klarem Kostenblick.</a:t>
            </a:r>
            <a:r>
              <a:rPr sz="1350" b="0">
                <a:solidFill>
                  <a:srgbClr val="17161A"/>
                </a:solidFill>
                <a:latin typeface="Segoe UI"/>
              </a:rPr>
              <a:t> Ein und aus per Klick.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389120"/>
            <a:ext cx="324612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389120"/>
            <a:ext cx="29260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A8271C"/>
                </a:solidFill>
                <a:latin typeface="Segoe UI"/>
              </a:rPr>
              <a:t>Marketing automatisiert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4462272"/>
            <a:ext cx="74980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17161A"/>
                </a:solidFill>
                <a:latin typeface="Segoe UI"/>
              </a:rPr>
              <a:t>Newsletter und Posts als Entwurf.</a:t>
            </a:r>
            <a:r>
              <a:rPr sz="1350" b="0">
                <a:solidFill>
                  <a:srgbClr val="17161A"/>
                </a:solidFill>
                <a:latin typeface="Segoe UI"/>
              </a:rPr>
              <a:t> Du gibst frei.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257800"/>
            <a:ext cx="324612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57800"/>
            <a:ext cx="29260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A8271C"/>
                </a:solidFill>
                <a:latin typeface="Segoe UI"/>
              </a:rPr>
              <a:t>Treuhand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60520" y="5330952"/>
            <a:ext cx="74980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17161A"/>
                </a:solidFill>
                <a:latin typeface="Segoe UI"/>
              </a:rPr>
              <a:t>Zahlen fertig für den Treuhänder.</a:t>
            </a:r>
            <a:r>
              <a:rPr sz="1350" b="0">
                <a:solidFill>
                  <a:srgbClr val="17161A"/>
                </a:solidFill>
                <a:latin typeface="Segoe UI"/>
              </a:rPr>
              <a:t> Weniger Honorarstunden.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28016"/>
          </a:xfrm>
          <a:prstGeom prst="roundRect">
            <a:avLst>
              <a:gd name="adj" fmla="val 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778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17161A"/>
                </a:solidFill>
                <a:latin typeface="Georgia"/>
              </a:rPr>
              <a:t>Wer macht was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87552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77747C"/>
                </a:solidFill>
                <a:latin typeface="Segoe UI"/>
              </a:rPr>
              <a:t>Für dich als Chef: fast nichts.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41148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800">
                <a:solidFill>
                  <a:srgbClr val="17161A"/>
                </a:solidFill>
                <a:latin typeface="Georgia"/>
              </a:rPr>
              <a:t>FINELLI</a:t>
            </a:r>
            <a:r>
              <a:rPr sz="900">
                <a:solidFill>
                  <a:srgbClr val="A8271C"/>
                </a:solidFill>
              </a:rPr>
              <a:t> 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20240"/>
            <a:ext cx="356616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240280"/>
            <a:ext cx="30175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A8271C"/>
                </a:solidFill>
                <a:latin typeface="Segoe UI"/>
              </a:rPr>
              <a:t>WIR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7161A"/>
                </a:solidFill>
                <a:latin typeface="Segoe UI"/>
              </a:rPr>
              <a:t>Einrichten, verbinden, schulen, betreuen. </a:t>
            </a:r>
            <a:r>
              <a:rPr sz="1500" b="1">
                <a:solidFill>
                  <a:srgbClr val="17161A"/>
                </a:solidFill>
                <a:latin typeface="Segoe UI"/>
              </a:rPr>
              <a:t>Monat für Monat.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98264" y="1920240"/>
            <a:ext cx="356616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72584" y="2240280"/>
            <a:ext cx="30175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A8271C"/>
                </a:solidFill>
                <a:latin typeface="Segoe UI"/>
              </a:rPr>
              <a:t>DEIN TEAM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7161A"/>
                </a:solidFill>
                <a:latin typeface="Segoe UI"/>
              </a:rPr>
              <a:t>Einmal sauber zählen. </a:t>
            </a:r>
            <a:r>
              <a:rPr sz="1500" b="1">
                <a:solidFill>
                  <a:srgbClr val="17161A"/>
                </a:solidFill>
                <a:latin typeface="Segoe UI"/>
              </a:rPr>
              <a:t>Danach: scannen statt suchen.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47888" y="1920240"/>
            <a:ext cx="356616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22208" y="2240280"/>
            <a:ext cx="30175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A8271C"/>
                </a:solidFill>
                <a:latin typeface="Segoe UI"/>
              </a:rPr>
              <a:t>DU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17161A"/>
                </a:solidFill>
                <a:latin typeface="Segoe UI"/>
              </a:rPr>
              <a:t>Entscheiden. Sonst nichts.</a:t>
            </a:r>
            <a:r>
              <a:rPr sz="1500" b="0">
                <a:solidFill>
                  <a:srgbClr val="17161A"/>
                </a:solidFill>
                <a:latin typeface="Segoe UI"/>
              </a:rPr>
              <a:t> Jeder KI-Vorschlag wartet auf dein Ja.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17161A"/>
                </a:solidFill>
                <a:latin typeface="Segoe UI"/>
              </a:rPr>
              <a:t>Keine KI bucht deinen Bestand. Jede Buchung macht ein Mensch.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28016"/>
          </a:xfrm>
          <a:prstGeom prst="roundRect">
            <a:avLst>
              <a:gd name="adj" fmla="val 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55448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Georgia"/>
              </a:rPr>
              <a:t>Du entscheidest.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3072384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3017520"/>
            <a:ext cx="95097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D8D6DC"/>
                </a:solidFill>
                <a:latin typeface="Segoe UI"/>
              </a:rPr>
              <a:t>Die Vorschau läuft. </a:t>
            </a:r>
            <a:r>
              <a:rPr sz="1700" b="1">
                <a:solidFill>
                  <a:srgbClr val="D8D6DC"/>
                </a:solidFill>
                <a:latin typeface="Segoe UI"/>
              </a:rPr>
              <a:t>Du hast sie selbst geklickt.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3849624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40" y="3794760"/>
            <a:ext cx="95097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D8D6DC"/>
                </a:solidFill>
                <a:latin typeface="Segoe UI"/>
              </a:rPr>
              <a:t>Modell wählen, starten, </a:t>
            </a:r>
            <a:r>
              <a:rPr sz="1700" b="1">
                <a:solidFill>
                  <a:srgbClr val="D8D6DC"/>
                </a:solidFill>
                <a:latin typeface="Segoe UI"/>
              </a:rPr>
              <a:t>jederzeit hochwechseln.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4626864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4572000"/>
            <a:ext cx="95097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D8D6DC"/>
                </a:solidFill>
                <a:latin typeface="Segoe UI"/>
              </a:rPr>
              <a:t>Jetzt: </a:t>
            </a:r>
            <a:r>
              <a:rPr sz="1700" b="1">
                <a:solidFill>
                  <a:srgbClr val="D8D6DC"/>
                </a:solidFill>
                <a:latin typeface="Segoe UI"/>
              </a:rPr>
              <a:t>deine Fragen.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852160"/>
            <a:ext cx="9875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97A0"/>
                </a:solidFill>
                <a:latin typeface="Segoe UI"/>
              </a:rPr>
              <a:t>Finelli Studios AG · Vor-Ort-Termin · 22. Juli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