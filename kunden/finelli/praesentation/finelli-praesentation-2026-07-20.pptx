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729984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5400">
                <a:solidFill>
                  <a:srgbClr val="FFFFFF"/>
                </a:solidFill>
                <a:latin typeface="Georgia"/>
              </a:rPr>
              <a:t>FINELLI</a:t>
            </a:r>
            <a:r>
              <a:rPr sz="30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47472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D8D6DC"/>
                </a:solidFill>
                <a:latin typeface="Georgia"/>
              </a:rPr>
              <a:t>Dein Lager. Dein Shop. Ein Cockpit.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66928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97A0"/>
                </a:solidFill>
                <a:latin typeface="Segoe UI"/>
              </a:rPr>
              <a:t>Finelli Studios AG · Vor-Ort-Termin   ·   22. Juli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Wo du heute stehst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Drei Situationen aus deinem Alltag. Keine davon ist deine Schuld.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74519"/>
            <a:ext cx="305409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Der Verkauf, der platzt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Online verkauft, im Regal leer. Du musst absagen und </a:t>
            </a:r>
            <a:r>
              <a:rPr sz="1300" b="1">
                <a:solidFill>
                  <a:srgbClr val="17161A"/>
                </a:solidFill>
                <a:latin typeface="Segoe UI"/>
              </a:rPr>
              <a:t>verlierst den Kunden.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1874519"/>
            <a:ext cx="305409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Die Standort-Frage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Grösse M in Zürich ausverkauft. Ob Embrach noch eine hat, </a:t>
            </a:r>
            <a:r>
              <a:rPr sz="1300" b="1">
                <a:solidFill>
                  <a:srgbClr val="17161A"/>
                </a:solidFill>
                <a:latin typeface="Segoe UI"/>
              </a:rPr>
              <a:t>sieht heute niemand.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305409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Die Kasse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Ladenverkäufe werden von Hand in Shopify nachgetragen. </a:t>
            </a:r>
            <a:r>
              <a:rPr sz="1300" b="1">
                <a:solidFill>
                  <a:srgbClr val="17161A"/>
                </a:solidFill>
                <a:latin typeface="Segoe UI"/>
              </a:rPr>
              <a:t>Das kostet Zeit und stimmt oft nicht.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97680"/>
            <a:ext cx="11091672" cy="1920240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26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C9C3"/>
                </a:solidFill>
                <a:latin typeface="Segoe UI"/>
              </a:rPr>
              <a:t>AB SOFORT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029200"/>
            <a:ext cx="109728" cy="68580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029200"/>
            <a:ext cx="3154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Der Bestand stimmt. Jeder Verkauf hält.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5029200"/>
            <a:ext cx="109728" cy="68580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5029200"/>
            <a:ext cx="3154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Beide Standorte auf einen Blick.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5029200"/>
            <a:ext cx="109728" cy="68580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5029200"/>
            <a:ext cx="3154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Die Kasse rechnet sich selbst ab.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Drei Zusagen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Bevor wir über Modelle reden.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2103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139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3464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7161A"/>
                </a:solidFill>
                <a:latin typeface="Georgia"/>
              </a:rPr>
              <a:t>Shopify bleibt führend.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Wir ersetzen nichts. Das Cockpit setzt auf deine bestehenden Systeme auf.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54296" y="2103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2139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83464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7161A"/>
                </a:solidFill>
                <a:latin typeface="Georgia"/>
              </a:rPr>
              <a:t>Jede Buchung macht ein Mensch.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Die KI schlägt vor und rechnet. Entscheiden tust du.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03920" y="2103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139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83464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7161A"/>
                </a:solidFill>
                <a:latin typeface="Georgia"/>
              </a:rPr>
              <a:t>Ein Preis. Alles drin.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Keine Extra-Abos. Einrichtung, Schulung und Betreuung sind inklusive.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Acht Abteilungen. Oder ein System.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So läuft dieselbe Arbeit in einer klassischen Firma.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7161A"/>
                </a:solidFill>
                <a:latin typeface="Segoe UI"/>
              </a:rPr>
              <a:t>Klassisch braucht das eigene Abteilungen und viele Leute: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Produkt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214884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21488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Marketing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90672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90672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Verkauf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3090672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090672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Kundendienst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32504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32504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4032504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32504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Personal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74336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974336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Finanzen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08960" y="4974336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74336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Einkauf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806440" y="3657600"/>
            <a:ext cx="914400" cy="640080"/>
          </a:xfrm>
          <a:prstGeom prst="rightArrow">
            <a:avLst/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40880" y="2148840"/>
            <a:ext cx="4572000" cy="3602736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2651760"/>
            <a:ext cx="3840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Bei dir: ein System.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50" b="0">
                <a:solidFill>
                  <a:srgbClr val="D8D6DC"/>
                </a:solidFill>
                <a:latin typeface="Segoe UI"/>
              </a:rPr>
              <a:t>Das Cockpit übernimmt die Verwaltungsarbeit dieser Abteilungen. </a:t>
            </a:r>
            <a:r>
              <a:rPr sz="1450" b="1">
                <a:solidFill>
                  <a:srgbClr val="D8D6DC"/>
                </a:solidFill>
                <a:latin typeface="Segoe UI"/>
              </a:rPr>
              <a:t>Du führst die Marke. Dein Team verkauft.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7747C"/>
                </a:solidFill>
                <a:latin typeface="Segoe UI"/>
              </a:rPr>
              <a:t>Kein Stellenabbau bei dir: Es geht um Arbeit, die heute liegen bleibt oder dich Abende kostet.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So arbeitet es zusammen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Ein Operating System verbindet deine Systeme mit deinen Menschen.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7747C"/>
                </a:solidFill>
                <a:latin typeface="Segoe UI"/>
              </a:rPr>
              <a:t>DEINE SYSTEME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Shopify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Ladenkasse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3192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Website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0060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80060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Post / Versand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20440" y="3383280"/>
            <a:ext cx="777240" cy="502920"/>
          </a:xfrm>
          <a:prstGeom prst="rightArrow">
            <a:avLst/>
          </a:prstGeom>
          <a:solidFill>
            <a:srgbClr val="777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26280" y="2468880"/>
            <a:ext cx="3200400" cy="2377440"/>
          </a:xfrm>
          <a:prstGeom prst="roundRect">
            <a:avLst>
              <a:gd name="adj" fmla="val 1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306324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OPERATING SYSTEM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0C9C3"/>
                </a:solidFill>
                <a:latin typeface="Segoe UI"/>
              </a:rPr>
              <a:t>das Finelli Cockpit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955279" y="3383280"/>
            <a:ext cx="777240" cy="502920"/>
          </a:xfrm>
          <a:prstGeom prst="rightArrow">
            <a:avLst/>
          </a:prstGeom>
          <a:solidFill>
            <a:srgbClr val="777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7373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7747C"/>
                </a:solidFill>
                <a:latin typeface="Segoe UI"/>
              </a:rPr>
              <a:t>DEINE MENSCHEN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2194560"/>
            <a:ext cx="2743200" cy="1188720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235915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Du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B7B4BD"/>
                </a:solidFill>
                <a:latin typeface="Segoe UI"/>
              </a:rPr>
              <a:t>entscheidest und gibst frei.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3611880"/>
            <a:ext cx="2743200" cy="1188720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377647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Dein Team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B7B4BD"/>
                </a:solidFill>
                <a:latin typeface="Segoe UI"/>
              </a:rPr>
              <a:t>scannt und verkauft.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Wir richten dieses System bei dir ein und betreuen es. Monat für Monat.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Die Übersicht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Ein Blick genügt.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9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7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1920240"/>
            <a:ext cx="2212848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7161A"/>
                </a:solidFill>
                <a:latin typeface="Segoe UI"/>
              </a:rPr>
              <a:t>FINELLI 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26464" y="2286000"/>
            <a:ext cx="6888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22576"/>
            <a:ext cx="68884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2F7D43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670048"/>
            <a:ext cx="688848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77747C"/>
                </a:solidFill>
                <a:latin typeface="Segoe UI"/>
              </a:rPr>
              <a:t>gut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70176" y="2286000"/>
            <a:ext cx="6888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70176" y="2322576"/>
            <a:ext cx="68884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B9861A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0176" y="2670048"/>
            <a:ext cx="688848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77747C"/>
                </a:solidFill>
                <a:latin typeface="Segoe UI"/>
              </a:rPr>
              <a:t>knapp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13888" y="2286000"/>
            <a:ext cx="6888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13888" y="2322576"/>
            <a:ext cx="68884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A8271C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888" y="2670048"/>
            <a:ext cx="688848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77747C"/>
                </a:solidFill>
                <a:latin typeface="Segoe UI"/>
              </a:rPr>
              <a:t>leer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26464" y="3090672"/>
            <a:ext cx="2176272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17904" y="3145536"/>
            <a:ext cx="199339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17161A"/>
                </a:solidFill>
                <a:latin typeface="Segoe UI"/>
              </a:rPr>
              <a:t>Heute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401568"/>
            <a:ext cx="1993392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17161A"/>
                </a:solidFill>
                <a:latin typeface="Segoe UI"/>
              </a:rPr>
              <a:t>14</a:t>
            </a:r>
            <a:r>
              <a:rPr sz="900" b="0">
                <a:solidFill>
                  <a:srgbClr val="17161A"/>
                </a:solidFill>
                <a:latin typeface="Segoe UI"/>
              </a:rPr>
              <a:t> Verkäufe   ·   </a:t>
            </a:r>
            <a:r>
              <a:rPr sz="900" b="1">
                <a:solidFill>
                  <a:srgbClr val="17161A"/>
                </a:solidFill>
                <a:latin typeface="Segoe UI"/>
              </a:rPr>
              <a:t>3</a:t>
            </a:r>
            <a:r>
              <a:rPr sz="900" b="0">
                <a:solidFill>
                  <a:srgbClr val="17161A"/>
                </a:solidFill>
                <a:latin typeface="Segoe UI"/>
              </a:rPr>
              <a:t> Bestellungen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26464" y="4005072"/>
            <a:ext cx="2176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27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17904" y="4059936"/>
            <a:ext cx="199339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A8271C"/>
                </a:solidFill>
                <a:latin typeface="Segoe UI"/>
              </a:rPr>
              <a:t>KI-Vorschlag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7904" y="4334256"/>
            <a:ext cx="199339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Hoodie M in Zürich leer. 12 nachbestellen?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17904" y="4937760"/>
            <a:ext cx="950976" cy="329184"/>
          </a:xfrm>
          <a:prstGeom prst="roundRect">
            <a:avLst>
              <a:gd name="adj" fmla="val 25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17904" y="4937760"/>
            <a:ext cx="9509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Übernehmen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60320" y="4937760"/>
            <a:ext cx="950976" cy="329184"/>
          </a:xfrm>
          <a:prstGeom prst="roundRect">
            <a:avLst>
              <a:gd name="adj" fmla="val 25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937760"/>
            <a:ext cx="9509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b="0">
                <a:solidFill>
                  <a:srgbClr val="17161A"/>
                </a:solidFill>
                <a:latin typeface="Segoe UI"/>
              </a:rPr>
              <a:t>Ablehnen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0" y="219456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Ampeln zeigen den Bestand.</a:t>
            </a:r>
            <a:r>
              <a:rPr sz="1600" b="0">
                <a:solidFill>
                  <a:srgbClr val="17161A"/>
                </a:solidFill>
                <a:latin typeface="Segoe UI"/>
              </a:rPr>
              <a:t> Grün gut, gelb knapp, rot leer.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0" y="34290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Heute-Zahlen live</a:t>
            </a:r>
            <a:r>
              <a:rPr sz="1600" b="0">
                <a:solidFill>
                  <a:srgbClr val="17161A"/>
                </a:solidFill>
                <a:latin typeface="Segoe UI"/>
              </a:rPr>
              <a:t> aus deinem Shop.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0" y="466344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KI-Vorschlag:</a:t>
            </a:r>
            <a:r>
              <a:rPr sz="1600" b="0">
                <a:solidFill>
                  <a:srgbClr val="17161A"/>
                </a:solidFill>
                <a:latin typeface="Segoe UI"/>
              </a:rPr>
              <a:t> übernehmen oder ablehnen. Du entscheidest.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Der Wareneingang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Karton auf, Handy dran, fertig.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9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7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1920240"/>
            <a:ext cx="2212848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7161A"/>
                </a:solidFill>
                <a:latin typeface="Segoe UI"/>
              </a:rPr>
              <a:t>FINELLI 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26464" y="2286000"/>
            <a:ext cx="217627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17904" y="2395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8256" y="2286000"/>
            <a:ext cx="1536192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Test: WLAN ausgeschaltet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6464" y="2889504"/>
            <a:ext cx="2176272" cy="685800"/>
          </a:xfrm>
          <a:prstGeom prst="roundRect">
            <a:avLst>
              <a:gd name="adj" fmla="val 12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" y="2889504"/>
            <a:ext cx="2176272" cy="6858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Artikel scannen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26464" y="3712464"/>
            <a:ext cx="2176272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17904" y="3712464"/>
            <a:ext cx="1993392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2F7D43"/>
                </a:solidFill>
                <a:latin typeface="Segoe UI"/>
              </a:rPr>
              <a:t>Eingebucht:</a:t>
            </a:r>
            <a:r>
              <a:rPr sz="850" b="0">
                <a:solidFill>
                  <a:srgbClr val="2F7D43"/>
                </a:solidFill>
                <a:latin typeface="Segoe UI"/>
              </a:rPr>
              <a:t> 1x Tee Box-Logo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6464" y="4407408"/>
            <a:ext cx="2176272" cy="960120"/>
          </a:xfrm>
          <a:prstGeom prst="roundRect">
            <a:avLst>
              <a:gd name="adj" fmla="val 6000"/>
            </a:avLst>
          </a:prstGeom>
          <a:solidFill>
            <a:srgbClr val="F5ECD9"/>
          </a:solidFill>
          <a:ln w="12700">
            <a:solidFill>
              <a:srgbClr val="B986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17904" y="4480560"/>
            <a:ext cx="1993392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7A5C12"/>
                </a:solidFill>
                <a:latin typeface="Segoe UI"/>
              </a:rPr>
              <a:t>Warteschlange: 1 Buchung.</a:t>
            </a:r>
            <a:r>
              <a:rPr sz="850" b="0">
                <a:solidFill>
                  <a:srgbClr val="7A5C12"/>
                </a:solidFill>
                <a:latin typeface="Segoe UI"/>
              </a:rPr>
              <a:t> Wird automatisch nachgebucht, sobald WLAN da ist.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219456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Scannen und einbuchen</a:t>
            </a:r>
            <a:r>
              <a:rPr sz="1600" b="0">
                <a:solidFill>
                  <a:srgbClr val="17161A"/>
                </a:solidFill>
                <a:latin typeface="Segoe UI"/>
              </a:rPr>
              <a:t> in 10 Sekunden pro Artikel.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34290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Ohne WLAN</a:t>
            </a:r>
            <a:r>
              <a:rPr sz="1600" b="0">
                <a:solidFill>
                  <a:srgbClr val="17161A"/>
                </a:solidFill>
                <a:latin typeface="Segoe UI"/>
              </a:rPr>
              <a:t> wartet die Buchung in der Warteschlange.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466344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Nichts geht verloren.</a:t>
            </a:r>
            <a:r>
              <a:rPr sz="1600" b="0">
                <a:solidFill>
                  <a:srgbClr val="17161A"/>
                </a:solidFill>
                <a:latin typeface="Segoe UI"/>
              </a:rPr>
              <a:t> Jede Buchung landet genau einmal im System.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Frag Finelli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Deine Zahlen in normaler Sprache.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9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7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1920240"/>
            <a:ext cx="2212848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7161A"/>
                </a:solidFill>
                <a:latin typeface="Segoe UI"/>
              </a:rPr>
              <a:t>FINELLI 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18193" y="2286000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09633" y="2286000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Wo liegt Hoodie M?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26464" y="2916936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17904" y="2916936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Zürich 0, Embrach 4. Regal B, Fach 3.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8193" y="3547872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9633" y="3547872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Was ist knapp?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26464" y="4178808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17904" y="4178808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Cap Sport und Beanie Logo.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26464" y="5696712"/>
            <a:ext cx="2176272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36192" y="5696712"/>
            <a:ext cx="1956816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77747C"/>
                </a:solidFill>
                <a:latin typeface="Segoe UI"/>
              </a:rPr>
              <a:t>Frage eingeben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0" y="219456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Fragen statt suchen.</a:t>
            </a:r>
            <a:r>
              <a:rPr sz="1600" b="0">
                <a:solidFill>
                  <a:srgbClr val="17161A"/>
                </a:solidFill>
                <a:latin typeface="Segoe UI"/>
              </a:rPr>
              <a:t> Keine Tabellen, keine Excel-Listen.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34290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Antworten aus deinen echten Zahlen,</a:t>
            </a:r>
            <a:r>
              <a:rPr sz="1600" b="0">
                <a:solidFill>
                  <a:srgbClr val="17161A"/>
                </a:solidFill>
                <a:latin typeface="Segoe UI"/>
              </a:rPr>
              <a:t> in Sekunden.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0" y="466344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Nur Antworten.</a:t>
            </a:r>
            <a:r>
              <a:rPr sz="1600" b="0">
                <a:solidFill>
                  <a:srgbClr val="17161A"/>
                </a:solidFill>
                <a:latin typeface="Segoe UI"/>
              </a:rPr>
              <a:t> Gebucht wird nichts.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So führen wir es 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Vier Schritte. Der Laden läuft normal weiter.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Chevron 5"/>
          <p:cNvSpPr/>
          <p:nvPr/>
        </p:nvSpPr>
        <p:spPr>
          <a:xfrm>
            <a:off x="548640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1   Zählen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Dein Team zählt einmal sauber durch. Mit Anleitung und Lagerplatz-Etiketten von uns.</a:t>
            </a:r>
          </a:p>
        </p:txBody>
      </p:sp>
      <p:sp>
        <p:nvSpPr>
          <p:cNvPr id="9" name="Chevron 8"/>
          <p:cNvSpPr/>
          <p:nvPr/>
        </p:nvSpPr>
        <p:spPr>
          <a:xfrm>
            <a:off x="3364992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5032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2   Verbinden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Wir verbinden das Cockpit mit deinem Shopify. Shopify bleibt führend.</a:t>
            </a:r>
          </a:p>
        </p:txBody>
      </p:sp>
      <p:sp>
        <p:nvSpPr>
          <p:cNvPr id="12" name="Chevron 11"/>
          <p:cNvSpPr/>
          <p:nvPr/>
        </p:nvSpPr>
        <p:spPr>
          <a:xfrm>
            <a:off x="6181344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3   Schulen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30 Minuten pro Person. Jeder bekommt eine eigene PIN.</a:t>
            </a:r>
          </a:p>
        </p:txBody>
      </p:sp>
      <p:sp>
        <p:nvSpPr>
          <p:cNvPr id="15" name="Chevron 14"/>
          <p:cNvSpPr/>
          <p:nvPr/>
        </p:nvSpPr>
        <p:spPr>
          <a:xfrm>
            <a:off x="8997696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7736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4   Betrieb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Wochen-Bericht jeden Montag. Wir betreuen und bauen aus, wenn du es willst.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Kein Umbau. Kein Stillstand. Kein Risiko für das Tagesgeschäft.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Drei Modelle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Klein, mittel, gross. Jedes enthält das kleinere. Wechsel jederzeit möglich.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429000"/>
            <a:ext cx="3383280" cy="2468880"/>
          </a:xfrm>
          <a:prstGeom prst="roundRect">
            <a:avLst>
              <a:gd name="adj" fmla="val 3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657600"/>
            <a:ext cx="2834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7747C"/>
                </a:solidFill>
                <a:latin typeface="Segoe UI"/>
              </a:rPr>
              <a:t>KLEIN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7161A"/>
                </a:solidFill>
                <a:latin typeface="Georgia"/>
              </a:rPr>
              <a:t>Basic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17161A"/>
                </a:solidFill>
                <a:latin typeface="Segoe UI"/>
              </a:rPr>
              <a:t>CHF 1'250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77747C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Lager und Alltag im Griff.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971800"/>
            <a:ext cx="3383280" cy="2926080"/>
          </a:xfrm>
          <a:prstGeom prst="roundRect">
            <a:avLst>
              <a:gd name="adj" fmla="val 3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200400"/>
            <a:ext cx="283464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0C9C3"/>
                </a:solidFill>
                <a:latin typeface="Segoe UI"/>
              </a:rPr>
              <a:t>MITTEL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Georgia"/>
              </a:rPr>
              <a:t>Premium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CHF 2'200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0C9C3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F0C9C3"/>
                </a:solidFill>
                <a:latin typeface="Segoe UI"/>
              </a:rPr>
              <a:t>Dazu: dein Shop verkauft aktiv mit.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2715768"/>
            <a:ext cx="1691640" cy="438912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4320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Unser Vorschlag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514600"/>
            <a:ext cx="3383280" cy="3383280"/>
          </a:xfrm>
          <a:prstGeom prst="roundRect">
            <a:avLst>
              <a:gd name="adj" fmla="val 3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92440" y="2514600"/>
            <a:ext cx="3383280" cy="82296"/>
          </a:xfrm>
          <a:prstGeom prst="roundRect">
            <a:avLst>
              <a:gd name="adj" fmla="val 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28346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B7B4BD"/>
                </a:solidFill>
                <a:latin typeface="Segoe UI"/>
              </a:rPr>
              <a:t>GROSS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B08D57"/>
                </a:solidFill>
                <a:latin typeface="Georgia"/>
              </a:rPr>
              <a:t>Max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B08D57"/>
                </a:solidFill>
                <a:latin typeface="Segoe UI"/>
              </a:rPr>
              <a:t>CHF 5'000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B7B4BD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B7B4BD"/>
                </a:solidFill>
                <a:latin typeface="Segoe UI"/>
              </a:rPr>
              <a:t>Dazu: Marketing und Zahlen automatisch.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080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77747C"/>
                </a:solidFill>
                <a:latin typeface="Segoe UI"/>
              </a:rPr>
              <a:t>Preise gemäss Absprache. Details, Laufzeit und Garantien regelt der Vertrag.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Basic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CHF 1'250 pro Monat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Wochen-Report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Jeden Montag eine Seite:</a:t>
            </a:r>
            <a:r>
              <a:rPr sz="1350" b="0">
                <a:solidFill>
                  <a:srgbClr val="17161A"/>
                </a:solidFill>
                <a:latin typeface="Segoe UI"/>
              </a:rPr>
              <a:t> was lief, was knapp ist, was kommt.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Bestell-Alarm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72491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Meldet sich, bevor ein Artikel ausgeht.</a:t>
            </a:r>
            <a:r>
              <a:rPr sz="1350" b="0">
                <a:solidFill>
                  <a:srgbClr val="17161A"/>
                </a:solidFill>
                <a:latin typeface="Segoe UI"/>
              </a:rPr>
              <a:t> Mit Mengen-Vorschlag.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2044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Lager-Automatik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59359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Beide Standorte immer aktuell.</a:t>
            </a:r>
            <a:r>
              <a:rPr sz="1350" b="0">
                <a:solidFill>
                  <a:srgbClr val="17161A"/>
                </a:solidFill>
                <a:latin typeface="Segoe UI"/>
              </a:rPr>
              <a:t> Umlagern in zwei Klicks.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8912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Verpackungs-Software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446227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Pickzettel mit Laufweg.</a:t>
            </a:r>
            <a:r>
              <a:rPr sz="1350" b="0">
                <a:solidFill>
                  <a:srgbClr val="17161A"/>
                </a:solidFill>
                <a:latin typeface="Segoe UI"/>
              </a:rPr>
              <a:t> Post-Etikette automatisch.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5780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Kassenabrechnung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533095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Tagesabschluss automatisch.</a:t>
            </a:r>
            <a:r>
              <a:rPr sz="1350" b="0">
                <a:solidFill>
                  <a:srgbClr val="17161A"/>
                </a:solidFill>
                <a:latin typeface="Segoe UI"/>
              </a:rPr>
              <a:t> Kein Nachtragen von Hand.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Premium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CHF 2'200 pro Monat   ·   alles aus Basic, plus: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Shop-Regal-Zahlen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Was verkauft und was liegen bleibt.</a:t>
            </a:r>
            <a:r>
              <a:rPr sz="1350" b="0">
                <a:solidFill>
                  <a:srgbClr val="17161A"/>
                </a:solidFill>
                <a:latin typeface="Segoe UI"/>
              </a:rPr>
              <a:t> Pro Produkt, pro Regal.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Alter/Region-Zahlen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72491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Wer bei dir kauft:</a:t>
            </a:r>
            <a:r>
              <a:rPr sz="1350" b="0">
                <a:solidFill>
                  <a:srgbClr val="17161A"/>
                </a:solidFill>
                <a:latin typeface="Segoe UI"/>
              </a:rPr>
              <a:t> Alter und Region auf einen Blick.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2044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Website-Auto-Verwaltung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59359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Produkte und Texte pflegen sich selbst.</a:t>
            </a:r>
            <a:r>
              <a:rPr sz="1350" b="0">
                <a:solidFill>
                  <a:srgbClr val="17161A"/>
                </a:solidFill>
                <a:latin typeface="Segoe UI"/>
              </a:rPr>
              <a:t> Du gibst frei.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8912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Persönlicher Shop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446227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Jeder Besucher sieht zuerst,</a:t>
            </a:r>
            <a:r>
              <a:rPr sz="1350" b="0">
                <a:solidFill>
                  <a:srgbClr val="17161A"/>
                </a:solidFill>
                <a:latin typeface="Segoe UI"/>
              </a:rPr>
              <a:t> was ihn am ehesten interessiert.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5780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Website-Avatar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533095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Digitaler Berater</a:t>
            </a:r>
            <a:r>
              <a:rPr sz="1350" b="0">
                <a:solidFill>
                  <a:srgbClr val="17161A"/>
                </a:solidFill>
                <a:latin typeface="Segoe UI"/>
              </a:rPr>
              <a:t> beantwortet Kundenfragen. Rund um die Uhr.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CHF 5'000 pro Monat   ·   alles aus Premium, plus: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Trends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Was in Streetwear zieht.</a:t>
            </a:r>
            <a:r>
              <a:rPr sz="1350" b="0">
                <a:solidFill>
                  <a:srgbClr val="17161A"/>
                </a:solidFill>
                <a:latin typeface="Segoe UI"/>
              </a:rPr>
              <a:t> Woche für Woche aufbereitet.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Custom Planer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72491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Planung für Drops und Saison.</a:t>
            </a:r>
            <a:r>
              <a:rPr sz="1350" b="0">
                <a:solidFill>
                  <a:srgbClr val="17161A"/>
                </a:solidFill>
                <a:latin typeface="Segoe UI"/>
              </a:rPr>
              <a:t> Auf deine Marke zugeschnitten.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2044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Ads-Schalter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59359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Werbung mit klarem Kostenblick.</a:t>
            </a:r>
            <a:r>
              <a:rPr sz="1350" b="0">
                <a:solidFill>
                  <a:srgbClr val="17161A"/>
                </a:solidFill>
                <a:latin typeface="Segoe UI"/>
              </a:rPr>
              <a:t> Ein und aus per Klick.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8912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Marketing automatisiert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446227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Newsletter und Posts als Entwurf.</a:t>
            </a:r>
            <a:r>
              <a:rPr sz="1350" b="0">
                <a:solidFill>
                  <a:srgbClr val="17161A"/>
                </a:solidFill>
                <a:latin typeface="Segoe UI"/>
              </a:rPr>
              <a:t> Du gibst frei.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5780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Treuhand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533095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Zahlen fertig für den Treuhänder.</a:t>
            </a:r>
            <a:r>
              <a:rPr sz="1350" b="0">
                <a:solidFill>
                  <a:srgbClr val="17161A"/>
                </a:solidFill>
                <a:latin typeface="Segoe UI"/>
              </a:rPr>
              <a:t> Weniger Honorarstunden.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Wer macht was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Für dich als Chef: fast nichts.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WIR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7161A"/>
                </a:solidFill>
                <a:latin typeface="Segoe UI"/>
              </a:rPr>
              <a:t>Einrichten, verbinden, schulen, betreuen. </a:t>
            </a:r>
            <a:r>
              <a:rPr sz="1500" b="1">
                <a:solidFill>
                  <a:srgbClr val="17161A"/>
                </a:solidFill>
                <a:latin typeface="Segoe UI"/>
              </a:rPr>
              <a:t>Monat für Monat.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2584" y="224028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DEIN TEAM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7161A"/>
                </a:solidFill>
                <a:latin typeface="Segoe UI"/>
              </a:rPr>
              <a:t>Einmal sauber zählen. </a:t>
            </a:r>
            <a:r>
              <a:rPr sz="1500" b="1">
                <a:solidFill>
                  <a:srgbClr val="17161A"/>
                </a:solidFill>
                <a:latin typeface="Segoe UI"/>
              </a:rPr>
              <a:t>Danach: scannen statt suchen.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22208" y="224028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DU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7161A"/>
                </a:solidFill>
                <a:latin typeface="Segoe UI"/>
              </a:rPr>
              <a:t>Entscheiden. Sonst nichts.</a:t>
            </a:r>
            <a:r>
              <a:rPr sz="1500" b="0">
                <a:solidFill>
                  <a:srgbClr val="17161A"/>
                </a:solidFill>
                <a:latin typeface="Segoe UI"/>
              </a:rPr>
              <a:t> Jeder KI-Vorschlag wartet auf dein Ja.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Keine KI bucht deinen Bestand. Jede Buchung macht ein Mensch.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Du entscheidest.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072384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301752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Die Vorschau läuft. </a:t>
            </a:r>
            <a:r>
              <a:rPr sz="1700" b="1">
                <a:solidFill>
                  <a:srgbClr val="D8D6DC"/>
                </a:solidFill>
                <a:latin typeface="Segoe UI"/>
              </a:rPr>
              <a:t>Du hast sie selbst geklickt.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849624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79476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Modell wählen, starten, </a:t>
            </a:r>
            <a:r>
              <a:rPr sz="1700" b="1">
                <a:solidFill>
                  <a:srgbClr val="D8D6DC"/>
                </a:solidFill>
                <a:latin typeface="Segoe UI"/>
              </a:rPr>
              <a:t>jederzeit hochwechseln.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626864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457200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Jetzt: </a:t>
            </a:r>
            <a:r>
              <a:rPr sz="1700" b="1">
                <a:solidFill>
                  <a:srgbClr val="D8D6DC"/>
                </a:solidFill>
                <a:latin typeface="Segoe UI"/>
              </a:rPr>
              <a:t>deine Fragen.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852160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97A0"/>
                </a:solidFill>
                <a:latin typeface="Segoe UI"/>
              </a:rPr>
              <a:t>Finelli Studios AG · Vor-Ort-Termin · 22. Juli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