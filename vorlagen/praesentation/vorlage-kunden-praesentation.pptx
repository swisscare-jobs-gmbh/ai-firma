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716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2103120"/>
            <a:ext cx="100584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5400" b="0">
                <a:solidFill>
                  <a:srgbClr val="FFFFFF"/>
                </a:solidFill>
                <a:latin typeface="Segoe UI"/>
              </a:rPr>
              <a:t/>
            </a:r>
            <a:r>
              <a:rPr b="1" sz="5400">
                <a:solidFill>
                  <a:srgbClr val="FFFFFF"/>
                </a:solidFill>
                <a:latin typeface="Georgia"/>
              </a:rPr>
              <a:t>{KUNDE}</a:t>
            </a:r>
            <a:r>
              <a:rPr sz="3000">
                <a:solidFill>
                  <a:srgbClr val="1F3A5F"/>
                </a:solidFill>
              </a:rPr>
              <a:t> 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3383280"/>
            <a:ext cx="96012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0">
                <a:solidFill>
                  <a:srgbClr val="D8D6DC"/>
                </a:solidFill>
                <a:latin typeface="Georgia"/>
              </a:rPr>
              <a:t>{CLAIM — ein Satz, der das Versprechen traegt}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5760720"/>
            <a:ext cx="9144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9A97A0"/>
                </a:solidFill>
                <a:latin typeface="Segoe UI"/>
              </a:rPr>
              <a:t>{KUNDE_FIRMA} · {ANLASS}  ·  {TT. Monat JJJJ}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4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46304"/>
          </a:xfrm>
          <a:prstGeom prst="roundRect">
            <a:avLst>
              <a:gd name="adj" fmla="val 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8686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7161A"/>
                </a:solidFill>
                <a:latin typeface="Georgia"/>
              </a:rPr>
              <a:t>Wo du heute stehst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24128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77747C"/>
                </a:solidFill>
                <a:latin typeface="Segoe UI"/>
              </a:rPr>
              <a:t>Drei Momente aus deinem Alltag — und keiner davon ist deine Schuld.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92640" y="411480"/>
            <a:ext cx="54864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>
                <a:solidFill>
                  <a:srgbClr val="17161A"/>
                </a:solidFill>
                <a:latin typeface="Segoe UI"/>
              </a:rPr>
              <a:t/>
            </a:r>
            <a:r>
              <a:rPr b="1" sz="2000">
                <a:solidFill>
                  <a:srgbClr val="17161A"/>
                </a:solidFill>
                <a:latin typeface="Georgia"/>
              </a:rPr>
              <a:t>{KUNDE}</a:t>
            </a:r>
            <a:r>
              <a:rPr sz="1100">
                <a:solidFill>
                  <a:srgbClr val="1F3A5F"/>
                </a:solidFill>
              </a:rPr>
              <a:t> ●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37360"/>
            <a:ext cx="3520440" cy="393192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5875">
            <a:solidFill>
              <a:srgbClr val="E5E3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965960"/>
            <a:ext cx="2971800" cy="3474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1F3A5F"/>
                </a:solidFill>
                <a:latin typeface="Segoe UI"/>
              </a:rPr>
              <a:t>{SCHMERZ_1_KOPF}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17161A"/>
                </a:solidFill>
                <a:latin typeface="Segoe UI"/>
              </a:rPr>
              <a:t>{SCHMERZ_1_SZENE}</a:t>
            </a:r>
          </a:p>
          <a:p>
            <a:pPr algn="l">
              <a:spcAft>
                <a:spcPts val="600"/>
              </a:spcAft>
            </a:pPr>
            <a:r>
              <a:rPr sz="1400" b="1">
                <a:solidFill>
                  <a:srgbClr val="17161A"/>
                </a:solidFill>
                <a:latin typeface="Segoe UI"/>
              </a:rPr>
              <a:t>Ab sofort: {SCHMERZ_1_LOESUNG}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1737360"/>
            <a:ext cx="3520440" cy="393192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5875">
            <a:solidFill>
              <a:srgbClr val="E5E3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63440" y="1965960"/>
            <a:ext cx="2971800" cy="3474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1F3A5F"/>
                </a:solidFill>
                <a:latin typeface="Segoe UI"/>
              </a:rPr>
              <a:t>{SCHMERZ_2_KOPF}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17161A"/>
                </a:solidFill>
                <a:latin typeface="Segoe UI"/>
              </a:rPr>
              <a:t>{SCHMERZ_2_SZENE}</a:t>
            </a:r>
          </a:p>
          <a:p>
            <a:pPr algn="l">
              <a:spcAft>
                <a:spcPts val="600"/>
              </a:spcAft>
            </a:pPr>
            <a:r>
              <a:rPr sz="1400" b="1">
                <a:solidFill>
                  <a:srgbClr val="17161A"/>
                </a:solidFill>
                <a:latin typeface="Segoe UI"/>
              </a:rPr>
              <a:t>Ab sofort: {SCHMERZ_2_LOESUNG}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0" y="1737360"/>
            <a:ext cx="3520440" cy="393192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5875">
            <a:solidFill>
              <a:srgbClr val="E5E3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03920" y="1965960"/>
            <a:ext cx="2971800" cy="3474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1F3A5F"/>
                </a:solidFill>
                <a:latin typeface="Segoe UI"/>
              </a:rPr>
              <a:t>{SCHMERZ_3_KOPF}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17161A"/>
                </a:solidFill>
                <a:latin typeface="Segoe UI"/>
              </a:rPr>
              <a:t>{SCHMERZ_3_SZENE}</a:t>
            </a:r>
          </a:p>
          <a:p>
            <a:pPr algn="l">
              <a:spcAft>
                <a:spcPts val="600"/>
              </a:spcAft>
            </a:pPr>
            <a:r>
              <a:rPr sz="1400" b="1">
                <a:solidFill>
                  <a:srgbClr val="17161A"/>
                </a:solidFill>
                <a:latin typeface="Segoe UI"/>
              </a:rPr>
              <a:t>Ab sofort: {SCHMERZ_3_LOESUNG}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5943600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77747C"/>
                </a:solidFill>
                <a:latin typeface="Segoe UI"/>
              </a:rPr>
              <a:t>{BELEG mit Quelle+Jahr — nur LIVE geprüfte Zahlen, sonst Zeile leer lassen}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4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46304"/>
          </a:xfrm>
          <a:prstGeom prst="roundRect">
            <a:avLst>
              <a:gd name="adj" fmla="val 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8686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7161A"/>
                </a:solidFill>
                <a:latin typeface="Georgia"/>
              </a:rPr>
              <a:t>Was wir bauen — und was sicher NICHT passiert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24128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77747C"/>
                </a:solidFill>
                <a:latin typeface="Segoe UI"/>
              </a:rPr>
              <a:t>Drei Versprechen, bevor wir über Modelle reden.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92640" y="411480"/>
            <a:ext cx="54864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>
                <a:solidFill>
                  <a:srgbClr val="17161A"/>
                </a:solidFill>
                <a:latin typeface="Segoe UI"/>
              </a:rPr>
              <a:t/>
            </a:r>
            <a:r>
              <a:rPr b="1" sz="2000">
                <a:solidFill>
                  <a:srgbClr val="17161A"/>
                </a:solidFill>
                <a:latin typeface="Georgia"/>
              </a:rPr>
              <a:t>{KUNDE}</a:t>
            </a:r>
            <a:r>
              <a:rPr sz="1100">
                <a:solidFill>
                  <a:srgbClr val="1F3A5F"/>
                </a:solidFill>
              </a:rPr>
              <a:t> ●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828800"/>
            <a:ext cx="502920" cy="502920"/>
          </a:xfrm>
          <a:prstGeom prst="roundRect">
            <a:avLst>
              <a:gd name="adj" fmla="val 45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865376"/>
            <a:ext cx="5029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Segoe U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25880" y="1773936"/>
            <a:ext cx="1024128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17161A"/>
                </a:solidFill>
                <a:latin typeface="Georgia"/>
              </a:rPr>
              <a:t>{BESTEHENDES_SYSTEM} bleibt der Chef.</a:t>
            </a:r>
          </a:p>
          <a:p>
            <a:pPr algn="l">
              <a:spcAft>
                <a:spcPts val="600"/>
              </a:spcAft>
            </a:pPr>
            <a:r>
              <a:rPr sz="1350" b="0">
                <a:solidFill>
                  <a:srgbClr val="77747C"/>
                </a:solidFill>
                <a:latin typeface="Segoe UI"/>
              </a:rPr>
              <a:t>Wir ersetzen nichts, wir setzen auf. {WAS_WEITERLAEUFT} läuft weiter wie heute.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3246120"/>
            <a:ext cx="502920" cy="502920"/>
          </a:xfrm>
          <a:prstGeom prst="roundRect">
            <a:avLst>
              <a:gd name="adj" fmla="val 45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3282696"/>
            <a:ext cx="5029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Segoe U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25880" y="3191256"/>
            <a:ext cx="1024128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17161A"/>
                </a:solidFill>
                <a:latin typeface="Georgia"/>
              </a:rPr>
              <a:t>KI assistiert — entscheidet nie.</a:t>
            </a:r>
          </a:p>
          <a:p>
            <a:pPr algn="l">
              <a:spcAft>
                <a:spcPts val="600"/>
              </a:spcAft>
            </a:pPr>
            <a:r>
              <a:rPr sz="1350" b="0">
                <a:solidFill>
                  <a:srgbClr val="77747C"/>
                </a:solidFill>
                <a:latin typeface="Segoe UI"/>
              </a:rPr>
              <a:t>Jede Buchung und jede Freigabe macht ein Mensch. Die KI schlägt vor — du bleibst der Boss.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4663440"/>
            <a:ext cx="502920" cy="502920"/>
          </a:xfrm>
          <a:prstGeom prst="roundRect">
            <a:avLst>
              <a:gd name="adj" fmla="val 45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4700016"/>
            <a:ext cx="5029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Segoe UI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25880" y="4608576"/>
            <a:ext cx="1024128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17161A"/>
                </a:solidFill>
                <a:latin typeface="Georgia"/>
              </a:rPr>
              <a:t>Alles inbegriffen.</a:t>
            </a:r>
          </a:p>
          <a:p>
            <a:pPr algn="l">
              <a:spcAft>
                <a:spcPts val="600"/>
              </a:spcAft>
            </a:pPr>
            <a:r>
              <a:rPr sz="1350" b="0">
                <a:solidFill>
                  <a:srgbClr val="77747C"/>
                </a:solidFill>
                <a:latin typeface="Segoe UI"/>
              </a:rPr>
              <a:t>Ein Monatspreis, keine Extra-Abos. Wir richten ein, schulen dein Team und bleiben dran.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4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46304"/>
          </a:xfrm>
          <a:prstGeom prst="roundRect">
            <a:avLst>
              <a:gd name="adj" fmla="val 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8686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7161A"/>
                </a:solidFill>
                <a:latin typeface="Georgia"/>
              </a:rPr>
              <a:t>{SCREEN_1_TITEL}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24128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77747C"/>
                </a:solidFill>
                <a:latin typeface="Segoe UI"/>
              </a:rPr>
              <a:t>{SCREEN_1_KLARTEXT}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92640" y="411480"/>
            <a:ext cx="54864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>
                <a:solidFill>
                  <a:srgbClr val="17161A"/>
                </a:solidFill>
                <a:latin typeface="Segoe UI"/>
              </a:rPr>
              <a:t/>
            </a:r>
            <a:r>
              <a:rPr b="1" sz="2000">
                <a:solidFill>
                  <a:srgbClr val="17161A"/>
                </a:solidFill>
                <a:latin typeface="Georgia"/>
              </a:rPr>
              <a:t>{KUNDE}</a:t>
            </a:r>
            <a:r>
              <a:rPr sz="1100">
                <a:solidFill>
                  <a:srgbClr val="1F3A5F"/>
                </a:solidFill>
              </a:rPr>
              <a:t> ●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554480" y="1691640"/>
            <a:ext cx="9052560" cy="4663440"/>
          </a:xfrm>
          <a:prstGeom prst="roundRect">
            <a:avLst>
              <a:gd name="adj" fmla="val 4500"/>
            </a:avLst>
          </a:prstGeom>
          <a:solidFill>
            <a:srgbClr val="F4F4F2"/>
          </a:solidFill>
          <a:ln w="15875">
            <a:solidFill>
              <a:srgbClr val="7774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554480" y="1691640"/>
            <a:ext cx="9052560" cy="46634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0">
                <a:solidFill>
                  <a:srgbClr val="77747C"/>
                </a:solidFill>
                <a:latin typeface="Segoe UI"/>
              </a:rPr>
              <a:t>[ Bildschirm-Foto einsetzen:
{SCREEN_1_TITEL} 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4652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77747C"/>
                </a:solidFill>
                <a:latin typeface="Segoe UI"/>
              </a:rPr>
              <a:t>Echte Bildschirm-Fotos aus der lauffähigen Vorschau (Übungs-Modus, Beispieldaten).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4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46304"/>
          </a:xfrm>
          <a:prstGeom prst="roundRect">
            <a:avLst>
              <a:gd name="adj" fmla="val 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8686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7161A"/>
                </a:solidFill>
                <a:latin typeface="Georgia"/>
              </a:rPr>
              <a:t>{SCREEN_2_TITEL}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24128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77747C"/>
                </a:solidFill>
                <a:latin typeface="Segoe UI"/>
              </a:rPr>
              <a:t>{SCREEN_2_KLARTEXT}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92640" y="411480"/>
            <a:ext cx="54864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>
                <a:solidFill>
                  <a:srgbClr val="17161A"/>
                </a:solidFill>
                <a:latin typeface="Segoe UI"/>
              </a:rPr>
              <a:t/>
            </a:r>
            <a:r>
              <a:rPr b="1" sz="2000">
                <a:solidFill>
                  <a:srgbClr val="17161A"/>
                </a:solidFill>
                <a:latin typeface="Georgia"/>
              </a:rPr>
              <a:t>{KUNDE}</a:t>
            </a:r>
            <a:r>
              <a:rPr sz="1100">
                <a:solidFill>
                  <a:srgbClr val="1F3A5F"/>
                </a:solidFill>
              </a:rPr>
              <a:t> ●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554480" y="1691640"/>
            <a:ext cx="9052560" cy="4663440"/>
          </a:xfrm>
          <a:prstGeom prst="roundRect">
            <a:avLst>
              <a:gd name="adj" fmla="val 4500"/>
            </a:avLst>
          </a:prstGeom>
          <a:solidFill>
            <a:srgbClr val="F4F4F2"/>
          </a:solidFill>
          <a:ln w="15875">
            <a:solidFill>
              <a:srgbClr val="7774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554480" y="1691640"/>
            <a:ext cx="9052560" cy="46634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0">
                <a:solidFill>
                  <a:srgbClr val="77747C"/>
                </a:solidFill>
                <a:latin typeface="Segoe UI"/>
              </a:rPr>
              <a:t>[ Bildschirm-Foto einsetzen:
{SCREEN_2_TITEL} 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4652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77747C"/>
                </a:solidFill>
                <a:latin typeface="Segoe UI"/>
              </a:rPr>
              <a:t>Echte Bildschirm-Fotos aus der lauffähigen Vorschau (Übungs-Modus, Beispieldaten).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4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46304"/>
          </a:xfrm>
          <a:prstGeom prst="roundRect">
            <a:avLst>
              <a:gd name="adj" fmla="val 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8686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7161A"/>
                </a:solidFill>
                <a:latin typeface="Georgia"/>
              </a:rPr>
              <a:t>So führen wir es ein — Schritt für Schritt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24128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77747C"/>
                </a:solidFill>
                <a:latin typeface="Segoe UI"/>
              </a:rPr>
              <a:t>Kein Umbau, kein Stillstand im Betrieb.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92640" y="411480"/>
            <a:ext cx="54864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>
                <a:solidFill>
                  <a:srgbClr val="17161A"/>
                </a:solidFill>
                <a:latin typeface="Segoe UI"/>
              </a:rPr>
              <a:t/>
            </a:r>
            <a:r>
              <a:rPr b="1" sz="2000">
                <a:solidFill>
                  <a:srgbClr val="17161A"/>
                </a:solidFill>
                <a:latin typeface="Georgia"/>
              </a:rPr>
              <a:t>{KUNDE}</a:t>
            </a:r>
            <a:r>
              <a:rPr sz="1100">
                <a:solidFill>
                  <a:srgbClr val="1F3A5F"/>
                </a:solidFill>
              </a:rPr>
              <a:t> ●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920240"/>
            <a:ext cx="2606040" cy="329184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5875">
            <a:solidFill>
              <a:srgbClr val="E5E3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2148840"/>
            <a:ext cx="457200" cy="457200"/>
          </a:xfrm>
          <a:prstGeom prst="roundRect">
            <a:avLst>
              <a:gd name="adj" fmla="val 4500"/>
            </a:avLst>
          </a:prstGeom>
          <a:solidFill>
            <a:srgbClr val="171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176272"/>
            <a:ext cx="4572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Segoe U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788920"/>
            <a:ext cx="2148840" cy="228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50" b="1">
                <a:solidFill>
                  <a:srgbClr val="17161A"/>
                </a:solidFill>
                <a:latin typeface="Segoe UI"/>
              </a:rPr>
              <a:t>{SCHRITT_1}</a:t>
            </a:r>
          </a:p>
          <a:p>
            <a:pPr algn="l">
              <a:spcAft>
                <a:spcPts val="600"/>
              </a:spcAft>
            </a:pPr>
            <a:r>
              <a:rPr sz="1250" b="0">
                <a:solidFill>
                  <a:srgbClr val="77747C"/>
                </a:solidFill>
                <a:latin typeface="Segoe UI"/>
              </a:rPr>
              <a:t>{SCHRITT_1_TEXT — was das Kunden-Team macht, nach klarer Anleitung}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10712" y="1920240"/>
            <a:ext cx="2606040" cy="329184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5875">
            <a:solidFill>
              <a:srgbClr val="E5E3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639312" y="2148840"/>
            <a:ext cx="457200" cy="457200"/>
          </a:xfrm>
          <a:prstGeom prst="roundRect">
            <a:avLst>
              <a:gd name="adj" fmla="val 4500"/>
            </a:avLst>
          </a:prstGeom>
          <a:solidFill>
            <a:srgbClr val="171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39312" y="2176272"/>
            <a:ext cx="4572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Segoe U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39312" y="2788920"/>
            <a:ext cx="2148840" cy="228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50" b="1">
                <a:solidFill>
                  <a:srgbClr val="17161A"/>
                </a:solidFill>
                <a:latin typeface="Segoe UI"/>
              </a:rPr>
              <a:t>{SCHRITT_2}</a:t>
            </a:r>
          </a:p>
          <a:p>
            <a:pPr algn="l">
              <a:spcAft>
                <a:spcPts val="600"/>
              </a:spcAft>
            </a:pPr>
            <a:r>
              <a:rPr sz="1250" b="0">
                <a:solidFill>
                  <a:srgbClr val="77747C"/>
                </a:solidFill>
                <a:latin typeface="Segoe UI"/>
              </a:rPr>
              <a:t>{SCHRITT_2_TEXT — was wir einrichten/verbinden}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72784" y="1920240"/>
            <a:ext cx="2606040" cy="329184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5875">
            <a:solidFill>
              <a:srgbClr val="E5E3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501384" y="2148840"/>
            <a:ext cx="457200" cy="457200"/>
          </a:xfrm>
          <a:prstGeom prst="roundRect">
            <a:avLst>
              <a:gd name="adj" fmla="val 4500"/>
            </a:avLst>
          </a:prstGeom>
          <a:solidFill>
            <a:srgbClr val="171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01384" y="2176272"/>
            <a:ext cx="4572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Segoe U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01384" y="2788920"/>
            <a:ext cx="2148840" cy="228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50" b="1">
                <a:solidFill>
                  <a:srgbClr val="17161A"/>
                </a:solidFill>
                <a:latin typeface="Segoe UI"/>
              </a:rPr>
              <a:t>Team schulen</a:t>
            </a:r>
          </a:p>
          <a:p>
            <a:pPr algn="l">
              <a:spcAft>
                <a:spcPts val="600"/>
              </a:spcAft>
            </a:pPr>
            <a:r>
              <a:rPr sz="1250" b="0">
                <a:solidFill>
                  <a:srgbClr val="77747C"/>
                </a:solidFill>
                <a:latin typeface="Segoe UI"/>
              </a:rPr>
              <a:t>30 Minuten pro Person. Jeder bekommt seine eigene PIN — jeder Klick ist zuordenbar.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34856" y="1920240"/>
            <a:ext cx="2606040" cy="329184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5875">
            <a:solidFill>
              <a:srgbClr val="E5E3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9363456" y="2148840"/>
            <a:ext cx="457200" cy="457200"/>
          </a:xfrm>
          <a:prstGeom prst="roundRect">
            <a:avLst>
              <a:gd name="adj" fmla="val 4500"/>
            </a:avLst>
          </a:prstGeom>
          <a:solidFill>
            <a:srgbClr val="171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63456" y="2176272"/>
            <a:ext cx="4572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Segoe U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63456" y="2788920"/>
            <a:ext cx="2148840" cy="228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50" b="1">
                <a:solidFill>
                  <a:srgbClr val="17161A"/>
                </a:solidFill>
                <a:latin typeface="Segoe UI"/>
              </a:rPr>
              <a:t>Betrieb &amp; Betreuung</a:t>
            </a:r>
          </a:p>
          <a:p>
            <a:pPr algn="l">
              <a:spcAft>
                <a:spcPts val="600"/>
              </a:spcAft>
            </a:pPr>
            <a:r>
              <a:rPr sz="1250" b="0">
                <a:solidFill>
                  <a:srgbClr val="77747C"/>
                </a:solidFill>
                <a:latin typeface="Segoe UI"/>
              </a:rPr>
              <a:t>Regelmässiger Bericht in Klartext. Wir bleiben dran und bauen aus, wenn DU es willst.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566928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1">
                <a:solidFill>
                  <a:srgbClr val="17161A"/>
                </a:solidFill>
                <a:latin typeface="Segoe UI"/>
              </a:rPr>
              <a:t>Der Betrieb läuft an jedem einzelnen Tag normal weiter.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4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46304"/>
          </a:xfrm>
          <a:prstGeom prst="roundRect">
            <a:avLst>
              <a:gd name="adj" fmla="val 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8686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7161A"/>
                </a:solidFill>
                <a:latin typeface="Georgia"/>
              </a:rPr>
              <a:t>Drei Modelle — du wählst das Tempo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24128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77747C"/>
                </a:solidFill>
                <a:latin typeface="Segoe UI"/>
              </a:rPr>
              <a:t>Jedes Modell enthält alles aus dem kleineren. Wechseln geht jederzeit nach oben.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92640" y="411480"/>
            <a:ext cx="54864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>
                <a:solidFill>
                  <a:srgbClr val="17161A"/>
                </a:solidFill>
                <a:latin typeface="Segoe UI"/>
              </a:rPr>
              <a:t/>
            </a:r>
            <a:r>
              <a:rPr b="1" sz="2000">
                <a:solidFill>
                  <a:srgbClr val="17161A"/>
                </a:solidFill>
                <a:latin typeface="Georgia"/>
              </a:rPr>
              <a:t>{KUNDE}</a:t>
            </a:r>
            <a:r>
              <a:rPr sz="1100">
                <a:solidFill>
                  <a:srgbClr val="1F3A5F"/>
                </a:solidFill>
              </a:rPr>
              <a:t> ●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91640"/>
            <a:ext cx="3520440" cy="429768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5875">
            <a:solidFill>
              <a:srgbClr val="E5E3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965960"/>
            <a:ext cx="2971800" cy="3840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1F3A5F"/>
                </a:solidFill>
                <a:latin typeface="Georgia"/>
              </a:rPr>
              <a:t>{MODELL_1_NAME}</a:t>
            </a:r>
          </a:p>
          <a:p>
            <a:pPr algn="l">
              <a:spcAft>
                <a:spcPts val="600"/>
              </a:spcAft>
            </a:pPr>
            <a:r>
              <a:rPr sz="2400" b="1">
                <a:solidFill>
                  <a:srgbClr val="17161A"/>
                </a:solidFill>
                <a:latin typeface="Segoe UI"/>
              </a:rPr>
              <a:t>CHF {PREIS_1} pro Monat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17161A"/>
                </a:solidFill>
                <a:latin typeface="Segoe UI"/>
              </a:rPr>
              <a:t>–  {FEATURE}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1691640"/>
            <a:ext cx="3520440" cy="4297680"/>
          </a:xfrm>
          <a:prstGeom prst="roundRect">
            <a:avLst>
              <a:gd name="adj" fmla="val 4500"/>
            </a:avLst>
          </a:prstGeom>
          <a:solidFill>
            <a:srgbClr val="171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63440" y="1965960"/>
            <a:ext cx="2971800" cy="3840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F0C9C3"/>
                </a:solidFill>
                <a:latin typeface="Georgia"/>
              </a:rPr>
              <a:t>{MODELL_2_NAME}</a:t>
            </a:r>
          </a:p>
          <a:p>
            <a:pPr algn="l"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Segoe UI"/>
              </a:rPr>
              <a:t>CHF {PREIS_2} pro Monat</a:t>
            </a:r>
          </a:p>
          <a:p>
            <a:pPr algn="l">
              <a:spcAft>
                <a:spcPts val="600"/>
              </a:spcAft>
            </a:pPr>
            <a:r>
              <a:rPr sz="1150" b="0">
                <a:solidFill>
                  <a:srgbClr val="B7B4BD"/>
                </a:solidFill>
                <a:latin typeface="Segoe UI"/>
              </a:rPr>
              <a:t>alles aus {MODELL_1_NAME}, plus: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FFFFFF"/>
                </a:solidFill>
                <a:latin typeface="Segoe UI"/>
              </a:rPr>
              <a:t>–  {FEATURE}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663440" y="1463040"/>
            <a:ext cx="1737360" cy="457200"/>
          </a:xfrm>
          <a:prstGeom prst="roundRect">
            <a:avLst>
              <a:gd name="adj" fmla="val 45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63440" y="1490472"/>
            <a:ext cx="1737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1">
                <a:solidFill>
                  <a:srgbClr val="FFFFFF"/>
                </a:solidFill>
                <a:latin typeface="Segoe UI"/>
              </a:rPr>
              <a:t>Unser Vorschlag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0" y="1691640"/>
            <a:ext cx="3520440" cy="429768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5875">
            <a:solidFill>
              <a:srgbClr val="E5E3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03920" y="1965960"/>
            <a:ext cx="2971800" cy="3840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1F3A5F"/>
                </a:solidFill>
                <a:latin typeface="Georgia"/>
              </a:rPr>
              <a:t>{MODELL_3_NAME}</a:t>
            </a:r>
          </a:p>
          <a:p>
            <a:pPr algn="l">
              <a:spcAft>
                <a:spcPts val="600"/>
              </a:spcAft>
            </a:pPr>
            <a:r>
              <a:rPr sz="2400" b="1">
                <a:solidFill>
                  <a:srgbClr val="17161A"/>
                </a:solidFill>
                <a:latin typeface="Segoe UI"/>
              </a:rPr>
              <a:t>CHF {PREIS_3} pro Monat</a:t>
            </a:r>
          </a:p>
          <a:p>
            <a:pPr algn="l">
              <a:spcAft>
                <a:spcPts val="600"/>
              </a:spcAft>
            </a:pPr>
            <a:r>
              <a:rPr sz="1150" b="0">
                <a:solidFill>
                  <a:srgbClr val="77747C"/>
                </a:solidFill>
                <a:latin typeface="Segoe UI"/>
              </a:rPr>
              <a:t>alles aus {MODELL_2_NAME}, plus: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17161A"/>
                </a:solidFill>
                <a:latin typeface="Segoe UI"/>
              </a:rPr>
              <a:t>–  {FEATURE}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172200"/>
            <a:ext cx="11064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0">
                <a:solidFill>
                  <a:srgbClr val="77747C"/>
                </a:solidFill>
                <a:latin typeface="Segoe UI"/>
              </a:rPr>
              <a:t>Preise gemäss Absprache · Details, Laufzeit und Garantien regelt der Vertrag.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4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46304"/>
          </a:xfrm>
          <a:prstGeom prst="roundRect">
            <a:avLst>
              <a:gd name="adj" fmla="val 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8686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7161A"/>
                </a:solidFill>
                <a:latin typeface="Georgia"/>
              </a:rPr>
              <a:t>{MODELL_1_NAME} — was das für dich heisst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24128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77747C"/>
                </a:solidFill>
                <a:latin typeface="Segoe UI"/>
              </a:rPr>
              <a:t>CHF {PREIS_1} pro Monat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92640" y="411480"/>
            <a:ext cx="54864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>
                <a:solidFill>
                  <a:srgbClr val="17161A"/>
                </a:solidFill>
                <a:latin typeface="Segoe UI"/>
              </a:rPr>
              <a:t/>
            </a:r>
            <a:r>
              <a:rPr b="1" sz="2000">
                <a:solidFill>
                  <a:srgbClr val="17161A"/>
                </a:solidFill>
                <a:latin typeface="Georgia"/>
              </a:rPr>
              <a:t>{KUNDE}</a:t>
            </a:r>
            <a:r>
              <a:rPr sz="1100">
                <a:solidFill>
                  <a:srgbClr val="1F3A5F"/>
                </a:solidFill>
              </a:rPr>
              <a:t> 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737360"/>
            <a:ext cx="32918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1F3A5F"/>
                </a:solidFill>
                <a:latin typeface="Segoe UI"/>
              </a:rPr>
              <a:t>{FEATURE}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1737360"/>
            <a:ext cx="7498079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17161A"/>
                </a:solidFill>
                <a:latin typeface="Segoe UI"/>
              </a:rPr>
              <a:t>{Erklärung in Laiensprache — was hat der Kunde davon?}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4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46304"/>
          </a:xfrm>
          <a:prstGeom prst="roundRect">
            <a:avLst>
              <a:gd name="adj" fmla="val 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8686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7161A"/>
                </a:solidFill>
                <a:latin typeface="Georgia"/>
              </a:rPr>
              <a:t>{MODELL_2_NAME} — was das für dich heisst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24128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77747C"/>
                </a:solidFill>
                <a:latin typeface="Segoe UI"/>
              </a:rPr>
              <a:t>CHF {PREIS_2} pro Monat  ·  alles aus {MODELL_1_NAME}, plus: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92640" y="411480"/>
            <a:ext cx="54864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>
                <a:solidFill>
                  <a:srgbClr val="17161A"/>
                </a:solidFill>
                <a:latin typeface="Segoe UI"/>
              </a:rPr>
              <a:t/>
            </a:r>
            <a:r>
              <a:rPr b="1" sz="2000">
                <a:solidFill>
                  <a:srgbClr val="17161A"/>
                </a:solidFill>
                <a:latin typeface="Georgia"/>
              </a:rPr>
              <a:t>{KUNDE}</a:t>
            </a:r>
            <a:r>
              <a:rPr sz="1100">
                <a:solidFill>
                  <a:srgbClr val="1F3A5F"/>
                </a:solidFill>
              </a:rPr>
              <a:t> 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737360"/>
            <a:ext cx="32918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1F3A5F"/>
                </a:solidFill>
                <a:latin typeface="Segoe UI"/>
              </a:rPr>
              <a:t>{FEATURE}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1737360"/>
            <a:ext cx="7498079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17161A"/>
                </a:solidFill>
                <a:latin typeface="Segoe UI"/>
              </a:rPr>
              <a:t>{Erklärung in Laiensprache}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69748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0">
                <a:solidFill>
                  <a:srgbClr val="77747C"/>
                </a:solidFill>
                <a:latin typeface="Segoe UI"/>
              </a:rPr>
              <a:t>Enthält alles aus {MODELL_1_NAME}.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4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46304"/>
          </a:xfrm>
          <a:prstGeom prst="roundRect">
            <a:avLst>
              <a:gd name="adj" fmla="val 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8686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7161A"/>
                </a:solidFill>
                <a:latin typeface="Georgia"/>
              </a:rPr>
              <a:t>{MODELL_3_NAME} — was das für dich heisst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24128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77747C"/>
                </a:solidFill>
                <a:latin typeface="Segoe UI"/>
              </a:rPr>
              <a:t>CHF {PREIS_3} pro Monat  ·  alles aus {MODELL_2_NAME}, plus: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92640" y="411480"/>
            <a:ext cx="54864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>
                <a:solidFill>
                  <a:srgbClr val="17161A"/>
                </a:solidFill>
                <a:latin typeface="Segoe UI"/>
              </a:rPr>
              <a:t/>
            </a:r>
            <a:r>
              <a:rPr b="1" sz="2000">
                <a:solidFill>
                  <a:srgbClr val="17161A"/>
                </a:solidFill>
                <a:latin typeface="Georgia"/>
              </a:rPr>
              <a:t>{KUNDE}</a:t>
            </a:r>
            <a:r>
              <a:rPr sz="1100">
                <a:solidFill>
                  <a:srgbClr val="1F3A5F"/>
                </a:solidFill>
              </a:rPr>
              <a:t> 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737360"/>
            <a:ext cx="32918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1F3A5F"/>
                </a:solidFill>
                <a:latin typeface="Segoe UI"/>
              </a:rPr>
              <a:t>{FEATURE}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1737360"/>
            <a:ext cx="7498079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17161A"/>
                </a:solidFill>
                <a:latin typeface="Segoe UI"/>
              </a:rPr>
              <a:t>{Erklärung in Laiensprache}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69748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0">
                <a:solidFill>
                  <a:srgbClr val="77747C"/>
                </a:solidFill>
                <a:latin typeface="Segoe UI"/>
              </a:rPr>
              <a:t>Enthält alles aus {MODELL_1_NAME} und {MODELL_2_NAME}.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4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46304"/>
          </a:xfrm>
          <a:prstGeom prst="roundRect">
            <a:avLst>
              <a:gd name="adj" fmla="val 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8686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7161A"/>
                </a:solidFill>
                <a:latin typeface="Georgia"/>
              </a:rPr>
              <a:t>Wer macht was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24128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77747C"/>
                </a:solidFill>
                <a:latin typeface="Segoe UI"/>
              </a:rPr>
              <a:t>Für dich als Chef: fast nichts.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92640" y="411480"/>
            <a:ext cx="54864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>
                <a:solidFill>
                  <a:srgbClr val="17161A"/>
                </a:solidFill>
                <a:latin typeface="Segoe UI"/>
              </a:rPr>
              <a:t/>
            </a:r>
            <a:r>
              <a:rPr b="1" sz="2000">
                <a:solidFill>
                  <a:srgbClr val="17161A"/>
                </a:solidFill>
                <a:latin typeface="Georgia"/>
              </a:rPr>
              <a:t>{KUNDE}</a:t>
            </a:r>
            <a:r>
              <a:rPr sz="1100">
                <a:solidFill>
                  <a:srgbClr val="1F3A5F"/>
                </a:solidFill>
              </a:rPr>
              <a:t> ●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828800"/>
            <a:ext cx="3520440" cy="329184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5875">
            <a:solidFill>
              <a:srgbClr val="E5E3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103120"/>
            <a:ext cx="297180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1F3A5F"/>
                </a:solidFill>
                <a:latin typeface="Segoe UI"/>
              </a:rPr>
              <a:t>WIR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17161A"/>
                </a:solidFill>
                <a:latin typeface="Segoe UI"/>
              </a:rPr>
              <a:t>Einrichten, verbinden, schulen, betreuen. Wir bauen es auf und bleiben dran.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1828800"/>
            <a:ext cx="3520440" cy="329184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5875">
            <a:solidFill>
              <a:srgbClr val="E5E3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63440" y="2103120"/>
            <a:ext cx="297180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1F3A5F"/>
                </a:solidFill>
                <a:latin typeface="Segoe UI"/>
              </a:rPr>
              <a:t>DEIN TEAM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17161A"/>
                </a:solidFill>
                <a:latin typeface="Segoe UI"/>
              </a:rPr>
              <a:t>{EINMALIGE_HANDARBEIT des Kunden-Teams nach klarer Anleitung}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0" y="1828800"/>
            <a:ext cx="3520440" cy="329184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5875">
            <a:solidFill>
              <a:srgbClr val="E5E3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03920" y="2103120"/>
            <a:ext cx="297180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1F3A5F"/>
                </a:solidFill>
                <a:latin typeface="Segoe UI"/>
              </a:rPr>
              <a:t>DU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17161A"/>
                </a:solidFill>
                <a:latin typeface="Segoe UI"/>
              </a:rPr>
              <a:t>Entscheiden. Sonst nichts. Jeder Vorschlag der KI wartet auf dein Ja.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5577840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17161A"/>
                </a:solidFill>
                <a:latin typeface="Segoe UI"/>
              </a:rPr>
              <a:t>Keine KI bucht in deine Systeme. Jede Buchung macht ein Mensch.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716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1463040"/>
            <a:ext cx="100584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FFFFFF"/>
                </a:solidFill>
                <a:latin typeface="Georgia"/>
              </a:rPr>
              <a:t>Ohne Druck.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2834640"/>
            <a:ext cx="98755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>
                <a:solidFill>
                  <a:srgbClr val="D8D6DC"/>
                </a:solidFill>
                <a:latin typeface="Segoe UI"/>
              </a:rPr>
              <a:t>–  Du hast die Vorschau selbst gesehen — das ist keine Folie, das läuft.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3520440"/>
            <a:ext cx="98755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>
                <a:solidFill>
                  <a:srgbClr val="D8D6DC"/>
                </a:solidFill>
                <a:latin typeface="Segoe UI"/>
              </a:rPr>
              <a:t>–  Du wählst das Modell. Hochwechseln geht jederzeit, wenn es sich beweist.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4206240"/>
            <a:ext cx="98755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>
                <a:solidFill>
                  <a:srgbClr val="D8D6DC"/>
                </a:solidFill>
                <a:latin typeface="Segoe UI"/>
              </a:rPr>
              <a:t>–  Nächster Schritt: deine offenen Fragen — heute, hier, in Ruhe.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5852160"/>
            <a:ext cx="9875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9A97A0"/>
                </a:solidFill>
                <a:latin typeface="Segoe UI"/>
              </a:rPr>
              <a:t>{KUNDE_FIRMA} · {ANLASS} {DATUM}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