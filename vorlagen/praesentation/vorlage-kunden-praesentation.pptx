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914400" y="1874519"/>
            <a:ext cx="13716000" cy="265176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710"/>
              </a:gs>
              <a:gs pos="100000">
                <a:srgbClr val="4C1D95"/>
              </a:gs>
            </a:gsLst>
            <a:lin ang="20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676656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C1D9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 b="1">
                <a:solidFill>
                  <a:srgbClr val="F4F0FB"/>
                </a:solidFill>
                <a:latin typeface="Segoe UI Semibold"/>
              </a:rPr>
              <a:t>{KUNDE}</a:t>
            </a:r>
            <a:r>
              <a:rPr sz="32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3429000"/>
            <a:ext cx="1280160" cy="45720"/>
          </a:xfrm>
          <a:prstGeom prst="roundRect">
            <a:avLst>
              <a:gd name="adj" fmla="val 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BB92FF"/>
                </a:solidFill>
                <a:latin typeface="Segoe UI Light"/>
              </a:rPr>
              <a:t>{CLAIM. Kurze Saetze. Ohne Gedankenstriche.}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8521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Bahnschrift"/>
              </a:rPr>
              <a:t>{KUNDE_FIRMA} · {ANLASS}   ·   {TT. Monat JJJJ}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40"/>
                            </p:stCondLst>
                            <p:childTnLst>
                              <p:par>
                                <p:cTn id="23" presetID="3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620"/>
                            </p:stCondLst>
                            <p:childTnLst>
                              <p:par>
                                <p:cTn id="32" presetID="3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40"/>
                            </p:stCondLst>
                            <p:childTnLst>
                              <p:par>
                                <p:cTn id="41" presetID="3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900"/>
                            </p:stCondLst>
                            <p:childTnLst>
                              <p:par>
                                <p:cTn id="50" presetID="3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 animBg="1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Wo du heute stehst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Drei Situationen aus deinem Alltag. Keine davon ist deine Schuld.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{KUNDE}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73152" cy="22860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3035808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B92FF"/>
                </a:solidFill>
                <a:latin typeface="Segoe UI Semibold"/>
              </a:rPr>
              <a:t>{SCHMERZ_1_KOPF}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4F0FB"/>
                </a:solidFill>
                <a:latin typeface="Segoe UI"/>
              </a:rPr>
              <a:t>{SZENE. Direkt, kurz. </a:t>
            </a:r>
            <a:r>
              <a:rPr sz="1300" b="1">
                <a:solidFill>
                  <a:srgbClr val="F4F0FB"/>
                </a:solidFill>
                <a:latin typeface="Segoe UI"/>
              </a:rPr>
              <a:t>Kern fett.</a:t>
            </a:r>
            <a:r>
              <a:rPr sz="1300" b="0">
                <a:solidFill>
                  <a:srgbClr val="F4F0FB"/>
                </a:solidFill>
                <a:latin typeface="Segoe UI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45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98264" y="1645920"/>
            <a:ext cx="73152" cy="22860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4" y="1874519"/>
            <a:ext cx="3035808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B92FF"/>
                </a:solidFill>
                <a:latin typeface="Segoe UI Semibold"/>
              </a:rPr>
              <a:t>{SCHMERZ_2_KOPF}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4F0FB"/>
                </a:solidFill>
                <a:latin typeface="Segoe UI"/>
              </a:rPr>
              <a:t>{SZENE. </a:t>
            </a:r>
            <a:r>
              <a:rPr sz="1300" b="1">
                <a:solidFill>
                  <a:srgbClr val="F4F0FB"/>
                </a:solidFill>
                <a:latin typeface="Segoe UI"/>
              </a:rPr>
              <a:t>Kern fett.</a:t>
            </a:r>
            <a:r>
              <a:rPr sz="1300" b="0">
                <a:solidFill>
                  <a:srgbClr val="F4F0FB"/>
                </a:solidFill>
                <a:latin typeface="Segoe UI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645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47888" y="1645920"/>
            <a:ext cx="73152" cy="22860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2208" y="1874519"/>
            <a:ext cx="3035808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B92FF"/>
                </a:solidFill>
                <a:latin typeface="Segoe UI Semibold"/>
              </a:rPr>
              <a:t>{SCHMERZ_3_KOPF}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4F0FB"/>
                </a:solidFill>
                <a:latin typeface="Segoe UI"/>
              </a:rPr>
              <a:t>{SZENE. </a:t>
            </a:r>
            <a:r>
              <a:rPr sz="1300" b="1">
                <a:solidFill>
                  <a:srgbClr val="F4F0FB"/>
                </a:solidFill>
                <a:latin typeface="Segoe UI"/>
              </a:rPr>
              <a:t>Kern fett.</a:t>
            </a:r>
            <a:r>
              <a:rPr sz="1300" b="0">
                <a:solidFill>
                  <a:srgbClr val="F4F0FB"/>
                </a:solidFill>
                <a:latin typeface="Segoe UI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11091672" cy="19202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A1027"/>
              </a:gs>
              <a:gs pos="100000">
                <a:srgbClr val="4C1D95"/>
              </a:gs>
            </a:gsLst>
            <a:lin ang="19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BB92FF"/>
                </a:solidFill>
                <a:latin typeface="Bahnschrift"/>
              </a:rPr>
              <a:t>AB SOFORT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29200"/>
            <a:ext cx="82296" cy="685800"/>
          </a:xfrm>
          <a:prstGeom prst="roundRect">
            <a:avLst>
              <a:gd name="adj" fmla="val 5000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5029200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{LOESUNG_1. Positiv, kurz.}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5029200"/>
            <a:ext cx="82296" cy="685800"/>
          </a:xfrm>
          <a:prstGeom prst="roundRect">
            <a:avLst>
              <a:gd name="adj" fmla="val 5000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5029200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{LOESUNG_2}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5029200"/>
            <a:ext cx="82296" cy="685800"/>
          </a:xfrm>
          <a:prstGeom prst="roundRect">
            <a:avLst>
              <a:gd name="adj" fmla="val 5000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5029200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{LOESUNG_3}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Drei Zusagen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Bevor wir über Modelle reden.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{KUNDE}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2103120"/>
            <a:ext cx="548640" cy="54864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15798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80360"/>
            <a:ext cx="3054096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F0FB"/>
                </a:solidFill>
                <a:latin typeface="Segoe UI Light"/>
              </a:rPr>
              <a:t>{BESTEHENDES_SYSTEM} bleibt führend.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Segoe UI"/>
              </a:rPr>
              <a:t>Wir ersetzen nichts. Wir setzen auf deine bestehenden Systeme auf.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8288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54296" y="2103120"/>
            <a:ext cx="548640" cy="54864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4296" y="215798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880360"/>
            <a:ext cx="3054096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F0FB"/>
                </a:solidFill>
                <a:latin typeface="Segoe UI Light"/>
              </a:rPr>
              <a:t>Jede Buchung macht ein Mensch.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Segoe UI"/>
              </a:rPr>
              <a:t>Die KI schlägt vor und rechnet. Entscheiden tust du.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8288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503920" y="2103120"/>
            <a:ext cx="548640" cy="54864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15798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880360"/>
            <a:ext cx="3054096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F0FB"/>
                </a:solidFill>
                <a:latin typeface="Segoe UI Light"/>
              </a:rPr>
              <a:t>Ein Preis. Alles drin.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Segoe UI"/>
              </a:rPr>
              <a:t>Keine Extra-Abos. Einrichtung, Schulung und Betreuung sind inklusive.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Acht Abteilungen. Oder ein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So läuft dieselbe Arbeit in einer klassischen Firma.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{KUNDE}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BB92FF"/>
                </a:solidFill>
                <a:latin typeface="Bahnschrift"/>
              </a:rPr>
              <a:t>KLASSISCH BRAUCHT DAS EIGENE ABTEILUNGEN UND VIELE LEUTE: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Produkt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10312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210312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Marketing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44952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044952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Verkauf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3044952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3044952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Kundendienst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86784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986784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3986784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08960" y="3986784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Personal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928616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Finanzen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4928616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08960" y="4928616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Einkauf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806440" y="3657600"/>
            <a:ext cx="914400" cy="640080"/>
          </a:xfrm>
          <a:prstGeom prst="rightArrow">
            <a:avLst/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040880" y="2103120"/>
            <a:ext cx="4599432" cy="363931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8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0" y="2606040"/>
            <a:ext cx="38404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 Light"/>
              </a:rPr>
              <a:t>Bei dir: ein System.</a:t>
            </a:r>
          </a:p>
          <a:p>
            <a:pPr algn="l">
              <a:spcAft>
                <a:spcPts val="600"/>
              </a:spcAft>
            </a:pPr>
            <a:endParaRPr sz="2500" b="1">
              <a:solidFill>
                <a:srgbClr val="FFFFFF"/>
              </a:solidFill>
              <a:latin typeface="Segoe UI Light"/>
            </a:endParaRP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EADFFB"/>
                </a:solidFill>
                <a:latin typeface="Segoe UI"/>
              </a:rPr>
              <a:t>{Was das System uebernimmt. </a:t>
            </a:r>
            <a:r>
              <a:rPr sz="1450" b="1">
                <a:solidFill>
                  <a:srgbClr val="EADFFB"/>
                </a:solidFill>
                <a:latin typeface="Segoe UI"/>
              </a:rPr>
              <a:t>Was der Kunde behaelt, fett.</a:t>
            </a:r>
            <a:r>
              <a:rPr sz="1450" b="0">
                <a:solidFill>
                  <a:srgbClr val="EADFFB"/>
                </a:solidFill>
                <a:latin typeface="Segoe UI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E93B5"/>
                </a:solidFill>
                <a:latin typeface="Segoe UI"/>
              </a:rPr>
              <a:t>Kein Stellenabbau: Es geht um Arbeit, die heute liegen bleibt.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So arbeitet es zusammen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Ein Operating System verbindet deine Systeme mit deinen Menschen.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{KUNDE}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BB92FF"/>
                </a:solidFill>
                <a:latin typeface="Bahnschrift"/>
              </a:rPr>
              <a:t>DEINE SYSTEME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4F0FB"/>
                </a:solidFill>
                <a:latin typeface="Segoe UI"/>
              </a:rPr>
              <a:t>{SYSTEM_1}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4F0FB"/>
                </a:solidFill>
                <a:latin typeface="Segoe UI"/>
              </a:rPr>
              <a:t>{SYSTEM_2}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4F0FB"/>
                </a:solidFill>
                <a:latin typeface="Segoe UI"/>
              </a:rPr>
              <a:t>{SYSTEM_3}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4F0FB"/>
                </a:solidFill>
                <a:latin typeface="Segoe UI"/>
              </a:rPr>
              <a:t>{SYSTEM_4}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520440" y="3401568"/>
            <a:ext cx="777240" cy="457200"/>
          </a:xfrm>
          <a:prstGeom prst="rightArrow">
            <a:avLst/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26280" y="2468880"/>
            <a:ext cx="3200400" cy="237744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83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143500" y="2674620"/>
            <a:ext cx="1965960" cy="1965960"/>
          </a:xfrm>
          <a:prstGeom prst="ellipse">
            <a:avLst/>
          </a:prstGeom>
          <a:noFill/>
          <a:ln w="15875">
            <a:solidFill>
              <a:srgbClr val="C9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06324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OPERATING SYSTEM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ADFFB"/>
                </a:solidFill>
                <a:latin typeface="Segoe UI"/>
              </a:rPr>
              <a:t>{PRODUKTNAME}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55279" y="3401568"/>
            <a:ext cx="777240" cy="457200"/>
          </a:xfrm>
          <a:prstGeom prst="rightArrow">
            <a:avLst/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0" y="1737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BB92FF"/>
                </a:solidFill>
                <a:latin typeface="Bahnschrift"/>
              </a:rPr>
              <a:t>DEINE MENSCHEN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19456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235915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Du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E93B5"/>
                </a:solidFill>
                <a:latin typeface="Segoe UI"/>
              </a:rPr>
              <a:t>entscheidest und gibst frei.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61188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98280" y="377647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Dein Team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E93B5"/>
                </a:solidFill>
                <a:latin typeface="Segoe UI"/>
              </a:rPr>
              <a:t>{WAS_DAS_TEAM_TUT}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4F0FB"/>
                </a:solidFill>
                <a:latin typeface="Segoe UI"/>
              </a:rPr>
              <a:t>Wir richten dieses System bei dir ein und betreuen es. Monat für Monat.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{SCREEN_TITEL}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{EIN_SATZ}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{KUNDE}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737360"/>
            <a:ext cx="2651760" cy="4572000"/>
          </a:xfrm>
          <a:prstGeom prst="roundRect">
            <a:avLst>
              <a:gd name="adj" fmla="val 11000"/>
            </a:avLst>
          </a:prstGeom>
          <a:solidFill>
            <a:srgbClr val="0A0710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98448" y="1847088"/>
            <a:ext cx="2432304" cy="4352544"/>
          </a:xfrm>
          <a:prstGeom prst="roundRect">
            <a:avLst>
              <a:gd name="adj" fmla="val 9000"/>
            </a:avLst>
          </a:prstGeom>
          <a:solidFill>
            <a:srgbClr val="1A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26464" y="1920240"/>
            <a:ext cx="217627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4F0FB"/>
                </a:solidFill>
                <a:latin typeface="Segoe UI Semibold"/>
              </a:rPr>
              <a:t>{KUNDE} 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6464" y="2286000"/>
            <a:ext cx="688848" cy="676656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426464" y="2286000"/>
            <a:ext cx="688848" cy="54864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26464" y="2359152"/>
            <a:ext cx="688848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2DD4BF"/>
                </a:solidFill>
                <a:latin typeface="Segoe UI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2706624"/>
            <a:ext cx="68884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b="0">
                <a:solidFill>
                  <a:srgbClr val="9E93B5"/>
                </a:solidFill>
                <a:latin typeface="Segoe UI"/>
              </a:rPr>
              <a:t>gut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70176" y="2286000"/>
            <a:ext cx="688848" cy="676656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170176" y="2286000"/>
            <a:ext cx="688848" cy="54864"/>
          </a:xfrm>
          <a:prstGeom prst="roundRect">
            <a:avLst>
              <a:gd name="adj" fmla="val 0"/>
            </a:avLst>
          </a:prstGeom>
          <a:solidFill>
            <a:srgbClr val="F5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70176" y="2359152"/>
            <a:ext cx="688848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F5B33D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0176" y="2706624"/>
            <a:ext cx="68884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b="0">
                <a:solidFill>
                  <a:srgbClr val="9E93B5"/>
                </a:solidFill>
                <a:latin typeface="Segoe UI"/>
              </a:rPr>
              <a:t>knapp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13888" y="2286000"/>
            <a:ext cx="688848" cy="676656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913888" y="2286000"/>
            <a:ext cx="688848" cy="54864"/>
          </a:xfrm>
          <a:prstGeom prst="roundRect">
            <a:avLst>
              <a:gd name="adj" fmla="val 0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13888" y="2359152"/>
            <a:ext cx="688848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D946EF"/>
                </a:solidFill>
                <a:latin typeface="Segoe UI Semibold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3888" y="2706624"/>
            <a:ext cx="68884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b="0">
                <a:solidFill>
                  <a:srgbClr val="9E93B5"/>
                </a:solidFill>
                <a:latin typeface="Segoe UI"/>
              </a:rPr>
              <a:t>leer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26464" y="3108960"/>
            <a:ext cx="2176272" cy="777240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17904" y="3163824"/>
            <a:ext cx="199339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4F0FB"/>
                </a:solidFill>
                <a:latin typeface="Segoe UI"/>
              </a:rPr>
              <a:t>Heute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7904" y="3419856"/>
            <a:ext cx="1993392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4F0FB"/>
                </a:solidFill>
                <a:latin typeface="Segoe UI"/>
              </a:rPr>
              <a:t>14</a:t>
            </a:r>
            <a:r>
              <a:rPr sz="900" b="0">
                <a:solidFill>
                  <a:srgbClr val="F4F0FB"/>
                </a:solidFill>
                <a:latin typeface="Segoe UI"/>
              </a:rPr>
              <a:t> Verkäufe   ·   </a:t>
            </a:r>
            <a:r>
              <a:rPr sz="900" b="1">
                <a:solidFill>
                  <a:srgbClr val="F4F0FB"/>
                </a:solidFill>
                <a:latin typeface="Segoe UI"/>
              </a:rPr>
              <a:t>3</a:t>
            </a:r>
            <a:r>
              <a:rPr sz="900" b="0">
                <a:solidFill>
                  <a:srgbClr val="F4F0FB"/>
                </a:solidFill>
                <a:latin typeface="Segoe UI"/>
              </a:rPr>
              <a:t> Bestellungen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6464" y="4023360"/>
            <a:ext cx="2176272" cy="1371600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17904" y="4078224"/>
            <a:ext cx="199339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BB92FF"/>
                </a:solidFill>
                <a:latin typeface="Segoe UI"/>
              </a:rPr>
              <a:t>KI-Vorschlag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7904" y="4352544"/>
            <a:ext cx="1993392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F4F0FB"/>
                </a:solidFill>
                <a:latin typeface="Segoe UI"/>
              </a:rPr>
              <a:t>Hoodie M in Zürich leer. 12 nachbestellen?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17904" y="4956048"/>
            <a:ext cx="950976" cy="32918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17904" y="4956048"/>
            <a:ext cx="950976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Übernehmen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4956048"/>
            <a:ext cx="950976" cy="329184"/>
          </a:xfrm>
          <a:prstGeom prst="roundRect">
            <a:avLst>
              <a:gd name="adj" fmla="val 28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60320" y="4956048"/>
            <a:ext cx="950976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9E93B5"/>
                </a:solidFill>
                <a:latin typeface="Segoe UI"/>
              </a:rPr>
              <a:t>Ablehnen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219456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20640" y="219456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{KERN}</a:t>
            </a:r>
            <a:r>
              <a:rPr sz="1600" b="0">
                <a:solidFill>
                  <a:srgbClr val="F4F0FB"/>
                </a:solidFill>
                <a:latin typeface="Segoe UI"/>
              </a:rPr>
              <a:t> {Rest kurz.}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342900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20640" y="342900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{KERN}</a:t>
            </a:r>
            <a:r>
              <a:rPr sz="1600" b="0">
                <a:solidFill>
                  <a:srgbClr val="F4F0FB"/>
                </a:solidFill>
                <a:latin typeface="Segoe UI"/>
              </a:rPr>
              <a:t> {Rest.}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0" y="466344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0" y="466344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{KERN}</a:t>
            </a:r>
            <a:r>
              <a:rPr sz="1600" b="0">
                <a:solidFill>
                  <a:srgbClr val="F4F0FB"/>
                </a:solidFill>
                <a:latin typeface="Segoe UI"/>
              </a:rPr>
              <a:t> {Rest.}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{SCREEN_TITEL}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{EIN_SATZ}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{KUNDE}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737360"/>
            <a:ext cx="2651760" cy="4572000"/>
          </a:xfrm>
          <a:prstGeom prst="roundRect">
            <a:avLst>
              <a:gd name="adj" fmla="val 11000"/>
            </a:avLst>
          </a:prstGeom>
          <a:solidFill>
            <a:srgbClr val="0A0710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98448" y="1847088"/>
            <a:ext cx="2432304" cy="4352544"/>
          </a:xfrm>
          <a:prstGeom prst="roundRect">
            <a:avLst>
              <a:gd name="adj" fmla="val 9000"/>
            </a:avLst>
          </a:prstGeom>
          <a:solidFill>
            <a:srgbClr val="1A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26464" y="1920240"/>
            <a:ext cx="217627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4F0FB"/>
                </a:solidFill>
                <a:latin typeface="Segoe UI Semibold"/>
              </a:rPr>
              <a:t>{KUNDE} 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6464" y="2286000"/>
            <a:ext cx="2176272" cy="457200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517904" y="2395728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48256" y="2286000"/>
            <a:ext cx="1536192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F4F0FB"/>
                </a:solidFill>
                <a:latin typeface="Segoe UI"/>
              </a:rPr>
              <a:t>Test: WLAN ausgeschaltet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6464" y="2889504"/>
            <a:ext cx="2176272" cy="713232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26464" y="2889504"/>
            <a:ext cx="2176272" cy="7132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Artikel scannen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6464" y="3749040"/>
            <a:ext cx="2176272" cy="548640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17904" y="3749040"/>
            <a:ext cx="1993392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2DD4BF"/>
                </a:solidFill>
                <a:latin typeface="Segoe UI"/>
              </a:rPr>
              <a:t>Eingebucht:</a:t>
            </a:r>
            <a:r>
              <a:rPr sz="850" b="0">
                <a:solidFill>
                  <a:srgbClr val="2DD4BF"/>
                </a:solidFill>
                <a:latin typeface="Segoe UI"/>
              </a:rPr>
              <a:t> 1x Tee Box-Logo 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6464" y="4443984"/>
            <a:ext cx="2176272" cy="960120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2700">
            <a:solidFill>
              <a:srgbClr val="F5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17904" y="4517136"/>
            <a:ext cx="1993392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5B33D"/>
                </a:solidFill>
                <a:latin typeface="Segoe UI"/>
              </a:rPr>
              <a:t>Warteschlange: 1 Buchung.</a:t>
            </a:r>
            <a:r>
              <a:rPr sz="850" b="0">
                <a:solidFill>
                  <a:srgbClr val="F5B33D"/>
                </a:solidFill>
                <a:latin typeface="Segoe UI"/>
              </a:rPr>
              <a:t> Wird automatisch nachgebucht, sobald WLAN da 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19456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219456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{KERN}</a:t>
            </a:r>
            <a:r>
              <a:rPr sz="1600" b="0">
                <a:solidFill>
                  <a:srgbClr val="F4F0FB"/>
                </a:solidFill>
                <a:latin typeface="Segoe UI"/>
              </a:rPr>
              <a:t> {Rest.}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42900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342900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{KERN}</a:t>
            </a:r>
            <a:r>
              <a:rPr sz="1600" b="0">
                <a:solidFill>
                  <a:srgbClr val="F4F0FB"/>
                </a:solidFill>
                <a:latin typeface="Segoe UI"/>
              </a:rPr>
              <a:t> {Rest.}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66344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0" y="466344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{KERN}</a:t>
            </a:r>
            <a:r>
              <a:rPr sz="1600" b="0">
                <a:solidFill>
                  <a:srgbClr val="F4F0FB"/>
                </a:solidFill>
                <a:latin typeface="Segoe UI"/>
              </a:rPr>
              <a:t> {Rest.}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{SCREEN_TITEL}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{EIN_SATZ}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{KUNDE}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737360"/>
            <a:ext cx="2651760" cy="4572000"/>
          </a:xfrm>
          <a:prstGeom prst="roundRect">
            <a:avLst>
              <a:gd name="adj" fmla="val 11000"/>
            </a:avLst>
          </a:prstGeom>
          <a:solidFill>
            <a:srgbClr val="0A0710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98448" y="1847088"/>
            <a:ext cx="2432304" cy="4352544"/>
          </a:xfrm>
          <a:prstGeom prst="roundRect">
            <a:avLst>
              <a:gd name="adj" fmla="val 9000"/>
            </a:avLst>
          </a:prstGeom>
          <a:solidFill>
            <a:srgbClr val="1A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26464" y="1920240"/>
            <a:ext cx="217627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4F0FB"/>
                </a:solidFill>
                <a:latin typeface="Segoe UI Semibold"/>
              </a:rPr>
              <a:t>{KUNDE} 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8193" y="2286000"/>
            <a:ext cx="1784543" cy="502920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09633" y="2286000"/>
            <a:ext cx="1601663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  <a:latin typeface="Segoe UI"/>
              </a:rPr>
              <a:t>Wo liegt Hoodie M?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916936"/>
            <a:ext cx="1784543" cy="502920"/>
          </a:xfrm>
          <a:prstGeom prst="roundRect">
            <a:avLst>
              <a:gd name="adj" fmla="val 32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17904" y="2916936"/>
            <a:ext cx="1601663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F4F0FB"/>
                </a:solidFill>
                <a:latin typeface="Segoe UI"/>
              </a:rPr>
              <a:t>Zürich 0, Embrach 4. Regal B, Fach 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18193" y="3547872"/>
            <a:ext cx="1784543" cy="502920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09633" y="3547872"/>
            <a:ext cx="1601663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  <a:latin typeface="Segoe UI"/>
              </a:rPr>
              <a:t>Was ist knapp?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4178808"/>
            <a:ext cx="1784543" cy="502920"/>
          </a:xfrm>
          <a:prstGeom prst="roundRect">
            <a:avLst>
              <a:gd name="adj" fmla="val 32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17904" y="4178808"/>
            <a:ext cx="1601663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F4F0FB"/>
                </a:solidFill>
                <a:latin typeface="Segoe UI"/>
              </a:rPr>
              <a:t>Cap Sport und Beanie Logo.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5696712"/>
            <a:ext cx="2176272" cy="365760"/>
          </a:xfrm>
          <a:prstGeom prst="roundRect">
            <a:avLst>
              <a:gd name="adj" fmla="val 30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36192" y="5696712"/>
            <a:ext cx="1956816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9E93B5"/>
                </a:solidFill>
                <a:latin typeface="Segoe UI"/>
              </a:rPr>
              <a:t>Frage eingeben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19456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219456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{KERN}</a:t>
            </a:r>
            <a:r>
              <a:rPr sz="1600" b="0">
                <a:solidFill>
                  <a:srgbClr val="F4F0FB"/>
                </a:solidFill>
                <a:latin typeface="Segoe UI"/>
              </a:rPr>
              <a:t> {Rest.}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42900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0" y="342900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{KERN}</a:t>
            </a:r>
            <a:r>
              <a:rPr sz="1600" b="0">
                <a:solidFill>
                  <a:srgbClr val="F4F0FB"/>
                </a:solidFill>
                <a:latin typeface="Segoe UI"/>
              </a:rPr>
              <a:t> {Rest.}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466344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0" y="466344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{KERN}</a:t>
            </a:r>
            <a:r>
              <a:rPr sz="1600" b="0">
                <a:solidFill>
                  <a:srgbClr val="F4F0FB"/>
                </a:solidFill>
                <a:latin typeface="Segoe UI"/>
              </a:rPr>
              <a:t> {Rest.}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So führen wir es 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Vier Schritte. Der Betrieb läuft normal weiter.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{KUNDE}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Chevron 6"/>
          <p:cNvSpPr/>
          <p:nvPr/>
        </p:nvSpPr>
        <p:spPr>
          <a:xfrm>
            <a:off x="548640" y="1920240"/>
            <a:ext cx="2788920" cy="777240"/>
          </a:xfrm>
          <a:prstGeom prst="chevron">
            <a:avLst>
              <a:gd name="adj" fmla="val 35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4F0FB"/>
                </a:solidFill>
                <a:latin typeface="Segoe UI Semibold"/>
              </a:rPr>
              <a:t>1   {SCHRITT_1}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468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Segoe UI"/>
              </a:rPr>
              <a:t>{Was das Kunden-Team macht. Mit Anleitung von uns.}</a:t>
            </a:r>
          </a:p>
        </p:txBody>
      </p:sp>
      <p:sp>
        <p:nvSpPr>
          <p:cNvPr id="10" name="Chevron 9"/>
          <p:cNvSpPr/>
          <p:nvPr/>
        </p:nvSpPr>
        <p:spPr>
          <a:xfrm>
            <a:off x="3364992" y="1920240"/>
            <a:ext cx="2788920" cy="777240"/>
          </a:xfrm>
          <a:prstGeom prst="chevron">
            <a:avLst>
              <a:gd name="adj" fmla="val 35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85032" y="202996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4F0FB"/>
                </a:solidFill>
                <a:latin typeface="Segoe UI Semibold"/>
              </a:rPr>
              <a:t>2   {SCHRITT_2}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971800"/>
            <a:ext cx="2468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Segoe UI"/>
              </a:rPr>
              <a:t>{Was wir verbinden. Bestehendes bleibt führend.}</a:t>
            </a:r>
          </a:p>
        </p:txBody>
      </p:sp>
      <p:sp>
        <p:nvSpPr>
          <p:cNvPr id="13" name="Chevron 12"/>
          <p:cNvSpPr/>
          <p:nvPr/>
        </p:nvSpPr>
        <p:spPr>
          <a:xfrm>
            <a:off x="6181344" y="1920240"/>
            <a:ext cx="2788920" cy="777240"/>
          </a:xfrm>
          <a:prstGeom prst="chevron">
            <a:avLst>
              <a:gd name="adj" fmla="val 35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4" y="202996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4F0FB"/>
                </a:solidFill>
                <a:latin typeface="Segoe UI Semibold"/>
              </a:rPr>
              <a:t>3   Schulen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2971800"/>
            <a:ext cx="2468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Segoe UI"/>
              </a:rPr>
              <a:t>30 Minuten pro Person. Jeder bekommt eine eigene PIN.</a:t>
            </a:r>
          </a:p>
        </p:txBody>
      </p:sp>
      <p:sp>
        <p:nvSpPr>
          <p:cNvPr id="16" name="Chevron 15"/>
          <p:cNvSpPr/>
          <p:nvPr/>
        </p:nvSpPr>
        <p:spPr>
          <a:xfrm>
            <a:off x="8997696" y="1920240"/>
            <a:ext cx="2788920" cy="777240"/>
          </a:xfrm>
          <a:prstGeom prst="chevron">
            <a:avLst>
              <a:gd name="adj" fmla="val 35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17736" y="202996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4   Betrieb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971800"/>
            <a:ext cx="2468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Segoe UI"/>
              </a:rPr>
              <a:t>Regelmässiger Bericht in Klartext. Wir betreuen und bauen aus.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BB92FF"/>
                </a:solidFill>
                <a:latin typeface="Segoe UI"/>
              </a:rPr>
              <a:t>Kein Umbau. Kein Stillstand. Kein Risiko für das Tagesgeschäft.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Drei Modelle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Klein, mittel, gross. Jedes enthält das kleinere. Wechsel jederzeit möglich.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{KUNDE}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29000"/>
            <a:ext cx="3383280" cy="2468880"/>
          </a:xfrm>
          <a:prstGeom prst="roundRect">
            <a:avLst>
              <a:gd name="adj" fmla="val 4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657600"/>
            <a:ext cx="2834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E93B5"/>
                </a:solidFill>
                <a:latin typeface="Bahnschrift"/>
              </a:rPr>
              <a:t>KLEIN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BB92FF"/>
                </a:solidFill>
                <a:latin typeface="Segoe UI Light"/>
              </a:rPr>
              <a:t>{MODELL_1}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F4F0FB"/>
                </a:solidFill>
                <a:latin typeface="Segoe UI Semibold"/>
              </a:rPr>
              <a:t>CHF {PREIS_1}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E93B5"/>
                </a:solidFill>
                <a:latin typeface="Segoe UI"/>
              </a:rPr>
              <a:t>pro Monat</a:t>
            </a:r>
          </a:p>
          <a:p>
            <a:pPr algn="l">
              <a:spcAft>
                <a:spcPts val="600"/>
              </a:spcAft>
            </a:pPr>
            <a:endParaRPr sz="1200" b="0">
              <a:solidFill>
                <a:srgbClr val="9E93B5"/>
              </a:solidFill>
              <a:latin typeface="Segoe UI"/>
            </a:endParaRP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9E93B5"/>
                </a:solidFill>
                <a:latin typeface="Segoe UI"/>
              </a:rPr>
              <a:t>{EIN_SATZ_NUTZEN}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971800"/>
            <a:ext cx="3383280" cy="292608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8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28346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ADFFB"/>
                </a:solidFill>
                <a:latin typeface="Bahnschrift"/>
              </a:rPr>
              <a:t>MITTEL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 Light"/>
              </a:rPr>
              <a:t>{MODELL_2}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Segoe UI Semibold"/>
              </a:rPr>
              <a:t>CHF {PREIS_2}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EADFFB"/>
                </a:solidFill>
                <a:latin typeface="Segoe UI"/>
              </a:rPr>
              <a:t>pro Monat</a:t>
            </a:r>
          </a:p>
          <a:p>
            <a:pPr algn="l">
              <a:spcAft>
                <a:spcPts val="600"/>
              </a:spcAft>
            </a:pPr>
            <a:endParaRPr sz="1200" b="0">
              <a:solidFill>
                <a:srgbClr val="EADFFB"/>
              </a:solidFill>
              <a:latin typeface="Segoe UI"/>
            </a:endParaRP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EADFFB"/>
                </a:solidFill>
                <a:latin typeface="Segoe UI"/>
              </a:rPr>
              <a:t>{EIN_SATZ_NUTZEN}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715768"/>
            <a:ext cx="1737360" cy="43891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BB92FF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752344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Unser Vorschlag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14600"/>
            <a:ext cx="3383280" cy="338328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251636"/>
              </a:gs>
              <a:gs pos="100000">
                <a:srgbClr val="0A0710"/>
              </a:gs>
            </a:gsLst>
            <a:lin ang="18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92440" y="2514600"/>
            <a:ext cx="3383280" cy="82296"/>
          </a:xfrm>
          <a:prstGeom prst="roundRect">
            <a:avLst>
              <a:gd name="adj" fmla="val 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2743200"/>
            <a:ext cx="28346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E93B5"/>
                </a:solidFill>
                <a:latin typeface="Bahnschrift"/>
              </a:rPr>
              <a:t>GROSS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BB92FF"/>
                </a:solidFill>
                <a:latin typeface="Segoe UI Light"/>
              </a:rPr>
              <a:t>{MODELL_3}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F4F0FB"/>
                </a:solidFill>
                <a:latin typeface="Segoe UI Semibold"/>
              </a:rPr>
              <a:t>CHF {PREIS_3}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E93B5"/>
                </a:solidFill>
                <a:latin typeface="Segoe UI"/>
              </a:rPr>
              <a:t>pro Monat</a:t>
            </a:r>
          </a:p>
          <a:p>
            <a:pPr algn="l">
              <a:spcAft>
                <a:spcPts val="600"/>
              </a:spcAft>
            </a:pPr>
            <a:endParaRPr sz="1200" b="0">
              <a:solidFill>
                <a:srgbClr val="9E93B5"/>
              </a:solidFill>
              <a:latin typeface="Segoe UI"/>
            </a:endParaRP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9E93B5"/>
                </a:solidFill>
                <a:latin typeface="Segoe UI"/>
              </a:rPr>
              <a:t>{EIN_SATZ_NUTZEN}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080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9E93B5"/>
                </a:solidFill>
                <a:latin typeface="Segoe UI"/>
              </a:rPr>
              <a:t>Preise gemäss Absprache. Details, Laufzeit und Garantien regelt der Vertrag.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40"/>
                            </p:stCondLst>
                            <p:childTnLst>
                              <p:par>
                                <p:cTn id="23" presetID="3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620"/>
                            </p:stCondLst>
                            <p:childTnLst>
                              <p:par>
                                <p:cTn id="32" presetID="3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40"/>
                            </p:stCondLst>
                            <p:childTnLst>
                              <p:par>
                                <p:cTn id="41" presetID="3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900"/>
                            </p:stCondLst>
                            <p:childTnLst>
                              <p:par>
                                <p:cTn id="50" presetID="3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600"/>
                            </p:stCondLst>
                            <p:childTnLst>
                              <p:par>
                                <p:cTn id="59" presetID="3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340"/>
                            </p:stCondLst>
                            <p:childTnLst>
                              <p:par>
                                <p:cTn id="68" presetID="3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120"/>
                            </p:stCondLst>
                            <p:childTnLst>
                              <p:par>
                                <p:cTn id="77" presetID="3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4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4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940"/>
                            </p:stCondLst>
                            <p:childTnLst>
                              <p:par>
                                <p:cTn id="86" presetID="3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800"/>
                            </p:stCondLst>
                            <p:childTnLst>
                              <p:par>
                                <p:cTn id="95" presetID="3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4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7700"/>
                            </p:stCondLst>
                            <p:childTnLst>
                              <p:par>
                                <p:cTn id="104" presetID="3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4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4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4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8640"/>
                            </p:stCondLst>
                            <p:childTnLst>
                              <p:par>
                                <p:cTn id="113" presetID="3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4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4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4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620"/>
                            </p:stCondLst>
                            <p:childTnLst>
                              <p:par>
                                <p:cTn id="122" presetID="30" presetClass="entr" presetSubtype="0" fill="hold" grpId="0" nodeType="after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 animBg="1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{MODELL_1}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CHF {PREIS_1} pro Monat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{KUNDE}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{FEATURE}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5623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{KERN}</a:t>
            </a:r>
            <a:r>
              <a:rPr sz="1350" b="0">
                <a:solidFill>
                  <a:srgbClr val="F4F0FB"/>
                </a:solidFill>
                <a:latin typeface="Segoe UI"/>
              </a:rPr>
              <a:t> {Laiensprache, kurz.}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{MODELL_2}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CHF {PREIS_2} pro Monat   ·   alles aus {MODELL_1}, plus: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{KUNDE}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{FEATURE}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5623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{KERN}</a:t>
            </a:r>
            <a:r>
              <a:rPr sz="1350" b="0">
                <a:solidFill>
                  <a:srgbClr val="F4F0FB"/>
                </a:solidFill>
                <a:latin typeface="Segoe UI"/>
              </a:rPr>
              <a:t> {Laiensprache.}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{MODELL_3}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CHF {PREIS_3} pro Monat   ·   alles aus {MODELL_2}, plus: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{KUNDE}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{FEATURE}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5623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{KERN}</a:t>
            </a:r>
            <a:r>
              <a:rPr sz="1350" b="0">
                <a:solidFill>
                  <a:srgbClr val="F4F0FB"/>
                </a:solidFill>
                <a:latin typeface="Segoe UI"/>
              </a:rPr>
              <a:t> {Laiensprache.}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Wer macht was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Für dich als Chef: fast nichts.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{KUNDE}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3566160" cy="82296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B92FF"/>
                </a:solidFill>
                <a:latin typeface="Segoe UI Semibold"/>
              </a:rPr>
              <a:t>WIR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0FB"/>
                </a:solidFill>
                <a:latin typeface="Segoe UI"/>
              </a:rPr>
              <a:t>Einrichten, verbinden, schulen, betreuen. </a:t>
            </a:r>
            <a:r>
              <a:rPr sz="1500" b="1">
                <a:solidFill>
                  <a:srgbClr val="F4F0FB"/>
                </a:solidFill>
                <a:latin typeface="Segoe UI"/>
              </a:rPr>
              <a:t>Monat für Monat.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9202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98264" y="1920240"/>
            <a:ext cx="3566160" cy="82296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4" y="2286000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B92FF"/>
                </a:solidFill>
                <a:latin typeface="Segoe UI Semibold"/>
              </a:rPr>
              <a:t>DEIN TEAM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0FB"/>
                </a:solidFill>
                <a:latin typeface="Segoe UI"/>
              </a:rPr>
              <a:t>{EINMALIGE_HANDARBEIT} </a:t>
            </a:r>
            <a:r>
              <a:rPr sz="1500" b="1">
                <a:solidFill>
                  <a:srgbClr val="F4F0FB"/>
                </a:solidFill>
                <a:latin typeface="Segoe UI"/>
              </a:rPr>
              <a:t>Danach: {NEUER_ALLTAG}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9202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47888" y="1920240"/>
            <a:ext cx="3566160" cy="82296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2208" y="2286000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B92FF"/>
                </a:solidFill>
                <a:latin typeface="Segoe UI Semibold"/>
              </a:rPr>
              <a:t>DU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4F0FB"/>
                </a:solidFill>
                <a:latin typeface="Segoe UI"/>
              </a:rPr>
              <a:t>Entscheiden. Sonst nichts.</a:t>
            </a:r>
            <a:r>
              <a:rPr sz="1500" b="0">
                <a:solidFill>
                  <a:srgbClr val="F4F0FB"/>
                </a:solidFill>
                <a:latin typeface="Segoe UI"/>
              </a:rPr>
              <a:t> Jeder KI-Vorschlag wartet auf dein Ja.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BB92FF"/>
                </a:solidFill>
                <a:latin typeface="Segoe UI"/>
              </a:rPr>
              <a:t>Keine KI bucht in deine Systeme. Jede Buchung macht ein Mensch.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914400" y="1188720"/>
            <a:ext cx="13716000" cy="2743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710"/>
              </a:gs>
              <a:gs pos="100000">
                <a:srgbClr val="4C1D95"/>
              </a:gs>
            </a:gsLst>
            <a:lin ang="20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0">
                <a:solidFill>
                  <a:srgbClr val="F4F0FB"/>
                </a:solidFill>
                <a:latin typeface="Segoe UI Light"/>
              </a:rPr>
              <a:t>Du entscheidest.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788920"/>
            <a:ext cx="1280160" cy="45720"/>
          </a:xfrm>
          <a:prstGeom prst="roundRect">
            <a:avLst>
              <a:gd name="adj" fmla="val 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97280" y="3118104"/>
            <a:ext cx="91440" cy="457200"/>
          </a:xfrm>
          <a:prstGeom prst="roundRect">
            <a:avLst>
              <a:gd name="adj" fmla="val 5000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3063240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4F0FB"/>
                </a:solidFill>
                <a:latin typeface="Segoe UI"/>
              </a:rPr>
              <a:t>Die Vorschau läuft. </a:t>
            </a:r>
            <a:r>
              <a:rPr sz="1700" b="1">
                <a:solidFill>
                  <a:srgbClr val="F4F0FB"/>
                </a:solidFill>
                <a:latin typeface="Segoe UI"/>
              </a:rPr>
              <a:t>Du hast sie selbst gesehen.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895344"/>
            <a:ext cx="91440" cy="457200"/>
          </a:xfrm>
          <a:prstGeom prst="roundRect">
            <a:avLst>
              <a:gd name="adj" fmla="val 5000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3840480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4F0FB"/>
                </a:solidFill>
                <a:latin typeface="Segoe UI"/>
              </a:rPr>
              <a:t>Modell wählen, starten, </a:t>
            </a:r>
            <a:r>
              <a:rPr sz="1700" b="1">
                <a:solidFill>
                  <a:srgbClr val="F4F0FB"/>
                </a:solidFill>
                <a:latin typeface="Segoe UI"/>
              </a:rPr>
              <a:t>jederzeit hochwechseln.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672584"/>
            <a:ext cx="91440" cy="457200"/>
          </a:xfrm>
          <a:prstGeom prst="roundRect">
            <a:avLst>
              <a:gd name="adj" fmla="val 5000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4617720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4F0FB"/>
                </a:solidFill>
                <a:latin typeface="Segoe UI"/>
              </a:rPr>
              <a:t>Jetzt: </a:t>
            </a:r>
            <a:r>
              <a:rPr sz="1700" b="1">
                <a:solidFill>
                  <a:srgbClr val="F4F0FB"/>
                </a:solidFill>
                <a:latin typeface="Segoe UI"/>
              </a:rPr>
              <a:t>deine Fragen.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852160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Bahnschrift"/>
              </a:rPr>
              <a:t>{KUNDE_FIRMA} · {ANLASS} · {DATUM}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912</Words>
  <Application>Microsoft Office PowerPoint</Application>
  <PresentationFormat>Breitbild</PresentationFormat>
  <Paragraphs>167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2" baseType="lpstr">
      <vt:lpstr>Arial</vt:lpstr>
      <vt:lpstr>Bahnschrift</vt:lpstr>
      <vt:lpstr>Calibri</vt:lpstr>
      <vt:lpstr>Segoe UI</vt:lpstr>
      <vt:lpstr>Segoe UI Light</vt:lpstr>
      <vt:lpstr>Segoe UI Semibold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Bhatti Abdulmannan (bhattabd)</cp:lastModifiedBy>
  <cp:revision>2</cp:revision>
  <dcterms:created xsi:type="dcterms:W3CDTF">2013-01-27T09:14:16Z</dcterms:created>
  <dcterms:modified xsi:type="dcterms:W3CDTF">2026-07-20T17:44:16Z</dcterms:modified>
  <cp:category/>
</cp:coreProperties>
</file>